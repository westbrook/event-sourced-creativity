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9d5d81a0314c8a" /><Relationship Type="http://schemas.openxmlformats.org/officeDocument/2006/relationships/extended-properties" Target="/docProps/app.xml" Id="Rf55006f030444d65" /><Relationship Type="http://schemas.openxmlformats.org/officeDocument/2006/relationships/officeDocument" Target="/ppt/presentation.xml" Id="Rff2ce385ffa64a3f" /></Relationships>
</file>

<file path=ppt/presentation.xml><?xml version="1.0" encoding="utf-8"?>
<p:presentation xmlns:p="http://schemas.openxmlformats.org/presentationml/2006/main">
  <p:sldMasterIdLst>
    <p:sldMasterId xmlns:r="http://schemas.openxmlformats.org/officeDocument/2006/relationships" id="2147483648" r:id="R8c29cf3c69cc44c2"/>
  </p:sldMasterIdLst>
  <p:notesMasterIdLst>
    <p:notesMasterId xmlns:r="http://schemas.openxmlformats.org/officeDocument/2006/relationships" r:id="R7b5d7f58ff80480c"/>
  </p:notesMasterIdLst>
  <p:sldIdLst>
    <p:sldId xmlns:r="http://schemas.openxmlformats.org/officeDocument/2006/relationships" id="256" r:id="R1dd9d5e319c94ee0"/>
    <p:sldId xmlns:r="http://schemas.openxmlformats.org/officeDocument/2006/relationships" id="257" r:id="R7dbafda4885242db"/>
    <p:sldId xmlns:r="http://schemas.openxmlformats.org/officeDocument/2006/relationships" id="258" r:id="Reaac130aef934995"/>
    <p:sldId xmlns:r="http://schemas.openxmlformats.org/officeDocument/2006/relationships" id="259" r:id="R39cb3789df464e0d"/>
    <p:sldId xmlns:r="http://schemas.openxmlformats.org/officeDocument/2006/relationships" id="260" r:id="R6e9438c6c0b74711"/>
    <p:sldId xmlns:r="http://schemas.openxmlformats.org/officeDocument/2006/relationships" id="261" r:id="Rb88072696ae448fd"/>
    <p:sldId xmlns:r="http://schemas.openxmlformats.org/officeDocument/2006/relationships" id="262" r:id="Rf06cb97f52034ae8"/>
    <p:sldId xmlns:r="http://schemas.openxmlformats.org/officeDocument/2006/relationships" id="263" r:id="Rd6b18880347b426b"/>
    <p:sldId xmlns:r="http://schemas.openxmlformats.org/officeDocument/2006/relationships" id="264" r:id="R5fc9b45a2b614228"/>
    <p:sldId xmlns:r="http://schemas.openxmlformats.org/officeDocument/2006/relationships" id="265" r:id="Rc6c067148212412e"/>
    <p:sldId xmlns:r="http://schemas.openxmlformats.org/officeDocument/2006/relationships" id="266" r:id="Rf74be2ac244d4fd1"/>
    <p:sldId xmlns:r="http://schemas.openxmlformats.org/officeDocument/2006/relationships" id="267" r:id="Ra132c6e8cafd4227"/>
    <p:sldId xmlns:r="http://schemas.openxmlformats.org/officeDocument/2006/relationships" id="268" r:id="R38945ec2b1324a02"/>
    <p:sldId xmlns:r="http://schemas.openxmlformats.org/officeDocument/2006/relationships" id="269" r:id="R8187c0c3eb5844aa"/>
    <p:sldId xmlns:r="http://schemas.openxmlformats.org/officeDocument/2006/relationships" id="270" r:id="R16acda5fa9144e68"/>
    <p:sldId xmlns:r="http://schemas.openxmlformats.org/officeDocument/2006/relationships" id="271" r:id="Raa4a42ed772c4100"/>
    <p:sldId xmlns:r="http://schemas.openxmlformats.org/officeDocument/2006/relationships" id="272" r:id="Reb21ef1c4da24b2c"/>
    <p:sldId xmlns:r="http://schemas.openxmlformats.org/officeDocument/2006/relationships" id="273" r:id="R354dde1caafd42a9"/>
    <p:sldId xmlns:r="http://schemas.openxmlformats.org/officeDocument/2006/relationships" id="274" r:id="R36e4d6382d584247"/>
    <p:sldId xmlns:r="http://schemas.openxmlformats.org/officeDocument/2006/relationships" id="275" r:id="R03acb76989a740e1"/>
    <p:sldId xmlns:r="http://schemas.openxmlformats.org/officeDocument/2006/relationships" id="276" r:id="R274fd436353e498c"/>
    <p:sldId xmlns:r="http://schemas.openxmlformats.org/officeDocument/2006/relationships" id="277" r:id="R9551630e55b84684"/>
    <p:sldId xmlns:r="http://schemas.openxmlformats.org/officeDocument/2006/relationships" id="278" r:id="Raa738c4500604d0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1cee53c3204fd4" /><Relationship Type="http://schemas.openxmlformats.org/officeDocument/2006/relationships/slideMaster" Target="/ppt/slideMasters/slideMaster1.xml" Id="R8c29cf3c69cc44c2" /><Relationship Type="http://schemas.openxmlformats.org/officeDocument/2006/relationships/notesMaster" Target="/ppt/notesMasters/notesMaster1.xml" Id="R7b5d7f58ff80480c" /><Relationship Type="http://schemas.openxmlformats.org/officeDocument/2006/relationships/presProps" Target="/ppt/presProps.xml" Id="R612d3c171fdf4bc9" /><Relationship Type="http://schemas.openxmlformats.org/officeDocument/2006/relationships/tableStyles" Target="/ppt/tableStyles.xml" Id="R83d261c9497844c1" /><Relationship Type="http://schemas.openxmlformats.org/officeDocument/2006/relationships/slide" Target="/ppt/slides/slide1.xml" Id="R1dd9d5e319c94ee0" /><Relationship Type="http://schemas.openxmlformats.org/officeDocument/2006/relationships/slide" Target="/ppt/slides/slide2.xml" Id="R7dbafda4885242db" /><Relationship Type="http://schemas.openxmlformats.org/officeDocument/2006/relationships/slide" Target="/ppt/slides/slide3.xml" Id="Reaac130aef934995" /><Relationship Type="http://schemas.openxmlformats.org/officeDocument/2006/relationships/slide" Target="/ppt/slides/slide4.xml" Id="R39cb3789df464e0d" /><Relationship Type="http://schemas.openxmlformats.org/officeDocument/2006/relationships/slide" Target="/ppt/slides/slide5.xml" Id="R6e9438c6c0b74711" /><Relationship Type="http://schemas.openxmlformats.org/officeDocument/2006/relationships/slide" Target="/ppt/slides/slide6.xml" Id="Rb88072696ae448fd" /><Relationship Type="http://schemas.openxmlformats.org/officeDocument/2006/relationships/slide" Target="/ppt/slides/slide7.xml" Id="Rf06cb97f52034ae8" /><Relationship Type="http://schemas.openxmlformats.org/officeDocument/2006/relationships/slide" Target="/ppt/slides/slide8.xml" Id="Rd6b18880347b426b" /><Relationship Type="http://schemas.openxmlformats.org/officeDocument/2006/relationships/slide" Target="/ppt/slides/slide9.xml" Id="R5fc9b45a2b614228" /><Relationship Type="http://schemas.openxmlformats.org/officeDocument/2006/relationships/slide" Target="/ppt/slides/slide10.xml" Id="Rc6c067148212412e" /><Relationship Type="http://schemas.openxmlformats.org/officeDocument/2006/relationships/slide" Target="/ppt/slides/slide11.xml" Id="Rf74be2ac244d4fd1" /><Relationship Type="http://schemas.openxmlformats.org/officeDocument/2006/relationships/slide" Target="/ppt/slides/slide12.xml" Id="Ra132c6e8cafd4227" /><Relationship Type="http://schemas.openxmlformats.org/officeDocument/2006/relationships/slide" Target="/ppt/slides/slide13.xml" Id="R38945ec2b1324a02" /><Relationship Type="http://schemas.openxmlformats.org/officeDocument/2006/relationships/slide" Target="/ppt/slides/slide14.xml" Id="R8187c0c3eb5844aa" /><Relationship Type="http://schemas.openxmlformats.org/officeDocument/2006/relationships/slide" Target="/ppt/slides/slide15.xml" Id="R16acda5fa9144e68" /><Relationship Type="http://schemas.openxmlformats.org/officeDocument/2006/relationships/slide" Target="/ppt/slides/slide16.xml" Id="Raa4a42ed772c4100" /><Relationship Type="http://schemas.openxmlformats.org/officeDocument/2006/relationships/slide" Target="/ppt/slides/slide17.xml" Id="Reb21ef1c4da24b2c" /><Relationship Type="http://schemas.openxmlformats.org/officeDocument/2006/relationships/slide" Target="/ppt/slides/slide18.xml" Id="R354dde1caafd42a9" /><Relationship Type="http://schemas.openxmlformats.org/officeDocument/2006/relationships/slide" Target="/ppt/slides/slide19.xml" Id="R36e4d6382d584247" /><Relationship Type="http://schemas.openxmlformats.org/officeDocument/2006/relationships/slide" Target="/ppt/slides/slide20.xml" Id="R03acb76989a740e1" /><Relationship Type="http://schemas.openxmlformats.org/officeDocument/2006/relationships/slide" Target="/ppt/slides/slide21.xml" Id="R274fd436353e498c" /><Relationship Type="http://schemas.openxmlformats.org/officeDocument/2006/relationships/slide" Target="/ppt/slides/slide22.xml" Id="R9551630e55b84684" /><Relationship Type="http://schemas.openxmlformats.org/officeDocument/2006/relationships/slide" Target="/ppt/slides/slide23.xml" Id="Raa738c4500604d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a9931f49e949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959ec5519a42c6" /><Relationship Type="http://schemas.openxmlformats.org/officeDocument/2006/relationships/notesMaster" Target="/ppt/notesMasters/notesMaster1.xml" Id="R02d99476b6734b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93299539034610" /><Relationship Type="http://schemas.openxmlformats.org/officeDocument/2006/relationships/notesMaster" Target="/ppt/notesMasters/notesMaster1.xml" Id="R284e37776a7845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de6553ed1a4d53" /><Relationship Type="http://schemas.openxmlformats.org/officeDocument/2006/relationships/notesMaster" Target="/ppt/notesMasters/notesMaster1.xml" Id="Rb16d685d618a40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e0f4b5e2674acd" /><Relationship Type="http://schemas.openxmlformats.org/officeDocument/2006/relationships/notesMaster" Target="/ppt/notesMasters/notesMaster1.xml" Id="R6b48b48280e545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4538dcea2342da" /><Relationship Type="http://schemas.openxmlformats.org/officeDocument/2006/relationships/notesMaster" Target="/ppt/notesMasters/notesMaster1.xml" Id="R48fb7de4fbae49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6c8bcd3ea54260" /><Relationship Type="http://schemas.openxmlformats.org/officeDocument/2006/relationships/notesMaster" Target="/ppt/notesMasters/notesMaster1.xml" Id="Ref1b47d038b14d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d355b182644536" /><Relationship Type="http://schemas.openxmlformats.org/officeDocument/2006/relationships/notesMaster" Target="/ppt/notesMasters/notesMaster1.xml" Id="R357e026cfae04c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fd4b6f0dad431f" /><Relationship Type="http://schemas.openxmlformats.org/officeDocument/2006/relationships/notesMaster" Target="/ppt/notesMasters/notesMaster1.xml" Id="Ra6ea6e20a07442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9ef83ad8434e3b" /><Relationship Type="http://schemas.openxmlformats.org/officeDocument/2006/relationships/notesMaster" Target="/ppt/notesMasters/notesMaster1.xml" Id="R047efc655f0a4a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9ba08a643c4dc2" /><Relationship Type="http://schemas.openxmlformats.org/officeDocument/2006/relationships/notesMaster" Target="/ppt/notesMasters/notesMaster1.xml" Id="R6fd373148f654e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9dc44c29514477" /><Relationship Type="http://schemas.openxmlformats.org/officeDocument/2006/relationships/notesMaster" Target="/ppt/notesMasters/notesMaster1.xml" Id="R6d881d0e289543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4b6aaa5bf744a7" /><Relationship Type="http://schemas.openxmlformats.org/officeDocument/2006/relationships/notesMaster" Target="/ppt/notesMasters/notesMaster1.xml" Id="Ra9d44b79e4414a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fe77bb456249ab" /><Relationship Type="http://schemas.openxmlformats.org/officeDocument/2006/relationships/notesMaster" Target="/ppt/notesMasters/notesMaster1.xml" Id="R40961559df7946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efb25970374e58" /><Relationship Type="http://schemas.openxmlformats.org/officeDocument/2006/relationships/notesMaster" Target="/ppt/notesMasters/notesMaster1.xml" Id="R7d36e4a2e16044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fee9d0baf7f4b4a" /><Relationship Type="http://schemas.openxmlformats.org/officeDocument/2006/relationships/notesMaster" Target="/ppt/notesMasters/notesMaster1.xml" Id="R336a7404211a4df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dbd7cefe16439c" /><Relationship Type="http://schemas.openxmlformats.org/officeDocument/2006/relationships/notesMaster" Target="/ppt/notesMasters/notesMaster1.xml" Id="R1d4a0205e6b946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a55ae50286147a4" /><Relationship Type="http://schemas.openxmlformats.org/officeDocument/2006/relationships/notesMaster" Target="/ppt/notesMasters/notesMaster1.xml" Id="Rbc6632b63ed543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35804059ff415e" /><Relationship Type="http://schemas.openxmlformats.org/officeDocument/2006/relationships/notesMaster" Target="/ppt/notesMasters/notesMaster1.xml" Id="R90b4592ade0a45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e412809f9c4afe" /><Relationship Type="http://schemas.openxmlformats.org/officeDocument/2006/relationships/notesMaster" Target="/ppt/notesMasters/notesMaster1.xml" Id="Re0a627c9961c44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f3d0b7b13f34165" /><Relationship Type="http://schemas.openxmlformats.org/officeDocument/2006/relationships/notesMaster" Target="/ppt/notesMasters/notesMaster1.xml" Id="Rb715cd527ce74d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083af10d7b44d3" /><Relationship Type="http://schemas.openxmlformats.org/officeDocument/2006/relationships/notesMaster" Target="/ppt/notesMasters/notesMaster1.xml" Id="Ref643b71b4ab410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f2bfb80cd8344dc" /><Relationship Type="http://schemas.openxmlformats.org/officeDocument/2006/relationships/notesMaster" Target="/ppt/notesMasters/notesMaster1.xml" Id="Rd849b0ee731f45f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516871406424cd3" /><Relationship Type="http://schemas.openxmlformats.org/officeDocument/2006/relationships/notesMaster" Target="/ppt/notesMasters/notesMaster1.xml" Id="R65dfaa269be44f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sought: approve one coherent adaptive Forma experience that retains complete product capability, precise authorization, and meaningful creative work across six device postures.</a:t>
            </a:r>
          </a:p>
          <a:p xmlns:a="http://schemas.openxmlformats.org/drawingml/2006/main">
            <a:r>
              <a:t/>
            </a:r>
          </a:p>
          <a:p xmlns:a="http://schemas.openxmlformats.org/drawingml/2006/main">
            <a:r>
              <a:t>[Sources]</a:t>
            </a:r>
          </a:p>
          <a:p xmlns:a="http://schemas.openxmlformats.org/drawingml/2006/main">
            <a:r>
              <a:t>- /Users/westbrook/Documents/repos/codex/docs/forma-responsive-product-strategy-2026-08-23.md; seven role-played subagent stakeholder reviews; coordinator runtime viewport verification, August 23, 2026.</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product whole at every size</a:t>
            </a:r>
          </a:p>
          <a:p xmlns:a="http://schemas.openxmlformats.org/drawingml/2006/main">
            <a:r>
              <a:t/>
            </a:r>
          </a:p>
          <a:p xmlns:a="http://schemas.openxmlformats.org/drawingml/2006/main">
            <a:r>
              <a:t>[Sources]</a:t>
            </a:r>
          </a:p>
          <a:p xmlns:a="http://schemas.openxmlformats.org/drawingml/2006/main">
            <a:r>
              <a:t>- /Users/westbrook/Documents/repos/codex/src/model/office-documents.ts; /Users/westbrook/Documents/repos/codex/src/components/document-artifacts.ts; /Users/westbrook/Documents/repos/codex/src/components/presentation-deck.ts; /Users/westbrook/Documents/repos/codex/worker/artifact-review.ts; /Users/westbrook/Documents/repos/codex/worker/project-access.ts.</a:t>
            </a:r>
          </a:p>
          <a:p xmlns:a="http://schemas.openxmlformats.org/drawingml/2006/main">
            <a:r>
              <a:t>- /Users/westbrook/Documents/repos/codex/docs/forma-adversarial-product-reassessment-2026-08-23.md; /Users/westbrook/Documents/repos/codex/ARCHITECTURE.md; /Users/westbrook/Documents/repos/codex/src/platform/applications.ts.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independently role-played assessment roles scored six product goals. Exact 24-cell arithmetic mean is 61.125. The separate buyer readiness score is 56.17 and does not override any enterprise veto.</a:t>
            </a:r>
          </a:p>
          <a:p xmlns:a="http://schemas.openxmlformats.org/drawingml/2006/main">
            <a:r>
              <a:t/>
            </a:r>
          </a:p>
          <a:p xmlns:a="http://schemas.openxmlformats.org/drawingml/2006/main">
            <a:r>
              <a:t>[Sources]</a:t>
            </a:r>
          </a:p>
          <a:p xmlns:a="http://schemas.openxmlformats.org/drawingml/2006/main">
            <a:r>
              <a:t>- /Users/westbrook/Documents/repos/codex/docs/forma-responsive-product-strategy-2026-08-23.md; seven role-played subagent stakeholder reviews; coordinator runtime viewport verification, August 23, 2026.</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/Users/westbrook/Documents/repos/codex/docs/forma-adversarial-product-reassessment-2026-08-23.md; /Users/westbrook/Documents/repos/codex/ARCHITECTURE.md; /Users/westbrook/Documents/repos/codex/src/platform/applications.ts.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phone 390×844 search bounding box was exactly 0×0. Source confirms Ask Forma is hidden at mobile widths, nested collections disappear, chat enforces 620px and 680px heights, Canvas enforces 34rem = 544px minimum height, notifications are limited to four current-document items, and remote cross-account presence is not implemented. During the authorized in-app reporter exercise, stale-sequence conflict toasts appeared after mutations committed. Final authenticated /projects verification proved that retry created two identically titled research projects as well as four duplicate role documents inside the finished research project. No projects or documents were deleted. Require server-owned idempotency keys and truthful committed/pending acknowledgment before retry.</a:t>
            </a:r>
          </a:p>
          <a:p xmlns:a="http://schemas.openxmlformats.org/drawingml/2006/main">
            <a:r>
              <a:t/>
            </a:r>
          </a:p>
          <a:p xmlns:a="http://schemas.openxmlformats.org/drawingml/2006/main">
            <a:r>
              <a:t>[Sources]</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/Users/westbrook/Documents/repos/codex/src/state/store.ts:720; /Users/westbrook/Documents/repos/codex/src/components/forma-project-contents.ts:14; /Users/westbrook/Documents/repos/codex/docs/forma-responsive-product-strategy-2026-08-23.md:202. Final authenticated /projects reload verified that false stale-save retries created two identically titled research projects; one contained the finished 15 documents/34 authored blocks and four duplicate role documents. Neither research project nor any duplicate document was deleted.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decisions need three clear guardrails</a:t>
            </a:r>
          </a:p>
          <a:p xmlns:a="http://schemas.openxmlformats.org/drawingml/2006/main">
            <a:r>
              <a:t/>
            </a:r>
          </a:p>
          <a:p xmlns:a="http://schemas.openxmlformats.org/drawingml/2006/main">
            <a:r>
              <a:t>[Sources]</a:t>
            </a:r>
          </a:p>
          <a:p xmlns:a="http://schemas.openxmlformats.org/drawingml/2006/main">
            <a:r>
              <a:t>- Original role-played subagent statements: Lead Designer, Design Engineer, and Product Owner; collected specifically for this responsive product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device posture changes the next decision</a:t>
            </a:r>
          </a:p>
          <a:p xmlns:a="http://schemas.openxmlformats.org/drawingml/2006/main">
            <a:r>
              <a:t/>
            </a:r>
          </a:p>
          <a:p xmlns:a="http://schemas.openxmlformats.org/drawingml/2006/main">
            <a:r>
              <a:t>[Sources]</a:t>
            </a:r>
          </a:p>
          <a:p xmlns:a="http://schemas.openxmlformats.org/drawingml/2006/main">
            <a:r>
              <a:t>- Original role-played subagent statements: Smartphone End User, Tablet End User, Small Monitor End User, and Large Monitor End User; collected specifically for this responsive product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destinations remain stable on every device</a:t>
            </a:r>
          </a:p>
          <a:p xmlns:a="http://schemas.openxmlformats.org/drawingml/2006/main">
            <a:r>
              <a:t/>
            </a:r>
          </a:p>
          <a:p xmlns:a="http://schemas.openxmlformats.org/drawingml/2006/main">
            <a:r>
              <a:t>[Sources]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Simplify working modes without breaking routes</a:t>
            </a:r>
          </a:p>
          <a:p xmlns:a="http://schemas.openxmlformats.org/drawingml/2006/main">
            <a:r>
              <a:t/>
            </a:r>
          </a:p>
          <a:p xmlns:a="http://schemas.openxmlformats.org/drawingml/2006/main">
            <a:r>
              <a:t>[Sources]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for six postures, not four devices</a:t>
            </a:r>
          </a:p>
          <a:p xmlns:a="http://schemas.openxmlformats.org/drawingml/2006/main">
            <a:r>
              <a:t/>
            </a:r>
          </a:p>
          <a:p xmlns:a="http://schemas.openxmlformats.org/drawingml/2006/main">
            <a:r>
              <a:t>[Sources]</a:t>
            </a:r>
          </a:p>
          <a:p xmlns:a="http://schemas.openxmlformats.org/drawingml/2006/main">
            <a:r>
              <a:t>- /Users/westbrook/Documents/repos/codex/docs/forma-responsive-product-strategy-2026-08-23.md; seven role-played subagent stakeholder reviews; coordinator runtime viewport verification, August 23, 2026.</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a phone, finish the next meaningful action</a:t>
            </a:r>
          </a:p>
          <a:p xmlns:a="http://schemas.openxmlformats.org/drawingml/2006/main">
            <a:r>
              <a:t/>
            </a:r>
          </a:p>
          <a:p xmlns:a="http://schemas.openxmlformats.org/drawingml/2006/main">
            <a:r>
              <a:t>[Sources]</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a tablet, put context beside the work</a:t>
            </a:r>
          </a:p>
          <a:p xmlns:a="http://schemas.openxmlformats.org/drawingml/2006/main">
            <a:r>
              <a:t/>
            </a:r>
          </a:p>
          <a:p xmlns:a="http://schemas.openxmlformats.org/drawingml/2006/main">
            <a:r>
              <a:t>[Sources]</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/Users/westbrook/Documents/repos/codex/src/canvas/canvas-application.ts:294</a:t>
            </a:r>
          </a:p>
          <a:p xmlns:a="http://schemas.openxmlformats.org/drawingml/2006/main">
            <a:r>
              <a:t>- /Users/westbrook/Documents/repos/codex/src/canvas/canvas.css:18</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a monitor, reveal breadth as space grows</a:t>
            </a:r>
          </a:p>
          <a:p xmlns:a="http://schemas.openxmlformats.org/drawingml/2006/main">
            <a:r>
              <a:t/>
            </a:r>
          </a:p>
          <a:p xmlns:a="http://schemas.openxmlformats.org/drawingml/2006/main">
            <a:r>
              <a:t>[Sources]</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/Users/westbrook/Documents/repos/codex/src/components/design-system/navigation.ts:175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core page needs an explicit priority stack</a:t>
            </a:r>
          </a:p>
          <a:p xmlns:a="http://schemas.openxmlformats.org/drawingml/2006/main">
            <a:r>
              <a:t/>
            </a:r>
          </a:p>
          <a:p xmlns:a="http://schemas.openxmlformats.org/drawingml/2006/main">
            <a:r>
              <a:t>[Sources]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Discovery and delivery must remain first-class</a:t>
            </a:r>
          </a:p>
          <a:p xmlns:a="http://schemas.openxmlformats.org/drawingml/2006/main">
            <a:r>
              <a:t/>
            </a:r>
          </a:p>
          <a:p xmlns:a="http://schemas.openxmlformats.org/drawingml/2006/main">
            <a:r>
              <a:t>[Sources]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/Users/westbrook/Documents/repos/codex/src/model/office-documents.ts; /Users/westbrook/Documents/repos/codex/src/components/document-artifacts.ts; /Users/westbrook/Documents/repos/codex/src/components/presentation-deck.ts; /Users/westbrook/Documents/repos/codex/worker/artifact-review.ts; /Users/westbrook/Documents/repos/codex/worker/project-access.ts.</a:t>
            </a:r>
          </a:p>
          <a:p xmlns:a="http://schemas.openxmlformats.org/drawingml/2006/main">
            <a:r>
              <a:t>- /Users/westbrook/Documents/repos/codex/docs/forma-adversarial-product-reassessment-2026-08-23.md; /Users/westbrook/Documents/repos/codex/ARCHITECTURE.md; /Users/westbrook/Documents/repos/codex/src/platform/applications.ts.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inbox connects work, review, and recovery</a:t>
            </a:r>
          </a:p>
          <a:p xmlns:a="http://schemas.openxmlformats.org/drawingml/2006/main">
            <a:r>
              <a:t/>
            </a:r>
          </a:p>
          <a:p xmlns:a="http://schemas.openxmlformats.org/drawingml/2006/main">
            <a:r>
              <a:t>[Sources]</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/Users/westbrook/Documents/repos/codex/worker/project-access.ts</a:t>
            </a:r>
          </a:p>
          <a:p xmlns:a="http://schemas.openxmlformats.org/drawingml/2006/main">
            <a:r>
              <a:t>- /Users/westbrook/Documents/repos/codex/worker/artifact-review.ts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independent inputs govern adaptation</a:t>
            </a:r>
          </a:p>
          <a:p xmlns:a="http://schemas.openxmlformats.org/drawingml/2006/main">
            <a:r>
              <a:t/>
            </a:r>
          </a:p>
          <a:p xmlns:a="http://schemas.openxmlformats.org/drawingml/2006/main">
            <a:r>
              <a:t>[Sources]</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Adaptive UI must never cross a trust boundary</a:t>
            </a:r>
          </a:p>
          <a:p xmlns:a="http://schemas.openxmlformats.org/drawingml/2006/main">
            <a:r>
              <a:t/>
            </a:r>
          </a:p>
          <a:p xmlns:a="http://schemas.openxmlformats.org/drawingml/2006/main">
            <a:r>
              <a:t>[Sources]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/Users/westbrook/Documents/repos/codex/docs/forma-adversarial-product-reassessment-2026-08-23.md; /Users/westbrook/Documents/repos/codex/ARCHITECTURE.md; /Users/westbrook/Documents/repos/codex/src/platform/applications.ts.</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/Users/westbrook/Documents/repos/codex/src/canvas/presence.ts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competitor materials establish that persistent mobile search/inbox, tablet-native spatial controls, cross-format editing, PowerPoint export, and multi-format creative suites already exist. Prices vary by region, billing cadence, plan, seat, and rollout; speaker-note sources document verified figures and explicit caveats. The strategic inference is that Forma should differentiate through exact licensed context, durable editable output, independent approval, cross-device continuity, and actionable scoped follow-up.</a:t>
            </a:r>
          </a:p>
          <a:p xmlns:a="http://schemas.openxmlformats.org/drawingml/2006/main">
            <a:r>
              <a:t/>
            </a:r>
          </a:p>
          <a:p xmlns:a="http://schemas.openxmlformats.org/drawingml/2006/main">
            <a:r>
              <a:t>[Sources]</a:t>
            </a:r>
          </a:p>
          <a:p xmlns:a="http://schemas.openxmlformats.org/drawingml/2006/main">
            <a:r>
              <a:t>- Notion, mobile workspaces: https://www.notion.com/help/workspaces-on-mobile ; notifications: https://www.notion.com/help/updates-and-notifications ; localized pricing: https://www.notion.com/pricing . No USD price was verified.</a:t>
            </a:r>
          </a:p>
          <a:p xmlns:a="http://schemas.openxmlformats.org/drawingml/2006/main">
            <a:r>
              <a:t>- Miro, tablet application: https://help.miro.com/hc/en-us/articles/360017731633-Tablet-app ; pricing: https://miro.com/pricing/ ; Business plan: https://miro.com/business-plan/ . Starter $8/user/month billed annually; Business $20/user/month billed annually or $25 monthly, observed August 23, 2026.</a:t>
            </a:r>
          </a:p>
          <a:p xmlns:a="http://schemas.openxmlformats.org/drawingml/2006/main">
            <a:r>
              <a:t>- Figma, FigJam for iPad: https://help.figma.com/hc/en-us/articles/4502073572247-FigJam-for-iPad ; current seat pricing: https://www.figma.com/pricing/ . Standalone FigJam iPad app retired January 8, 2026; current use occurs through the Figma app and tier entitlements vary.</a:t>
            </a:r>
          </a:p>
          <a:p xmlns:a="http://schemas.openxmlformats.org/drawingml/2006/main">
            <a:r>
              <a:t>- Canva, Visual Suite: https://www.canva.com/newsroom/news/canva-create-2025/ ; current pricing: https://www.canva.com/pricing/ ; Business announcement: https://www.canva.com/newsroom/news/introducing-canva-business/ . Current observed Business figure was $250/person/year, approximately $20.83/month effective; older announcement described $20/person/month.</a:t>
            </a:r>
          </a:p>
          <a:p xmlns:a="http://schemas.openxmlformats.org/drawingml/2006/main">
            <a:r>
              <a:t>- Gamma, pricing and free-tier export claims: https://gamma.app/pricing . A reliably verified numeric paid price was not available; no paid figure is asserted.</a:t>
            </a:r>
          </a:p>
          <a:p xmlns:a="http://schemas.openxmlformats.org/drawingml/2006/main">
            <a:r>
              <a:t>- /Users/westbrook/Documents/repos/codex/docs/forma-responsive-product-strategy-2026-08-23.md; seven role-played subagent stakeholder reviews; coordinator runtime viewport verification, August 23,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are proposed acceptance targets, not claims about current measured performance. 44 × 44px is Forma's own enhanced hit-area contract, not the categorical WCAG 2.2 AA 24 × 24px conditional minimum. Validate in rendered browsers, real device postures, keyboard states, resize, zoom, assistive technology, locale, and exact authorization boundaries. Suggested starting field gates: p75 LCP ≤2.5s, INP ≤200ms, CLS ≤0.1.</a:t>
            </a:r>
          </a:p>
          <a:p xmlns:a="http://schemas.openxmlformats.org/drawingml/2006/main">
            <a:r>
              <a:t/>
            </a:r>
          </a:p>
          <a:p xmlns:a="http://schemas.openxmlformats.org/drawingml/2006/main">
            <a:r>
              <a:t>[Sources]</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W3C, WCAG 2.2 target-size minimum: https://www.w3.org/WAI/WCAG22/Understanding/target-size-minimum.html ; enhanced target size: https://www.w3.org/WAI/WCAG22/Understanding/target-size-enhanced.html . 44 × 44 is Forma's internal enhanced target, not the categorical WCAG 2.2 AA minimum.</a:t>
            </a:r>
          </a:p>
          <a:p xmlns:a="http://schemas.openxmlformats.org/drawingml/2006/main">
            <a:r>
              <a:t>- Google web.dev, Core Web Vitals: https://web.dev/articles/vitals . Recommended starting targets: p75 LCP ≤2.5s, INP ≤200ms, CLS ≤0.1; these are proposed gates, not measured Forma results.</a:t>
            </a:r>
          </a:p>
          <a:p xmlns:a="http://schemas.openxmlformats.org/drawingml/2006/main">
            <a:r>
              <a:t>- /Users/westbrook/Documents/repos/codex/tests/responsive-layout.test.mjs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Phases 0/1 require behavioral stale-sequence conflict tests, server-side mutation IDs and idempotency, authoritative pending/committed acknowledgments, and proof that retry can never duplicate a committed project or document. Ship these with the adaptive shell, visible Search/Ask, full collections, and touch accessibility.</a:t>
            </a:r>
          </a:p>
          <a:p xmlns:a="http://schemas.openxmlformats.org/drawingml/2006/main">
            <a:r>
              <a:t/>
            </a:r>
          </a:p>
          <a:p xmlns:a="http://schemas.openxmlformats.org/drawingml/2006/main">
            <a:r>
              <a:t>[Sources]</a:t>
            </a:r>
          </a:p>
          <a:p xmlns:a="http://schemas.openxmlformats.org/drawingml/2006/main">
            <a:r>
              <a:t>- /Users/westbrook/Documents/repos/codex/docs/forma-responsive-product-strategy-2026-08-23.md; seven role-played subagent stakeholder reviews; coordinator runtime viewport verification, August 23, 2026.</a:t>
            </a:r>
          </a:p>
          <a:p xmlns:a="http://schemas.openxmlformats.org/drawingml/2006/main">
            <a:r>
              <a:t>- /Users/westbrook/Documents/repos/codex/src/design-system.css:3458; /Users/westbrook/Documents/repos/codex/src/design-system.css:3649; /Users/westbrook/Documents/repos/codex/src/styles.css:1143; /Users/westbrook/Documents/repos/codex/src/styles.css:1175; /Users/westbrook/Documents/repos/codex/src/styles.css:1635; /Users/westbrook/Documents/repos/codex/src/styles.css:1696; /Users/westbrook/Documents/repos/codex/src/canvas/canvas.css:18.</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/Users/westbrook/Documents/repos/codex/src/state/store.ts:720; /Users/westbrook/Documents/repos/codex/src/components/forma-project-contents.ts:14; /Users/westbrook/Documents/repos/codex/docs/forma-responsive-product-strategy-2026-08-23.md:202. Final authenticated /projects reload verified that false stale-save retries created two identically titled research projects; one contained the finished 15 documents/34 authored blocks and four duplicate role documents. Neither research project nor any duplicate document was deleted.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every workstream an owner and a gate</a:t>
            </a:r>
          </a:p>
          <a:p xmlns:a="http://schemas.openxmlformats.org/drawingml/2006/main">
            <a:r>
              <a:t/>
            </a:r>
          </a:p>
          <a:p xmlns:a="http://schemas.openxmlformats.org/drawingml/2006/main">
            <a:r>
              <a:t>[Sources]</a:t>
            </a:r>
          </a:p>
          <a:p xmlns:a="http://schemas.openxmlformats.org/drawingml/2006/main">
            <a:r>
              <a:t>- /Users/westbrook/Documents/repos/codex/docs/forma-responsive-product-strategy-2026-08-23.md; seven role-played subagent stakeholder reviews; coordinator runtime viewport verification, August 23, 2026.</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/Users/westbrook/Documents/repos/codex/docs/forma-adversarial-product-reassessment-2026-08-23.md; /Users/westbrook/Documents/repos/codex/ARCHITECTURE.md; /Users/westbrook/Documents/repos/codex/src/platform/applications.ts.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bounded non-sensitive pilot can proceed only after exact authorization, independent review, safe notifications, responsive workflow, and recovery gates pass. Buyer readiness is 56.17. Regulated or confidential enterprise deployment remains blocked where organization-wide deletion, customer-controlled encryption, federated identity lifecycle, complete disaster recovery, and independent assurance are not proven.</a:t>
            </a:r>
          </a:p>
          <a:p xmlns:a="http://schemas.openxmlformats.org/drawingml/2006/main">
            <a:r>
              <a:t/>
            </a:r>
          </a:p>
          <a:p xmlns:a="http://schemas.openxmlformats.org/drawingml/2006/main">
            <a:r>
              <a:t>[Sources]</a:t>
            </a:r>
          </a:p>
          <a:p xmlns:a="http://schemas.openxmlformats.org/drawingml/2006/main">
            <a:r>
              <a:t>- /Users/westbrook/Documents/repos/codex/docs/forma-adversarial-product-reassessment-2026-08-23.md; /Users/westbrook/Documents/repos/codex/ARCHITECTURE.md; /Users/westbrook/Documents/repos/codex/src/platform/applications.ts.</a:t>
            </a:r>
          </a:p>
          <a:p xmlns:a="http://schemas.openxmlformats.org/drawingml/2006/main">
            <a:r>
              <a:t>- /Users/westbrook/Documents/repos/codex/src/model/office-documents.ts; /Users/westbrook/Documents/repos/codex/src/components/document-artifacts.ts; /Users/westbrook/Documents/repos/codex/src/components/presentation-deck.ts; /Users/westbrook/Documents/repos/codex/worker/artifact-review.ts; /Users/westbrook/Documents/repos/codex/worker/project-access.ts.</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a:p xmlns:a="http://schemas.openxmlformats.org/drawingml/2006/main">
            <a:r>
              <a:t>- /Users/westbrook/Documents/repos/codex/docs/forma-responsive-product-strategy-2026-08-23.md; seven role-played subagent stakeholder reviews; coordinator runtime viewport verification, August 23,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Approve the strategic direction and fund the owned, gated 12–16 week implementation plan. Continue to treat enterprise custody, identity, deletion, recovery, and independent-assurance gaps as unconditional buying vetoes.</a:t>
            </a:r>
          </a:p>
          <a:p xmlns:a="http://schemas.openxmlformats.org/drawingml/2006/main">
            <a:r>
              <a:t/>
            </a:r>
          </a:p>
          <a:p xmlns:a="http://schemas.openxmlformats.org/drawingml/2006/main">
            <a:r>
              <a:t>[Sources]</a:t>
            </a:r>
          </a:p>
          <a:p xmlns:a="http://schemas.openxmlformats.org/drawingml/2006/main">
            <a:r>
              <a:t>- /Users/westbrook/Documents/repos/codex/docs/forma-responsive-product-strategy-2026-08-23.md; seven role-played subagent stakeholder reviews; coordinator runtime viewport verification, August 23, 2026.</a:t>
            </a:r>
          </a:p>
          <a:p xmlns:a="http://schemas.openxmlformats.org/drawingml/2006/main">
            <a:r>
              <a:t>- /Users/westbrook/Documents/repos/codex/docs/forma-adversarial-product-reassessment-2026-08-23.md; /Users/westbrook/Documents/repos/codex/ARCHITECTURE.md; /Users/westbrook/Documents/repos/codex/src/platform/applications.ts.</a:t>
            </a:r>
          </a:p>
          <a:p xmlns:a="http://schemas.openxmlformats.org/drawingml/2006/main">
            <a:r>
              <a:t>- /Users/westbrook/Documents/repos/codex/src/platform/applications.ts:39; /Users/westbrook/Documents/repos/codex/src/model/routes.ts:1; /Users/westbrook/Documents/repos/codex/src/components/studio-navigation.ts:11; /Users/westbrook/Documents/repos/codex/src/components/forma-shell.ts:271; /Users/westbrook/Documents/repos/codex/src/components/design-system/navigation.ts:175.</a:t>
            </a:r>
          </a:p>
          <a:p xmlns:a="http://schemas.openxmlformats.org/drawingml/2006/main">
            <a:r>
              <a:t>- /Users/westbrook/Documents/repos/codex/src/components/forma-workspace.ts:234; /Users/westbrook/Documents/repos/codex/worker/project-notifications-api.ts; /Users/westbrook/Documents/repos/codex/src/state/store.ts; /Users/westbrook/Documents/repos/codex/src/canvas/presence.ts.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56a01b5e8448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be2a2fcea544be" /><Relationship Type="http://schemas.openxmlformats.org/officeDocument/2006/relationships/slideLayout" Target="/ppt/slideLayouts/slideLayout1.xml" Id="Rd684889dcaeb4b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84889dcaeb4b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e140d47c1b49ec" /><Relationship Type="http://schemas.openxmlformats.org/officeDocument/2006/relationships/notesSlide" Target="/ppt/notesSlides/notesSlide1.xml" Id="R67757e8c35064c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ea034658b54abd" /><Relationship Type="http://schemas.openxmlformats.org/officeDocument/2006/relationships/notesSlide" Target="/ppt/notesSlides/notesSlide2.xml" Id="Rf0979c33fd484f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5a10d469644daa" /><Relationship Type="http://schemas.openxmlformats.org/officeDocument/2006/relationships/notesSlide" Target="/ppt/notesSlides/notesSlide3.xml" Id="Rd8b3e70fa8f941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f1e4474ea74655" /><Relationship Type="http://schemas.openxmlformats.org/officeDocument/2006/relationships/notesSlide" Target="/ppt/notesSlides/notesSlide4.xml" Id="R2839fc70db0e40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18b1c23fcb4b0a" /><Relationship Type="http://schemas.openxmlformats.org/officeDocument/2006/relationships/notesSlide" Target="/ppt/notesSlides/notesSlide5.xml" Id="R839bf87683ea4e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03ca65a8f64321" /><Relationship Type="http://schemas.openxmlformats.org/officeDocument/2006/relationships/notesSlide" Target="/ppt/notesSlides/notesSlide6.xml" Id="R1eb06dfca83149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1b325593be4235" /><Relationship Type="http://schemas.openxmlformats.org/officeDocument/2006/relationships/notesSlide" Target="/ppt/notesSlides/notesSlide7.xml" Id="Rcb4ecbf497434d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5ff99d0a014a2e" /><Relationship Type="http://schemas.openxmlformats.org/officeDocument/2006/relationships/notesSlide" Target="/ppt/notesSlides/notesSlide8.xml" Id="R7de274ebc2b840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99561aacd64037" /><Relationship Type="http://schemas.openxmlformats.org/officeDocument/2006/relationships/notesSlide" Target="/ppt/notesSlides/notesSlide9.xml" Id="Ra20f222317e84f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bd11489830e4258" /><Relationship Type="http://schemas.openxmlformats.org/officeDocument/2006/relationships/notesSlide" Target="/ppt/notesSlides/notesSlide10.xml" Id="R17ea3d83fb444b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74913985e94d80" /><Relationship Type="http://schemas.openxmlformats.org/officeDocument/2006/relationships/notesSlide" Target="/ppt/notesSlides/notesSlide11.xml" Id="Rdf506c1b7ac04c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ec1ac1521f4bd7" /><Relationship Type="http://schemas.openxmlformats.org/officeDocument/2006/relationships/notesSlide" Target="/ppt/notesSlides/notesSlide12.xml" Id="R6e4e8f7397f848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3c589e5fd44475" /><Relationship Type="http://schemas.openxmlformats.org/officeDocument/2006/relationships/notesSlide" Target="/ppt/notesSlides/notesSlide13.xml" Id="R27836a09d38b49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8dc172a57dd453e" /><Relationship Type="http://schemas.openxmlformats.org/officeDocument/2006/relationships/notesSlide" Target="/ppt/notesSlides/notesSlide14.xml" Id="Rc3c2d2ba537c45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a12d2104a814822" /><Relationship Type="http://schemas.openxmlformats.org/officeDocument/2006/relationships/notesSlide" Target="/ppt/notesSlides/notesSlide15.xml" Id="Rfb662042a4224b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8d04ea5aedb4a8b" /><Relationship Type="http://schemas.openxmlformats.org/officeDocument/2006/relationships/notesSlide" Target="/ppt/notesSlides/notesSlide16.xml" Id="R0246f77411bc49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42d1c878b4242b3" /><Relationship Type="http://schemas.openxmlformats.org/officeDocument/2006/relationships/notesSlide" Target="/ppt/notesSlides/notesSlide17.xml" Id="R7b9e177cc9a245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9a759854f3a466b" /><Relationship Type="http://schemas.openxmlformats.org/officeDocument/2006/relationships/notesSlide" Target="/ppt/notesSlides/notesSlide18.xml" Id="R04a4ee380d2149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477ae14850c4714" /><Relationship Type="http://schemas.openxmlformats.org/officeDocument/2006/relationships/notesSlide" Target="/ppt/notesSlides/notesSlide19.xml" Id="Rc26f418a061841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7ea93daf03846ab" /><Relationship Type="http://schemas.openxmlformats.org/officeDocument/2006/relationships/notesSlide" Target="/ppt/notesSlides/notesSlide20.xml" Id="R3c83033048b342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9eeb945747f4743" /><Relationship Type="http://schemas.openxmlformats.org/officeDocument/2006/relationships/notesSlide" Target="/ppt/notesSlides/notesSlide21.xml" Id="Rd5e104ce27cf48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6d0505243934703" /><Relationship Type="http://schemas.openxmlformats.org/officeDocument/2006/relationships/notesSlide" Target="/ppt/notesSlides/notesSlide22.xml" Id="Re85c6db7fa204f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55ea557bf1b4d25" /><Relationship Type="http://schemas.openxmlformats.org/officeDocument/2006/relationships/notesSlide" Target="/ppt/notesSlides/notesSlide23.xml" Id="Rd05d8b0ccc06497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ver-kicker">
            <a:extLst xmlns:a="http://schemas.openxmlformats.org/drawingml/2006/main">
              <a:ext uri="{FF2B5EF4-FFF2-40B4-BE49-F238E27FC236}">
                <a16:creationId xmlns:a16="http://schemas.microsoft.com/office/drawing/2014/main" id="{C73C98F2-D626-4542-B125-CD31C39D0F47}"/>
              </a:ext>
            </a:extLst>
          </p:cNvPr>
          <p:cNvSpPr>
            <a:spLocks xmlns:a="http://schemas.openxmlformats.org/drawingml/2006/main" noGrp="1"/>
          </p:cNvSpPr>
          <p:nvPr/>
        </p:nvSpPr>
        <p:spPr>
          <a:xfrm xmlns:a="http://schemas.openxmlformats.org/drawingml/2006/main">
            <a:off x="895350" y="638175"/>
            <a:ext cx="1181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75" b="1">
                <a:solidFill>
                  <a:srgbClr val="1759BC"/>
                </a:solidFill>
                <a:latin typeface="Helvetica Neue"/>
                <a:ea typeface="Helvetica Neue"/>
                <a:cs typeface="Helvetica Neue"/>
              </a:defRPr>
            </a:pPr>
            <a:r>
              <a:rPr sz="1875" b="1">
                <a:solidFill>
                  <a:srgbClr val="1759BC"/>
                </a:solidFill>
                <a:latin typeface="Helvetica Neue"/>
                <a:ea typeface="Helvetica Neue"/>
                <a:cs typeface="Helvetica Neue"/>
              </a:rPr>
              <a:t>FORMA   /   PRODUCT DIRECTION</a:t>
            </a:r>
          </a:p>
        </p:txBody>
      </p:sp>
      <p:sp>
        <p:nvSpPr>
          <p:cNvPr id="2" name="deck-title">
            <a:extLst xmlns:a="http://schemas.openxmlformats.org/drawingml/2006/main">
              <a:ext uri="{FF2B5EF4-FFF2-40B4-BE49-F238E27FC236}">
                <a16:creationId xmlns:a16="http://schemas.microsoft.com/office/drawing/2014/main" id="{768CF529-8B38-4334-BC1C-506BE92DC2F2}"/>
              </a:ext>
            </a:extLst>
          </p:cNvPr>
          <p:cNvSpPr>
            <a:spLocks xmlns:a="http://schemas.openxmlformats.org/drawingml/2006/main" noGrp="1"/>
          </p:cNvSpPr>
          <p:nvPr/>
        </p:nvSpPr>
        <p:spPr>
          <a:xfrm xmlns:a="http://schemas.openxmlformats.org/drawingml/2006/main">
            <a:off x="895350" y="2162175"/>
            <a:ext cx="13144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9000"/>
              </a:lnSpc>
              <a:buNone/>
              <a:defRPr sz="6975" b="1">
                <a:solidFill>
                  <a:srgbClr val="17191C"/>
                </a:solidFill>
                <a:latin typeface="Helvetica Neue"/>
                <a:ea typeface="Helvetica Neue"/>
                <a:cs typeface="Helvetica Neue"/>
              </a:defRPr>
            </a:pPr>
            <a:r>
              <a:rPr sz="6975" b="1">
                <a:solidFill>
                  <a:srgbClr val="17191C"/>
                </a:solidFill>
                <a:latin typeface="Helvetica Neue"/>
                <a:ea typeface="Helvetica Neue"/>
                <a:cs typeface="Helvetica Neue"/>
              </a:rPr>
              <a:t>Every screen.</a:t>
            </a:r>
          </a:p>
          <a:p xmlns:a="http://schemas.openxmlformats.org/drawingml/2006/main">
            <a:pPr algn="l">
              <a:lnSpc>
                <a:spcPct val="99000"/>
              </a:lnSpc>
              <a:buNone/>
              <a:defRPr sz="6975" b="1">
                <a:solidFill>
                  <a:srgbClr val="17191C"/>
                </a:solidFill>
                <a:latin typeface="Helvetica Neue"/>
                <a:ea typeface="Helvetica Neue"/>
                <a:cs typeface="Helvetica Neue"/>
              </a:defRPr>
            </a:pPr>
            <a:r>
              <a:rPr sz="6975" b="1">
                <a:solidFill>
                  <a:srgbClr val="17191C"/>
                </a:solidFill>
                <a:latin typeface="Helvetica Neue"/>
                <a:ea typeface="Helvetica Neue"/>
                <a:cs typeface="Helvetica Neue"/>
              </a:rPr>
              <a:t>The whole creative job.</a:t>
            </a:r>
          </a:p>
        </p:txBody>
      </p:sp>
      <p:sp>
        <p:nvSpPr>
          <p:cNvPr id="3" name="structural-divider">
            <a:extLst xmlns:a="http://schemas.openxmlformats.org/drawingml/2006/main">
              <a:ext uri="{FF2B5EF4-FFF2-40B4-BE49-F238E27FC236}">
                <a16:creationId xmlns:a16="http://schemas.microsoft.com/office/drawing/2014/main" id="{C22951A8-D03E-4E8C-A2EE-BCC02568F356}"/>
              </a:ext>
            </a:extLst>
          </p:cNvPr>
          <p:cNvSpPr>
            <a:spLocks xmlns:a="http://schemas.openxmlformats.org/drawingml/2006/main" noGrp="1"/>
          </p:cNvSpPr>
          <p:nvPr/>
        </p:nvSpPr>
        <p:spPr>
          <a:xfrm xmlns:a="http://schemas.openxmlformats.org/drawingml/2006/main">
            <a:off x="895350" y="5286375"/>
            <a:ext cx="1714500" cy="47625"/>
          </a:xfrm>
          <a:prstGeom xmlns:a="http://schemas.openxmlformats.org/drawingml/2006/main" prst="rect">
            <a:avLst/>
          </a:prstGeom>
          <a:solidFill xmlns:a="http://schemas.openxmlformats.org/drawingml/2006/main">
            <a:srgbClr val="2875E7"/>
          </a:solidFill>
          <a:ln xmlns:a="http://schemas.openxmlformats.org/drawingml/2006/main" w="0">
            <a:noFill/>
            <a:prstDash val="solid"/>
          </a:ln>
        </p:spPr>
      </p:sp>
      <p:sp>
        <p:nvSpPr>
          <p:cNvPr id="4" name="cover-subtitle">
            <a:extLst xmlns:a="http://schemas.openxmlformats.org/drawingml/2006/main">
              <a:ext uri="{FF2B5EF4-FFF2-40B4-BE49-F238E27FC236}">
                <a16:creationId xmlns:a16="http://schemas.microsoft.com/office/drawing/2014/main" id="{EA8C4A30-3464-4C0E-941B-6E3E6ECFED14}"/>
              </a:ext>
            </a:extLst>
          </p:cNvPr>
          <p:cNvSpPr>
            <a:spLocks xmlns:a="http://schemas.openxmlformats.org/drawingml/2006/main" noGrp="1"/>
          </p:cNvSpPr>
          <p:nvPr/>
        </p:nvSpPr>
        <p:spPr>
          <a:xfrm xmlns:a="http://schemas.openxmlformats.org/drawingml/2006/main">
            <a:off x="895350" y="5705475"/>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75" b="0">
                <a:solidFill>
                  <a:srgbClr val="606771"/>
                </a:solidFill>
                <a:latin typeface="Helvetica Neue"/>
                <a:ea typeface="Helvetica Neue"/>
                <a:cs typeface="Helvetica Neue"/>
              </a:defRPr>
            </a:pPr>
            <a:r>
              <a:rPr sz="2475" b="0">
                <a:solidFill>
                  <a:srgbClr val="606771"/>
                </a:solidFill>
                <a:latin typeface="Helvetica Neue"/>
                <a:ea typeface="Helvetica Neue"/>
                <a:cs typeface="Helvetica Neue"/>
              </a:rPr>
              <a:t>A stakeholder-backed responsive product strategy for collaborative creativity</a:t>
            </a:r>
          </a:p>
        </p:txBody>
      </p:sp>
      <p:sp>
        <p:nvSpPr>
          <p:cNvPr id="5" name="cover-date">
            <a:extLst xmlns:a="http://schemas.openxmlformats.org/drawingml/2006/main">
              <a:ext uri="{FF2B5EF4-FFF2-40B4-BE49-F238E27FC236}">
                <a16:creationId xmlns:a16="http://schemas.microsoft.com/office/drawing/2014/main" id="{FCFB5BF6-899F-4F72-9255-8A25BEC1C402}"/>
              </a:ext>
            </a:extLst>
          </p:cNvPr>
          <p:cNvSpPr>
            <a:spLocks xmlns:a="http://schemas.openxmlformats.org/drawingml/2006/main" noGrp="1"/>
          </p:cNvSpPr>
          <p:nvPr/>
        </p:nvSpPr>
        <p:spPr>
          <a:xfrm xmlns:a="http://schemas.openxmlformats.org/drawingml/2006/main">
            <a:off x="895350" y="7762875"/>
            <a:ext cx="1143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606771"/>
                </a:solidFill>
                <a:latin typeface="Helvetica Neue"/>
                <a:ea typeface="Helvetica Neue"/>
                <a:cs typeface="Helvetica Neue"/>
              </a:defRPr>
            </a:pPr>
            <a:r>
              <a:rPr sz="1650" b="1">
                <a:solidFill>
                  <a:srgbClr val="606771"/>
                </a:solidFill>
                <a:latin typeface="Helvetica Neue"/>
                <a:ea typeface="Helvetica Neue"/>
                <a:cs typeface="Helvetica Neue"/>
              </a:rPr>
              <a:t>DECISION DECK    ·    23 AUGUST 2026</a:t>
            </a:r>
          </a:p>
        </p:txBody>
      </p:sp>
    </p:spTree>
    <p:extLst>
      <p:ext uri="{BB962C8B-B14F-4D97-AF65-F5344CB8AC3E}">
        <p14:creationId xmlns:p14="http://schemas.microsoft.com/office/powerpoint/2010/main" val="14253412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kicker">
            <a:extLst xmlns:a="http://schemas.openxmlformats.org/drawingml/2006/main">
              <a:ext uri="{FF2B5EF4-FFF2-40B4-BE49-F238E27FC236}">
                <a16:creationId xmlns:a16="http://schemas.microsoft.com/office/drawing/2014/main" id="{A4B4F64A-34BA-4A39-A594-63F50846BB08}"/>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STRATEGIC DECISION</a:t>
            </a:r>
          </a:p>
        </p:txBody>
      </p:sp>
      <p:sp>
        <p:nvSpPr>
          <p:cNvPr id="2" name="slide-title">
            <a:extLst xmlns:a="http://schemas.openxmlformats.org/drawingml/2006/main">
              <a:ext uri="{FF2B5EF4-FFF2-40B4-BE49-F238E27FC236}">
                <a16:creationId xmlns:a16="http://schemas.microsoft.com/office/drawing/2014/main" id="{1BCEDE52-C681-4A3D-9ECC-76EEC21F9530}"/>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Keep the product whole at every size</a:t>
            </a:r>
          </a:p>
        </p:txBody>
      </p:sp>
      <p:sp>
        <p:nvSpPr>
          <p:cNvPr id="3" name="structural-divider">
            <a:extLst xmlns:a="http://schemas.openxmlformats.org/drawingml/2006/main">
              <a:ext uri="{FF2B5EF4-FFF2-40B4-BE49-F238E27FC236}">
                <a16:creationId xmlns:a16="http://schemas.microsoft.com/office/drawing/2014/main" id="{0004B9B1-AFF3-40E4-B30F-5F1A646989BD}"/>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E35D4229-BB51-4E15-A91F-80A20FBB8B50}"/>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BD8AE986-9E4D-4595-A286-B4BFD72C6C90}"/>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02</a:t>
            </a:r>
          </a:p>
        </p:txBody>
      </p:sp>
      <p:sp>
        <p:nvSpPr>
          <p:cNvPr id="6" name="body-paragraph">
            <a:extLst xmlns:a="http://schemas.openxmlformats.org/drawingml/2006/main">
              <a:ext uri="{FF2B5EF4-FFF2-40B4-BE49-F238E27FC236}">
                <a16:creationId xmlns:a16="http://schemas.microsoft.com/office/drawing/2014/main" id="{4EBAFC9F-733C-4F3D-B823-900A5BCB4595}"/>
              </a:ext>
            </a:extLst>
          </p:cNvPr>
          <p:cNvSpPr>
            <a:spLocks xmlns:a="http://schemas.openxmlformats.org/drawingml/2006/main" noGrp="1"/>
          </p:cNvSpPr>
          <p:nvPr/>
        </p:nvSpPr>
        <p:spPr>
          <a:xfrm xmlns:a="http://schemas.openxmlformats.org/drawingml/2006/main">
            <a:off x="895350" y="2209800"/>
            <a:ext cx="12477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0">
                <a:solidFill>
                  <a:srgbClr val="17191C"/>
                </a:solidFill>
                <a:latin typeface="Helvetica Neue"/>
                <a:ea typeface="Helvetica Neue"/>
                <a:cs typeface="Helvetica Neue"/>
              </a:defRPr>
            </a:pPr>
            <a:r>
              <a:rPr sz="2250" b="0">
                <a:solidFill>
                  <a:srgbClr val="17191C"/>
                </a:solidFill>
                <a:latin typeface="Helvetica Neue"/>
                <a:ea typeface="Helvetica Neue"/>
                <a:cs typeface="Helvetica Neue"/>
              </a:rPr>
              <a:t>Forma already owns a valuable foundation. The next investment should make that foundation usable wherever the work happens.</a:t>
            </a:r>
          </a:p>
        </p:txBody>
      </p:sp>
      <p:sp>
        <p:nvSpPr>
          <p:cNvPr id="7" name="column-label">
            <a:extLst xmlns:a="http://schemas.openxmlformats.org/drawingml/2006/main">
              <a:ext uri="{FF2B5EF4-FFF2-40B4-BE49-F238E27FC236}">
                <a16:creationId xmlns:a16="http://schemas.microsoft.com/office/drawing/2014/main" id="{1226BF50-4955-4977-A6CE-A6982CB95EB3}"/>
              </a:ext>
            </a:extLst>
          </p:cNvPr>
          <p:cNvSpPr>
            <a:spLocks xmlns:a="http://schemas.openxmlformats.org/drawingml/2006/main" noGrp="1"/>
          </p:cNvSpPr>
          <p:nvPr/>
        </p:nvSpPr>
        <p:spPr>
          <a:xfrm xmlns:a="http://schemas.openxmlformats.org/drawingml/2006/main">
            <a:off x="895350" y="36290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PRESERVE</a:t>
            </a:r>
          </a:p>
        </p:txBody>
      </p:sp>
      <p:sp>
        <p:nvSpPr>
          <p:cNvPr id="8" name="column-heading">
            <a:extLst xmlns:a="http://schemas.openxmlformats.org/drawingml/2006/main">
              <a:ext uri="{FF2B5EF4-FFF2-40B4-BE49-F238E27FC236}">
                <a16:creationId xmlns:a16="http://schemas.microsoft.com/office/drawing/2014/main" id="{FF9A68B6-63F6-4FDE-842B-C3EB99A264E3}"/>
              </a:ext>
            </a:extLst>
          </p:cNvPr>
          <p:cNvSpPr>
            <a:spLocks xmlns:a="http://schemas.openxmlformats.org/drawingml/2006/main" noGrp="1"/>
          </p:cNvSpPr>
          <p:nvPr/>
        </p:nvSpPr>
        <p:spPr>
          <a:xfrm xmlns:a="http://schemas.openxmlformats.org/drawingml/2006/main">
            <a:off x="895350" y="4114800"/>
            <a:ext cx="400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17191C"/>
                </a:solidFill>
                <a:latin typeface="Helvetica Neue"/>
                <a:ea typeface="Helvetica Neue"/>
                <a:cs typeface="Helvetica Neue"/>
              </a:defRPr>
            </a:pPr>
            <a:r>
              <a:rPr sz="2625" b="1">
                <a:solidFill>
                  <a:srgbClr val="17191C"/>
                </a:solidFill>
                <a:latin typeface="Helvetica Neue"/>
                <a:ea typeface="Helvetica Neue"/>
                <a:cs typeface="Helvetica Neue"/>
              </a:rPr>
              <a:t>Verified context</a:t>
            </a:r>
          </a:p>
        </p:txBody>
      </p:sp>
      <p:sp>
        <p:nvSpPr>
          <p:cNvPr id="9" name="column-body">
            <a:extLst xmlns:a="http://schemas.openxmlformats.org/drawingml/2006/main">
              <a:ext uri="{FF2B5EF4-FFF2-40B4-BE49-F238E27FC236}">
                <a16:creationId xmlns:a16="http://schemas.microsoft.com/office/drawing/2014/main" id="{8110E32B-E0DB-46F1-996F-1D1143E755A4}"/>
              </a:ext>
            </a:extLst>
          </p:cNvPr>
          <p:cNvSpPr>
            <a:spLocks xmlns:a="http://schemas.openxmlformats.org/drawingml/2006/main" noGrp="1"/>
          </p:cNvSpPr>
          <p:nvPr/>
        </p:nvSpPr>
        <p:spPr>
          <a:xfrm xmlns:a="http://schemas.openxmlformats.org/drawingml/2006/main">
            <a:off x="895350" y="5143500"/>
            <a:ext cx="4000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Rights-aware source intake, durable context, editable DOCX/PPTX delivery, artifact revisions, and independent approval.</a:t>
            </a:r>
          </a:p>
        </p:txBody>
      </p:sp>
      <p:sp>
        <p:nvSpPr>
          <p:cNvPr id="10" name="column-label">
            <a:extLst xmlns:a="http://schemas.openxmlformats.org/drawingml/2006/main">
              <a:ext uri="{FF2B5EF4-FFF2-40B4-BE49-F238E27FC236}">
                <a16:creationId xmlns:a16="http://schemas.microsoft.com/office/drawing/2014/main" id="{DE61874F-1F90-4585-BF9B-8D80E6BF8228}"/>
              </a:ext>
            </a:extLst>
          </p:cNvPr>
          <p:cNvSpPr>
            <a:spLocks xmlns:a="http://schemas.openxmlformats.org/drawingml/2006/main" noGrp="1"/>
          </p:cNvSpPr>
          <p:nvPr/>
        </p:nvSpPr>
        <p:spPr>
          <a:xfrm xmlns:a="http://schemas.openxmlformats.org/drawingml/2006/main">
            <a:off x="5581650" y="36290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REPAIR</a:t>
            </a:r>
          </a:p>
        </p:txBody>
      </p:sp>
      <p:sp>
        <p:nvSpPr>
          <p:cNvPr id="11" name="column-heading">
            <a:extLst xmlns:a="http://schemas.openxmlformats.org/drawingml/2006/main">
              <a:ext uri="{FF2B5EF4-FFF2-40B4-BE49-F238E27FC236}">
                <a16:creationId xmlns:a16="http://schemas.microsoft.com/office/drawing/2014/main" id="{F589FA19-4DF6-4D86-A038-B030B432A5B8}"/>
              </a:ext>
            </a:extLst>
          </p:cNvPr>
          <p:cNvSpPr>
            <a:spLocks xmlns:a="http://schemas.openxmlformats.org/drawingml/2006/main" noGrp="1"/>
          </p:cNvSpPr>
          <p:nvPr/>
        </p:nvSpPr>
        <p:spPr>
          <a:xfrm xmlns:a="http://schemas.openxmlformats.org/drawingml/2006/main">
            <a:off x="5581650" y="4114800"/>
            <a:ext cx="400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17191C"/>
                </a:solidFill>
                <a:latin typeface="Helvetica Neue"/>
                <a:ea typeface="Helvetica Neue"/>
                <a:cs typeface="Helvetica Neue"/>
              </a:defRPr>
            </a:pPr>
            <a:r>
              <a:rPr sz="2625" b="1">
                <a:solidFill>
                  <a:srgbClr val="17191C"/>
                </a:solidFill>
                <a:latin typeface="Helvetica Neue"/>
                <a:ea typeface="Helvetica Neue"/>
                <a:cs typeface="Helvetica Neue"/>
              </a:rPr>
              <a:t>Essential access</a:t>
            </a:r>
          </a:p>
        </p:txBody>
      </p:sp>
      <p:sp>
        <p:nvSpPr>
          <p:cNvPr id="12" name="column-body">
            <a:extLst xmlns:a="http://schemas.openxmlformats.org/drawingml/2006/main">
              <a:ext uri="{FF2B5EF4-FFF2-40B4-BE49-F238E27FC236}">
                <a16:creationId xmlns:a16="http://schemas.microsoft.com/office/drawing/2014/main" id="{B2FA8409-DD89-479F-95FE-F2D01243FEAD}"/>
              </a:ext>
            </a:extLst>
          </p:cNvPr>
          <p:cNvSpPr>
            <a:spLocks xmlns:a="http://schemas.openxmlformats.org/drawingml/2006/main" noGrp="1"/>
          </p:cNvSpPr>
          <p:nvPr/>
        </p:nvSpPr>
        <p:spPr>
          <a:xfrm xmlns:a="http://schemas.openxmlformats.org/drawingml/2006/main">
            <a:off x="5581650" y="5143500"/>
            <a:ext cx="4000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Restore phone search, assistant submission, collections, usable chat, meaningful activity, and honest collaboration status.</a:t>
            </a:r>
          </a:p>
        </p:txBody>
      </p:sp>
      <p:sp>
        <p:nvSpPr>
          <p:cNvPr id="13" name="column-label">
            <a:extLst xmlns:a="http://schemas.openxmlformats.org/drawingml/2006/main">
              <a:ext uri="{FF2B5EF4-FFF2-40B4-BE49-F238E27FC236}">
                <a16:creationId xmlns:a16="http://schemas.microsoft.com/office/drawing/2014/main" id="{832F2667-0E99-4271-BEC4-913503EC2016}"/>
              </a:ext>
            </a:extLst>
          </p:cNvPr>
          <p:cNvSpPr>
            <a:spLocks xmlns:a="http://schemas.openxmlformats.org/drawingml/2006/main" noGrp="1"/>
          </p:cNvSpPr>
          <p:nvPr/>
        </p:nvSpPr>
        <p:spPr>
          <a:xfrm xmlns:a="http://schemas.openxmlformats.org/drawingml/2006/main">
            <a:off x="10267950" y="36290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BUILD</a:t>
            </a:r>
          </a:p>
        </p:txBody>
      </p:sp>
      <p:sp>
        <p:nvSpPr>
          <p:cNvPr id="14" name="column-heading">
            <a:extLst xmlns:a="http://schemas.openxmlformats.org/drawingml/2006/main">
              <a:ext uri="{FF2B5EF4-FFF2-40B4-BE49-F238E27FC236}">
                <a16:creationId xmlns:a16="http://schemas.microsoft.com/office/drawing/2014/main" id="{30DC9895-8A5B-432C-80B4-F87976121922}"/>
              </a:ext>
            </a:extLst>
          </p:cNvPr>
          <p:cNvSpPr>
            <a:spLocks xmlns:a="http://schemas.openxmlformats.org/drawingml/2006/main" noGrp="1"/>
          </p:cNvSpPr>
          <p:nvPr/>
        </p:nvSpPr>
        <p:spPr>
          <a:xfrm xmlns:a="http://schemas.openxmlformats.org/drawingml/2006/main">
            <a:off x="10267950" y="4114800"/>
            <a:ext cx="400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17191C"/>
                </a:solidFill>
                <a:latin typeface="Helvetica Neue"/>
                <a:ea typeface="Helvetica Neue"/>
                <a:cs typeface="Helvetica Neue"/>
              </a:defRPr>
            </a:pPr>
            <a:r>
              <a:rPr sz="2625" b="1">
                <a:solidFill>
                  <a:srgbClr val="17191C"/>
                </a:solidFill>
                <a:latin typeface="Helvetica Neue"/>
                <a:ea typeface="Helvetica Neue"/>
                <a:cs typeface="Helvetica Neue"/>
              </a:rPr>
              <a:t>Adaptive workbench</a:t>
            </a:r>
          </a:p>
        </p:txBody>
      </p:sp>
      <p:sp>
        <p:nvSpPr>
          <p:cNvPr id="15" name="column-body">
            <a:extLst xmlns:a="http://schemas.openxmlformats.org/drawingml/2006/main">
              <a:ext uri="{FF2B5EF4-FFF2-40B4-BE49-F238E27FC236}">
                <a16:creationId xmlns:a16="http://schemas.microsoft.com/office/drawing/2014/main" id="{48DA7041-8F35-4D2C-8CBE-4FAB6C5AF3C2}"/>
              </a:ext>
            </a:extLst>
          </p:cNvPr>
          <p:cNvSpPr>
            <a:spLocks xmlns:a="http://schemas.openxmlformats.org/drawingml/2006/main" noGrp="1"/>
          </p:cNvSpPr>
          <p:nvPr/>
        </p:nvSpPr>
        <p:spPr>
          <a:xfrm xmlns:a="http://schemas.openxmlformats.org/drawingml/2006/main">
            <a:off x="10267950" y="5143500"/>
            <a:ext cx="4000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Make project, document, output, review, and follow-up coherent across touch, keyboard, resize, and rotation.</a:t>
            </a:r>
          </a:p>
        </p:txBody>
      </p:sp>
    </p:spTree>
    <p:extLst>
      <p:ext uri="{BB962C8B-B14F-4D97-AF65-F5344CB8AC3E}">
        <p14:creationId xmlns:p14="http://schemas.microsoft.com/office/powerpoint/2010/main" val="16692105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section-kicker">
            <a:extLst xmlns:a="http://schemas.openxmlformats.org/drawingml/2006/main">
              <a:ext uri="{FF2B5EF4-FFF2-40B4-BE49-F238E27FC236}">
                <a16:creationId xmlns:a16="http://schemas.microsoft.com/office/drawing/2014/main" id="{19B4474F-2322-41E7-A0B5-88A0DF5C4729}"/>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INDEPENDENT SCORECARD</a:t>
            </a:r>
          </a:p>
        </p:txBody>
      </p:sp>
      <p:sp>
        <p:nvSpPr>
          <p:cNvPr id="2" name="slide-title">
            <a:extLst xmlns:a="http://schemas.openxmlformats.org/drawingml/2006/main">
              <a:ext uri="{FF2B5EF4-FFF2-40B4-BE49-F238E27FC236}">
                <a16:creationId xmlns:a16="http://schemas.microsoft.com/office/drawing/2014/main" id="{C63C4B17-6FB3-4D10-A230-2722369294F3}"/>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The current experience scores 61.125 / 100</a:t>
            </a:r>
          </a:p>
        </p:txBody>
      </p:sp>
      <p:sp>
        <p:nvSpPr>
          <p:cNvPr id="3" name="structural-divider">
            <a:extLst xmlns:a="http://schemas.openxmlformats.org/drawingml/2006/main">
              <a:ext uri="{FF2B5EF4-FFF2-40B4-BE49-F238E27FC236}">
                <a16:creationId xmlns:a16="http://schemas.microsoft.com/office/drawing/2014/main" id="{C2D466D8-679F-4834-8B9F-82997EF601B3}"/>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18EF0B52-118E-47A2-A032-84F947048E8F}"/>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E6FD766B-1101-4112-B701-542CE79C9E98}"/>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03</a:t>
            </a:r>
          </a:p>
        </p:txBody>
      </p:sp>
      <p:sp>
        <p:nvSpPr>
          <p:cNvPr id="6" name="matrix-goal-header">
            <a:extLst xmlns:a="http://schemas.openxmlformats.org/drawingml/2006/main">
              <a:ext uri="{FF2B5EF4-FFF2-40B4-BE49-F238E27FC236}">
                <a16:creationId xmlns:a16="http://schemas.microsoft.com/office/drawing/2014/main" id="{4FDFD1C6-6A2B-4FC4-9575-1554573424AD}"/>
              </a:ext>
            </a:extLst>
          </p:cNvPr>
          <p:cNvSpPr>
            <a:spLocks xmlns:a="http://schemas.openxmlformats.org/drawingml/2006/main" noGrp="1"/>
          </p:cNvSpPr>
          <p:nvPr/>
        </p:nvSpPr>
        <p:spPr>
          <a:xfrm xmlns:a="http://schemas.openxmlformats.org/drawingml/2006/main">
            <a:off x="895350" y="2352675"/>
            <a:ext cx="3486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606771"/>
                </a:solidFill>
                <a:latin typeface="Helvetica Neue"/>
                <a:ea typeface="Helvetica Neue"/>
                <a:cs typeface="Helvetica Neue"/>
              </a:defRPr>
            </a:pPr>
            <a:r>
              <a:rPr sz="1650" b="1">
                <a:solidFill>
                  <a:srgbClr val="606771"/>
                </a:solidFill>
                <a:latin typeface="Helvetica Neue"/>
                <a:ea typeface="Helvetica Neue"/>
                <a:cs typeface="Helvetica Neue"/>
              </a:rPr>
              <a:t>PRODUCT GOAL</a:t>
            </a:r>
          </a:p>
        </p:txBody>
      </p:sp>
      <p:sp>
        <p:nvSpPr>
          <p:cNvPr id="7" name="matrix-column-header">
            <a:extLst xmlns:a="http://schemas.openxmlformats.org/drawingml/2006/main">
              <a:ext uri="{FF2B5EF4-FFF2-40B4-BE49-F238E27FC236}">
                <a16:creationId xmlns:a16="http://schemas.microsoft.com/office/drawing/2014/main" id="{0050E78A-8B96-4E9C-A3CF-CA50EF96FEFE}"/>
              </a:ext>
            </a:extLst>
          </p:cNvPr>
          <p:cNvSpPr>
            <a:spLocks xmlns:a="http://schemas.openxmlformats.org/drawingml/2006/main" noGrp="1"/>
          </p:cNvSpPr>
          <p:nvPr/>
        </p:nvSpPr>
        <p:spPr>
          <a:xfrm xmlns:a="http://schemas.openxmlformats.org/drawingml/2006/main">
            <a:off x="4381500" y="2352675"/>
            <a:ext cx="199263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650" b="1">
                <a:solidFill>
                  <a:srgbClr val="606771"/>
                </a:solidFill>
                <a:latin typeface="Helvetica Neue"/>
                <a:ea typeface="Helvetica Neue"/>
                <a:cs typeface="Helvetica Neue"/>
              </a:defRPr>
            </a:pPr>
            <a:r>
              <a:rPr sz="1650" b="1">
                <a:solidFill>
                  <a:srgbClr val="606771"/>
                </a:solidFill>
                <a:latin typeface="Helvetica Neue"/>
                <a:ea typeface="Helvetica Neue"/>
                <a:cs typeface="Helvetica Neue"/>
              </a:rPr>
              <a:t>END USER</a:t>
            </a:r>
          </a:p>
        </p:txBody>
      </p:sp>
      <p:sp>
        <p:nvSpPr>
          <p:cNvPr id="8" name="matrix-column-header">
            <a:extLst xmlns:a="http://schemas.openxmlformats.org/drawingml/2006/main">
              <a:ext uri="{FF2B5EF4-FFF2-40B4-BE49-F238E27FC236}">
                <a16:creationId xmlns:a16="http://schemas.microsoft.com/office/drawing/2014/main" id="{DBD2A23C-4F12-4FA2-9681-6D03AFB86057}"/>
              </a:ext>
            </a:extLst>
          </p:cNvPr>
          <p:cNvSpPr>
            <a:spLocks xmlns:a="http://schemas.openxmlformats.org/drawingml/2006/main" noGrp="1"/>
          </p:cNvSpPr>
          <p:nvPr/>
        </p:nvSpPr>
        <p:spPr>
          <a:xfrm xmlns:a="http://schemas.openxmlformats.org/drawingml/2006/main">
            <a:off x="6374130" y="2352675"/>
            <a:ext cx="199263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650" b="1">
                <a:solidFill>
                  <a:srgbClr val="606771"/>
                </a:solidFill>
                <a:latin typeface="Helvetica Neue"/>
                <a:ea typeface="Helvetica Neue"/>
                <a:cs typeface="Helvetica Neue"/>
              </a:defRPr>
            </a:pPr>
            <a:r>
              <a:rPr sz="1650" b="1">
                <a:solidFill>
                  <a:srgbClr val="606771"/>
                </a:solidFill>
                <a:latin typeface="Helvetica Neue"/>
                <a:ea typeface="Helvetica Neue"/>
                <a:cs typeface="Helvetica Neue"/>
              </a:rPr>
              <a:t>MARKET</a:t>
            </a:r>
          </a:p>
        </p:txBody>
      </p:sp>
      <p:sp>
        <p:nvSpPr>
          <p:cNvPr id="9" name="matrix-column-header">
            <a:extLst xmlns:a="http://schemas.openxmlformats.org/drawingml/2006/main">
              <a:ext uri="{FF2B5EF4-FFF2-40B4-BE49-F238E27FC236}">
                <a16:creationId xmlns:a16="http://schemas.microsoft.com/office/drawing/2014/main" id="{39418753-BFD5-472F-85E1-32FA0FBA9BC8}"/>
              </a:ext>
            </a:extLst>
          </p:cNvPr>
          <p:cNvSpPr>
            <a:spLocks xmlns:a="http://schemas.openxmlformats.org/drawingml/2006/main" noGrp="1"/>
          </p:cNvSpPr>
          <p:nvPr/>
        </p:nvSpPr>
        <p:spPr>
          <a:xfrm xmlns:a="http://schemas.openxmlformats.org/drawingml/2006/main">
            <a:off x="8366760" y="2352675"/>
            <a:ext cx="199263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650" b="1">
                <a:solidFill>
                  <a:srgbClr val="606771"/>
                </a:solidFill>
                <a:latin typeface="Helvetica Neue"/>
                <a:ea typeface="Helvetica Neue"/>
                <a:cs typeface="Helvetica Neue"/>
              </a:defRPr>
            </a:pPr>
            <a:r>
              <a:rPr sz="1650" b="1">
                <a:solidFill>
                  <a:srgbClr val="606771"/>
                </a:solidFill>
                <a:latin typeface="Helvetica Neue"/>
                <a:ea typeface="Helvetica Neue"/>
                <a:cs typeface="Helvetica Neue"/>
              </a:rPr>
              <a:t>PRODUCT</a:t>
            </a:r>
          </a:p>
        </p:txBody>
      </p:sp>
      <p:sp>
        <p:nvSpPr>
          <p:cNvPr id="10" name="matrix-column-header">
            <a:extLst xmlns:a="http://schemas.openxmlformats.org/drawingml/2006/main">
              <a:ext uri="{FF2B5EF4-FFF2-40B4-BE49-F238E27FC236}">
                <a16:creationId xmlns:a16="http://schemas.microsoft.com/office/drawing/2014/main" id="{B9A550E2-6A71-48FB-8E91-B83A2B171E7E}"/>
              </a:ext>
            </a:extLst>
          </p:cNvPr>
          <p:cNvSpPr>
            <a:spLocks xmlns:a="http://schemas.openxmlformats.org/drawingml/2006/main" noGrp="1"/>
          </p:cNvSpPr>
          <p:nvPr/>
        </p:nvSpPr>
        <p:spPr>
          <a:xfrm xmlns:a="http://schemas.openxmlformats.org/drawingml/2006/main">
            <a:off x="10359390" y="2352675"/>
            <a:ext cx="199263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650" b="1">
                <a:solidFill>
                  <a:srgbClr val="606771"/>
                </a:solidFill>
                <a:latin typeface="Helvetica Neue"/>
                <a:ea typeface="Helvetica Neue"/>
                <a:cs typeface="Helvetica Neue"/>
              </a:defRPr>
            </a:pPr>
            <a:r>
              <a:rPr sz="1650" b="1">
                <a:solidFill>
                  <a:srgbClr val="606771"/>
                </a:solidFill>
                <a:latin typeface="Helvetica Neue"/>
                <a:ea typeface="Helvetica Neue"/>
                <a:cs typeface="Helvetica Neue"/>
              </a:rPr>
              <a:t>PROCURE.</a:t>
            </a:r>
          </a:p>
        </p:txBody>
      </p:sp>
      <p:sp>
        <p:nvSpPr>
          <p:cNvPr id="11" name="matrix-column-header">
            <a:extLst xmlns:a="http://schemas.openxmlformats.org/drawingml/2006/main">
              <a:ext uri="{FF2B5EF4-FFF2-40B4-BE49-F238E27FC236}">
                <a16:creationId xmlns:a16="http://schemas.microsoft.com/office/drawing/2014/main" id="{F38738DF-00D7-433A-80A7-376AA13D5FA4}"/>
              </a:ext>
            </a:extLst>
          </p:cNvPr>
          <p:cNvSpPr>
            <a:spLocks xmlns:a="http://schemas.openxmlformats.org/drawingml/2006/main" noGrp="1"/>
          </p:cNvSpPr>
          <p:nvPr/>
        </p:nvSpPr>
        <p:spPr>
          <a:xfrm xmlns:a="http://schemas.openxmlformats.org/drawingml/2006/main">
            <a:off x="12352020" y="2352675"/>
            <a:ext cx="199263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MEAN</a:t>
            </a:r>
          </a:p>
        </p:txBody>
      </p:sp>
      <p:sp>
        <p:nvSpPr>
          <p:cNvPr id="12" name="structural-divider">
            <a:extLst xmlns:a="http://schemas.openxmlformats.org/drawingml/2006/main">
              <a:ext uri="{FF2B5EF4-FFF2-40B4-BE49-F238E27FC236}">
                <a16:creationId xmlns:a16="http://schemas.microsoft.com/office/drawing/2014/main" id="{EB207A3C-40F9-4F75-9EA5-DFC45F58D007}"/>
              </a:ext>
            </a:extLst>
          </p:cNvPr>
          <p:cNvSpPr>
            <a:spLocks xmlns:a="http://schemas.openxmlformats.org/drawingml/2006/main" noGrp="1"/>
          </p:cNvSpPr>
          <p:nvPr/>
        </p:nvSpPr>
        <p:spPr>
          <a:xfrm xmlns:a="http://schemas.openxmlformats.org/drawingml/2006/main">
            <a:off x="895350" y="2828925"/>
            <a:ext cx="134493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3" name="matrix-goal-label">
            <a:extLst xmlns:a="http://schemas.openxmlformats.org/drawingml/2006/main">
              <a:ext uri="{FF2B5EF4-FFF2-40B4-BE49-F238E27FC236}">
                <a16:creationId xmlns:a16="http://schemas.microsoft.com/office/drawing/2014/main" id="{2351A362-3C92-4D84-A5FF-11D16125EF7F}"/>
              </a:ext>
            </a:extLst>
          </p:cNvPr>
          <p:cNvSpPr>
            <a:spLocks xmlns:a="http://schemas.openxmlformats.org/drawingml/2006/main" noGrp="1"/>
          </p:cNvSpPr>
          <p:nvPr/>
        </p:nvSpPr>
        <p:spPr>
          <a:xfrm xmlns:a="http://schemas.openxmlformats.org/drawingml/2006/main">
            <a:off x="895350" y="3028950"/>
            <a:ext cx="3486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Phone</a:t>
            </a:r>
          </a:p>
        </p:txBody>
      </p:sp>
      <p:sp>
        <p:nvSpPr>
          <p:cNvPr id="14" name="matrix-score">
            <a:extLst xmlns:a="http://schemas.openxmlformats.org/drawingml/2006/main">
              <a:ext uri="{FF2B5EF4-FFF2-40B4-BE49-F238E27FC236}">
                <a16:creationId xmlns:a16="http://schemas.microsoft.com/office/drawing/2014/main" id="{DB234775-F139-498B-BF51-EE8BA57CA1E8}"/>
              </a:ext>
            </a:extLst>
          </p:cNvPr>
          <p:cNvSpPr>
            <a:spLocks xmlns:a="http://schemas.openxmlformats.org/drawingml/2006/main" noGrp="1"/>
          </p:cNvSpPr>
          <p:nvPr/>
        </p:nvSpPr>
        <p:spPr>
          <a:xfrm xmlns:a="http://schemas.openxmlformats.org/drawingml/2006/main">
            <a:off x="4381500" y="30289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35</a:t>
            </a:r>
          </a:p>
        </p:txBody>
      </p:sp>
      <p:sp>
        <p:nvSpPr>
          <p:cNvPr id="15" name="matrix-score">
            <a:extLst xmlns:a="http://schemas.openxmlformats.org/drawingml/2006/main">
              <a:ext uri="{FF2B5EF4-FFF2-40B4-BE49-F238E27FC236}">
                <a16:creationId xmlns:a16="http://schemas.microsoft.com/office/drawing/2014/main" id="{E7A6310B-5416-48A1-A4FC-4492B2B0D8F1}"/>
              </a:ext>
            </a:extLst>
          </p:cNvPr>
          <p:cNvSpPr>
            <a:spLocks xmlns:a="http://schemas.openxmlformats.org/drawingml/2006/main" noGrp="1"/>
          </p:cNvSpPr>
          <p:nvPr/>
        </p:nvSpPr>
        <p:spPr>
          <a:xfrm xmlns:a="http://schemas.openxmlformats.org/drawingml/2006/main">
            <a:off x="6374130" y="30289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43</a:t>
            </a:r>
          </a:p>
        </p:txBody>
      </p:sp>
      <p:sp>
        <p:nvSpPr>
          <p:cNvPr id="16" name="matrix-score">
            <a:extLst xmlns:a="http://schemas.openxmlformats.org/drawingml/2006/main">
              <a:ext uri="{FF2B5EF4-FFF2-40B4-BE49-F238E27FC236}">
                <a16:creationId xmlns:a16="http://schemas.microsoft.com/office/drawing/2014/main" id="{3345B813-79E2-4E6C-AC65-58D81449868C}"/>
              </a:ext>
            </a:extLst>
          </p:cNvPr>
          <p:cNvSpPr>
            <a:spLocks xmlns:a="http://schemas.openxmlformats.org/drawingml/2006/main" noGrp="1"/>
          </p:cNvSpPr>
          <p:nvPr/>
        </p:nvSpPr>
        <p:spPr>
          <a:xfrm xmlns:a="http://schemas.openxmlformats.org/drawingml/2006/main">
            <a:off x="8366760" y="30289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38</a:t>
            </a:r>
          </a:p>
        </p:txBody>
      </p:sp>
      <p:sp>
        <p:nvSpPr>
          <p:cNvPr id="17" name="matrix-score">
            <a:extLst xmlns:a="http://schemas.openxmlformats.org/drawingml/2006/main">
              <a:ext uri="{FF2B5EF4-FFF2-40B4-BE49-F238E27FC236}">
                <a16:creationId xmlns:a16="http://schemas.microsoft.com/office/drawing/2014/main" id="{84A07073-3A9A-4C8A-AE04-83ACE3E3D070}"/>
              </a:ext>
            </a:extLst>
          </p:cNvPr>
          <p:cNvSpPr>
            <a:spLocks xmlns:a="http://schemas.openxmlformats.org/drawingml/2006/main" noGrp="1"/>
          </p:cNvSpPr>
          <p:nvPr/>
        </p:nvSpPr>
        <p:spPr>
          <a:xfrm xmlns:a="http://schemas.openxmlformats.org/drawingml/2006/main">
            <a:off x="10359390" y="30289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43</a:t>
            </a:r>
          </a:p>
        </p:txBody>
      </p:sp>
      <p:sp>
        <p:nvSpPr>
          <p:cNvPr id="18" name="matrix-score">
            <a:extLst xmlns:a="http://schemas.openxmlformats.org/drawingml/2006/main">
              <a:ext uri="{FF2B5EF4-FFF2-40B4-BE49-F238E27FC236}">
                <a16:creationId xmlns:a16="http://schemas.microsoft.com/office/drawing/2014/main" id="{81EAB75F-65C9-49B3-B34B-EF8BF0C9A022}"/>
              </a:ext>
            </a:extLst>
          </p:cNvPr>
          <p:cNvSpPr>
            <a:spLocks xmlns:a="http://schemas.openxmlformats.org/drawingml/2006/main" noGrp="1"/>
          </p:cNvSpPr>
          <p:nvPr/>
        </p:nvSpPr>
        <p:spPr>
          <a:xfrm xmlns:a="http://schemas.openxmlformats.org/drawingml/2006/main">
            <a:off x="12352020" y="30289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950" b="1">
                <a:solidFill>
                  <a:srgbClr val="1759BC"/>
                </a:solidFill>
                <a:latin typeface="Helvetica Neue"/>
                <a:ea typeface="Helvetica Neue"/>
                <a:cs typeface="Helvetica Neue"/>
              </a:defRPr>
            </a:pPr>
            <a:r>
              <a:rPr sz="1950" b="1">
                <a:solidFill>
                  <a:srgbClr val="1759BC"/>
                </a:solidFill>
                <a:latin typeface="Helvetica Neue"/>
                <a:ea typeface="Helvetica Neue"/>
                <a:cs typeface="Helvetica Neue"/>
              </a:rPr>
              <a:t>39.75</a:t>
            </a:r>
          </a:p>
        </p:txBody>
      </p:sp>
      <p:sp>
        <p:nvSpPr>
          <p:cNvPr id="19" name="structural-divider">
            <a:extLst xmlns:a="http://schemas.openxmlformats.org/drawingml/2006/main">
              <a:ext uri="{FF2B5EF4-FFF2-40B4-BE49-F238E27FC236}">
                <a16:creationId xmlns:a16="http://schemas.microsoft.com/office/drawing/2014/main" id="{26A58A70-6E8E-4340-AB3F-55036C8F489C}"/>
              </a:ext>
            </a:extLst>
          </p:cNvPr>
          <p:cNvSpPr>
            <a:spLocks xmlns:a="http://schemas.openxmlformats.org/drawingml/2006/main" noGrp="1"/>
          </p:cNvSpPr>
          <p:nvPr/>
        </p:nvSpPr>
        <p:spPr>
          <a:xfrm xmlns:a="http://schemas.openxmlformats.org/drawingml/2006/main">
            <a:off x="895350" y="34956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0" name="matrix-goal-label">
            <a:extLst xmlns:a="http://schemas.openxmlformats.org/drawingml/2006/main">
              <a:ext uri="{FF2B5EF4-FFF2-40B4-BE49-F238E27FC236}">
                <a16:creationId xmlns:a16="http://schemas.microsoft.com/office/drawing/2014/main" id="{08D56A2B-64D4-4A53-AB60-DF857EB0399D}"/>
              </a:ext>
            </a:extLst>
          </p:cNvPr>
          <p:cNvSpPr>
            <a:spLocks xmlns:a="http://schemas.openxmlformats.org/drawingml/2006/main" noGrp="1"/>
          </p:cNvSpPr>
          <p:nvPr/>
        </p:nvSpPr>
        <p:spPr>
          <a:xfrm xmlns:a="http://schemas.openxmlformats.org/drawingml/2006/main">
            <a:off x="895350" y="3657600"/>
            <a:ext cx="3486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Tablet</a:t>
            </a:r>
          </a:p>
        </p:txBody>
      </p:sp>
      <p:sp>
        <p:nvSpPr>
          <p:cNvPr id="21" name="matrix-score">
            <a:extLst xmlns:a="http://schemas.openxmlformats.org/drawingml/2006/main">
              <a:ext uri="{FF2B5EF4-FFF2-40B4-BE49-F238E27FC236}">
                <a16:creationId xmlns:a16="http://schemas.microsoft.com/office/drawing/2014/main" id="{0FF3A328-08D4-4E9A-A61B-E018FC43045B}"/>
              </a:ext>
            </a:extLst>
          </p:cNvPr>
          <p:cNvSpPr>
            <a:spLocks xmlns:a="http://schemas.openxmlformats.org/drawingml/2006/main" noGrp="1"/>
          </p:cNvSpPr>
          <p:nvPr/>
        </p:nvSpPr>
        <p:spPr>
          <a:xfrm xmlns:a="http://schemas.openxmlformats.org/drawingml/2006/main">
            <a:off x="4381500" y="36576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47</a:t>
            </a:r>
          </a:p>
        </p:txBody>
      </p:sp>
      <p:sp>
        <p:nvSpPr>
          <p:cNvPr id="22" name="matrix-score">
            <a:extLst xmlns:a="http://schemas.openxmlformats.org/drawingml/2006/main">
              <a:ext uri="{FF2B5EF4-FFF2-40B4-BE49-F238E27FC236}">
                <a16:creationId xmlns:a16="http://schemas.microsoft.com/office/drawing/2014/main" id="{86B30BB9-0C35-48AF-B988-53834980A95D}"/>
              </a:ext>
            </a:extLst>
          </p:cNvPr>
          <p:cNvSpPr>
            <a:spLocks xmlns:a="http://schemas.openxmlformats.org/drawingml/2006/main" noGrp="1"/>
          </p:cNvSpPr>
          <p:nvPr/>
        </p:nvSpPr>
        <p:spPr>
          <a:xfrm xmlns:a="http://schemas.openxmlformats.org/drawingml/2006/main">
            <a:off x="6374130" y="36576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55</a:t>
            </a:r>
          </a:p>
        </p:txBody>
      </p:sp>
      <p:sp>
        <p:nvSpPr>
          <p:cNvPr id="23" name="matrix-score">
            <a:extLst xmlns:a="http://schemas.openxmlformats.org/drawingml/2006/main">
              <a:ext uri="{FF2B5EF4-FFF2-40B4-BE49-F238E27FC236}">
                <a16:creationId xmlns:a16="http://schemas.microsoft.com/office/drawing/2014/main" id="{1D4B976F-0613-4C13-9C0A-302888374982}"/>
              </a:ext>
            </a:extLst>
          </p:cNvPr>
          <p:cNvSpPr>
            <a:spLocks xmlns:a="http://schemas.openxmlformats.org/drawingml/2006/main" noGrp="1"/>
          </p:cNvSpPr>
          <p:nvPr/>
        </p:nvSpPr>
        <p:spPr>
          <a:xfrm xmlns:a="http://schemas.openxmlformats.org/drawingml/2006/main">
            <a:off x="8366760" y="36576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54</a:t>
            </a:r>
          </a:p>
        </p:txBody>
      </p:sp>
      <p:sp>
        <p:nvSpPr>
          <p:cNvPr id="24" name="matrix-score">
            <a:extLst xmlns:a="http://schemas.openxmlformats.org/drawingml/2006/main">
              <a:ext uri="{FF2B5EF4-FFF2-40B4-BE49-F238E27FC236}">
                <a16:creationId xmlns:a16="http://schemas.microsoft.com/office/drawing/2014/main" id="{B37441DD-DFDF-4600-894D-4B77E52040CF}"/>
              </a:ext>
            </a:extLst>
          </p:cNvPr>
          <p:cNvSpPr>
            <a:spLocks xmlns:a="http://schemas.openxmlformats.org/drawingml/2006/main" noGrp="1"/>
          </p:cNvSpPr>
          <p:nvPr/>
        </p:nvSpPr>
        <p:spPr>
          <a:xfrm xmlns:a="http://schemas.openxmlformats.org/drawingml/2006/main">
            <a:off x="10359390" y="36576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56</a:t>
            </a:r>
          </a:p>
        </p:txBody>
      </p:sp>
      <p:sp>
        <p:nvSpPr>
          <p:cNvPr id="25" name="matrix-score">
            <a:extLst xmlns:a="http://schemas.openxmlformats.org/drawingml/2006/main">
              <a:ext uri="{FF2B5EF4-FFF2-40B4-BE49-F238E27FC236}">
                <a16:creationId xmlns:a16="http://schemas.microsoft.com/office/drawing/2014/main" id="{18309616-AA1F-4C04-A778-A1DD331091D5}"/>
              </a:ext>
            </a:extLst>
          </p:cNvPr>
          <p:cNvSpPr>
            <a:spLocks xmlns:a="http://schemas.openxmlformats.org/drawingml/2006/main" noGrp="1"/>
          </p:cNvSpPr>
          <p:nvPr/>
        </p:nvSpPr>
        <p:spPr>
          <a:xfrm xmlns:a="http://schemas.openxmlformats.org/drawingml/2006/main">
            <a:off x="12352020" y="36576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950" b="1">
                <a:solidFill>
                  <a:srgbClr val="1759BC"/>
                </a:solidFill>
                <a:latin typeface="Helvetica Neue"/>
                <a:ea typeface="Helvetica Neue"/>
                <a:cs typeface="Helvetica Neue"/>
              </a:defRPr>
            </a:pPr>
            <a:r>
              <a:rPr sz="1950" b="1">
                <a:solidFill>
                  <a:srgbClr val="1759BC"/>
                </a:solidFill>
                <a:latin typeface="Helvetica Neue"/>
                <a:ea typeface="Helvetica Neue"/>
                <a:cs typeface="Helvetica Neue"/>
              </a:rPr>
              <a:t>53.00</a:t>
            </a:r>
          </a:p>
        </p:txBody>
      </p:sp>
      <p:sp>
        <p:nvSpPr>
          <p:cNvPr id="26" name="structural-divider">
            <a:extLst xmlns:a="http://schemas.openxmlformats.org/drawingml/2006/main">
              <a:ext uri="{FF2B5EF4-FFF2-40B4-BE49-F238E27FC236}">
                <a16:creationId xmlns:a16="http://schemas.microsoft.com/office/drawing/2014/main" id="{D9784A1B-911D-404A-BE06-84D8678A1D9E}"/>
              </a:ext>
            </a:extLst>
          </p:cNvPr>
          <p:cNvSpPr>
            <a:spLocks xmlns:a="http://schemas.openxmlformats.org/drawingml/2006/main" noGrp="1"/>
          </p:cNvSpPr>
          <p:nvPr/>
        </p:nvSpPr>
        <p:spPr>
          <a:xfrm xmlns:a="http://schemas.openxmlformats.org/drawingml/2006/main">
            <a:off x="895350" y="41243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7" name="matrix-goal-label">
            <a:extLst xmlns:a="http://schemas.openxmlformats.org/drawingml/2006/main">
              <a:ext uri="{FF2B5EF4-FFF2-40B4-BE49-F238E27FC236}">
                <a16:creationId xmlns:a16="http://schemas.microsoft.com/office/drawing/2014/main" id="{205C96A0-6642-4ECC-A41B-4172C4A5C9AB}"/>
              </a:ext>
            </a:extLst>
          </p:cNvPr>
          <p:cNvSpPr>
            <a:spLocks xmlns:a="http://schemas.openxmlformats.org/drawingml/2006/main" noGrp="1"/>
          </p:cNvSpPr>
          <p:nvPr/>
        </p:nvSpPr>
        <p:spPr>
          <a:xfrm xmlns:a="http://schemas.openxmlformats.org/drawingml/2006/main">
            <a:off x="895350" y="4286250"/>
            <a:ext cx="3486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Small monitor</a:t>
            </a:r>
          </a:p>
        </p:txBody>
      </p:sp>
      <p:sp>
        <p:nvSpPr>
          <p:cNvPr id="28" name="matrix-score">
            <a:extLst xmlns:a="http://schemas.openxmlformats.org/drawingml/2006/main">
              <a:ext uri="{FF2B5EF4-FFF2-40B4-BE49-F238E27FC236}">
                <a16:creationId xmlns:a16="http://schemas.microsoft.com/office/drawing/2014/main" id="{DCA0BB4E-5E3F-490F-BCAC-6F4D18C120D9}"/>
              </a:ext>
            </a:extLst>
          </p:cNvPr>
          <p:cNvSpPr>
            <a:spLocks xmlns:a="http://schemas.openxmlformats.org/drawingml/2006/main" noGrp="1"/>
          </p:cNvSpPr>
          <p:nvPr/>
        </p:nvSpPr>
        <p:spPr>
          <a:xfrm xmlns:a="http://schemas.openxmlformats.org/drawingml/2006/main">
            <a:off x="4381500" y="42862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64</a:t>
            </a:r>
          </a:p>
        </p:txBody>
      </p:sp>
      <p:sp>
        <p:nvSpPr>
          <p:cNvPr id="29" name="matrix-score">
            <a:extLst xmlns:a="http://schemas.openxmlformats.org/drawingml/2006/main">
              <a:ext uri="{FF2B5EF4-FFF2-40B4-BE49-F238E27FC236}">
                <a16:creationId xmlns:a16="http://schemas.microsoft.com/office/drawing/2014/main" id="{5E569DC5-F9F8-4454-A2B2-8F95B34228C7}"/>
              </a:ext>
            </a:extLst>
          </p:cNvPr>
          <p:cNvSpPr>
            <a:spLocks xmlns:a="http://schemas.openxmlformats.org/drawingml/2006/main" noGrp="1"/>
          </p:cNvSpPr>
          <p:nvPr/>
        </p:nvSpPr>
        <p:spPr>
          <a:xfrm xmlns:a="http://schemas.openxmlformats.org/drawingml/2006/main">
            <a:off x="6374130" y="42862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71</a:t>
            </a:r>
          </a:p>
        </p:txBody>
      </p:sp>
      <p:sp>
        <p:nvSpPr>
          <p:cNvPr id="30" name="matrix-score">
            <a:extLst xmlns:a="http://schemas.openxmlformats.org/drawingml/2006/main">
              <a:ext uri="{FF2B5EF4-FFF2-40B4-BE49-F238E27FC236}">
                <a16:creationId xmlns:a16="http://schemas.microsoft.com/office/drawing/2014/main" id="{CBD70330-DD5D-48F8-A65C-A4F4A5D3275F}"/>
              </a:ext>
            </a:extLst>
          </p:cNvPr>
          <p:cNvSpPr>
            <a:spLocks xmlns:a="http://schemas.openxmlformats.org/drawingml/2006/main" noGrp="1"/>
          </p:cNvSpPr>
          <p:nvPr/>
        </p:nvSpPr>
        <p:spPr>
          <a:xfrm xmlns:a="http://schemas.openxmlformats.org/drawingml/2006/main">
            <a:off x="8366760" y="42862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65</a:t>
            </a:r>
          </a:p>
        </p:txBody>
      </p:sp>
      <p:sp>
        <p:nvSpPr>
          <p:cNvPr id="31" name="matrix-score">
            <a:extLst xmlns:a="http://schemas.openxmlformats.org/drawingml/2006/main">
              <a:ext uri="{FF2B5EF4-FFF2-40B4-BE49-F238E27FC236}">
                <a16:creationId xmlns:a16="http://schemas.microsoft.com/office/drawing/2014/main" id="{6ED07B4E-C3CE-40F8-B6D8-5EB65BCA3332}"/>
              </a:ext>
            </a:extLst>
          </p:cNvPr>
          <p:cNvSpPr>
            <a:spLocks xmlns:a="http://schemas.openxmlformats.org/drawingml/2006/main" noGrp="1"/>
          </p:cNvSpPr>
          <p:nvPr/>
        </p:nvSpPr>
        <p:spPr>
          <a:xfrm xmlns:a="http://schemas.openxmlformats.org/drawingml/2006/main">
            <a:off x="10359390" y="42862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69</a:t>
            </a:r>
          </a:p>
        </p:txBody>
      </p:sp>
      <p:sp>
        <p:nvSpPr>
          <p:cNvPr id="32" name="matrix-score">
            <a:extLst xmlns:a="http://schemas.openxmlformats.org/drawingml/2006/main">
              <a:ext uri="{FF2B5EF4-FFF2-40B4-BE49-F238E27FC236}">
                <a16:creationId xmlns:a16="http://schemas.microsoft.com/office/drawing/2014/main" id="{4E8963C0-FE6E-4789-A092-6817CD928CF3}"/>
              </a:ext>
            </a:extLst>
          </p:cNvPr>
          <p:cNvSpPr>
            <a:spLocks xmlns:a="http://schemas.openxmlformats.org/drawingml/2006/main" noGrp="1"/>
          </p:cNvSpPr>
          <p:nvPr/>
        </p:nvSpPr>
        <p:spPr>
          <a:xfrm xmlns:a="http://schemas.openxmlformats.org/drawingml/2006/main">
            <a:off x="12352020" y="42862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950" b="1">
                <a:solidFill>
                  <a:srgbClr val="1759BC"/>
                </a:solidFill>
                <a:latin typeface="Helvetica Neue"/>
                <a:ea typeface="Helvetica Neue"/>
                <a:cs typeface="Helvetica Neue"/>
              </a:defRPr>
            </a:pPr>
            <a:r>
              <a:rPr sz="1950" b="1">
                <a:solidFill>
                  <a:srgbClr val="1759BC"/>
                </a:solidFill>
                <a:latin typeface="Helvetica Neue"/>
                <a:ea typeface="Helvetica Neue"/>
                <a:cs typeface="Helvetica Neue"/>
              </a:rPr>
              <a:t>67.25</a:t>
            </a:r>
          </a:p>
        </p:txBody>
      </p:sp>
      <p:sp>
        <p:nvSpPr>
          <p:cNvPr id="33" name="structural-divider">
            <a:extLst xmlns:a="http://schemas.openxmlformats.org/drawingml/2006/main">
              <a:ext uri="{FF2B5EF4-FFF2-40B4-BE49-F238E27FC236}">
                <a16:creationId xmlns:a16="http://schemas.microsoft.com/office/drawing/2014/main" id="{D1B227D8-5A5E-48B2-AF53-B3E033A3BFFA}"/>
              </a:ext>
            </a:extLst>
          </p:cNvPr>
          <p:cNvSpPr>
            <a:spLocks xmlns:a="http://schemas.openxmlformats.org/drawingml/2006/main" noGrp="1"/>
          </p:cNvSpPr>
          <p:nvPr/>
        </p:nvSpPr>
        <p:spPr>
          <a:xfrm xmlns:a="http://schemas.openxmlformats.org/drawingml/2006/main">
            <a:off x="895350" y="47529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34" name="matrix-goal-label">
            <a:extLst xmlns:a="http://schemas.openxmlformats.org/drawingml/2006/main">
              <a:ext uri="{FF2B5EF4-FFF2-40B4-BE49-F238E27FC236}">
                <a16:creationId xmlns:a16="http://schemas.microsoft.com/office/drawing/2014/main" id="{135F2F03-9EBE-4383-94DE-13DB9291210B}"/>
              </a:ext>
            </a:extLst>
          </p:cNvPr>
          <p:cNvSpPr>
            <a:spLocks xmlns:a="http://schemas.openxmlformats.org/drawingml/2006/main" noGrp="1"/>
          </p:cNvSpPr>
          <p:nvPr/>
        </p:nvSpPr>
        <p:spPr>
          <a:xfrm xmlns:a="http://schemas.openxmlformats.org/drawingml/2006/main">
            <a:off x="895350" y="4914900"/>
            <a:ext cx="3486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Large monitor</a:t>
            </a:r>
          </a:p>
        </p:txBody>
      </p:sp>
      <p:sp>
        <p:nvSpPr>
          <p:cNvPr id="35" name="matrix-score">
            <a:extLst xmlns:a="http://schemas.openxmlformats.org/drawingml/2006/main">
              <a:ext uri="{FF2B5EF4-FFF2-40B4-BE49-F238E27FC236}">
                <a16:creationId xmlns:a16="http://schemas.microsoft.com/office/drawing/2014/main" id="{DC9BBB77-3AEE-427E-9EAB-6CD30570811B}"/>
              </a:ext>
            </a:extLst>
          </p:cNvPr>
          <p:cNvSpPr>
            <a:spLocks xmlns:a="http://schemas.openxmlformats.org/drawingml/2006/main" noGrp="1"/>
          </p:cNvSpPr>
          <p:nvPr/>
        </p:nvSpPr>
        <p:spPr>
          <a:xfrm xmlns:a="http://schemas.openxmlformats.org/drawingml/2006/main">
            <a:off x="4381500" y="49149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63</a:t>
            </a:r>
          </a:p>
        </p:txBody>
      </p:sp>
      <p:sp>
        <p:nvSpPr>
          <p:cNvPr id="36" name="matrix-score">
            <a:extLst xmlns:a="http://schemas.openxmlformats.org/drawingml/2006/main">
              <a:ext uri="{FF2B5EF4-FFF2-40B4-BE49-F238E27FC236}">
                <a16:creationId xmlns:a16="http://schemas.microsoft.com/office/drawing/2014/main" id="{984A9EF0-EEC6-4F92-8E88-1109A5A9C468}"/>
              </a:ext>
            </a:extLst>
          </p:cNvPr>
          <p:cNvSpPr>
            <a:spLocks xmlns:a="http://schemas.openxmlformats.org/drawingml/2006/main" noGrp="1"/>
          </p:cNvSpPr>
          <p:nvPr/>
        </p:nvSpPr>
        <p:spPr>
          <a:xfrm xmlns:a="http://schemas.openxmlformats.org/drawingml/2006/main">
            <a:off x="6374130" y="49149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69</a:t>
            </a:r>
          </a:p>
        </p:txBody>
      </p:sp>
      <p:sp>
        <p:nvSpPr>
          <p:cNvPr id="37" name="matrix-score">
            <a:extLst xmlns:a="http://schemas.openxmlformats.org/drawingml/2006/main">
              <a:ext uri="{FF2B5EF4-FFF2-40B4-BE49-F238E27FC236}">
                <a16:creationId xmlns:a16="http://schemas.microsoft.com/office/drawing/2014/main" id="{C7FCD36E-2858-4013-81DE-99E58050FD53}"/>
              </a:ext>
            </a:extLst>
          </p:cNvPr>
          <p:cNvSpPr>
            <a:spLocks xmlns:a="http://schemas.openxmlformats.org/drawingml/2006/main" noGrp="1"/>
          </p:cNvSpPr>
          <p:nvPr/>
        </p:nvSpPr>
        <p:spPr>
          <a:xfrm xmlns:a="http://schemas.openxmlformats.org/drawingml/2006/main">
            <a:off x="8366760" y="49149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69</a:t>
            </a:r>
          </a:p>
        </p:txBody>
      </p:sp>
      <p:sp>
        <p:nvSpPr>
          <p:cNvPr id="38" name="matrix-score">
            <a:extLst xmlns:a="http://schemas.openxmlformats.org/drawingml/2006/main">
              <a:ext uri="{FF2B5EF4-FFF2-40B4-BE49-F238E27FC236}">
                <a16:creationId xmlns:a16="http://schemas.microsoft.com/office/drawing/2014/main" id="{E7FEB656-C8EA-403E-9D6C-592819EB82A6}"/>
              </a:ext>
            </a:extLst>
          </p:cNvPr>
          <p:cNvSpPr>
            <a:spLocks xmlns:a="http://schemas.openxmlformats.org/drawingml/2006/main" noGrp="1"/>
          </p:cNvSpPr>
          <p:nvPr/>
        </p:nvSpPr>
        <p:spPr>
          <a:xfrm xmlns:a="http://schemas.openxmlformats.org/drawingml/2006/main">
            <a:off x="10359390" y="49149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73</a:t>
            </a:r>
          </a:p>
        </p:txBody>
      </p:sp>
      <p:sp>
        <p:nvSpPr>
          <p:cNvPr id="39" name="matrix-score">
            <a:extLst xmlns:a="http://schemas.openxmlformats.org/drawingml/2006/main">
              <a:ext uri="{FF2B5EF4-FFF2-40B4-BE49-F238E27FC236}">
                <a16:creationId xmlns:a16="http://schemas.microsoft.com/office/drawing/2014/main" id="{640F4EF3-EC7E-4DE7-B8C0-EC4C9B55750C}"/>
              </a:ext>
            </a:extLst>
          </p:cNvPr>
          <p:cNvSpPr>
            <a:spLocks xmlns:a="http://schemas.openxmlformats.org/drawingml/2006/main" noGrp="1"/>
          </p:cNvSpPr>
          <p:nvPr/>
        </p:nvSpPr>
        <p:spPr>
          <a:xfrm xmlns:a="http://schemas.openxmlformats.org/drawingml/2006/main">
            <a:off x="12352020" y="49149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950" b="1">
                <a:solidFill>
                  <a:srgbClr val="1759BC"/>
                </a:solidFill>
                <a:latin typeface="Helvetica Neue"/>
                <a:ea typeface="Helvetica Neue"/>
                <a:cs typeface="Helvetica Neue"/>
              </a:defRPr>
            </a:pPr>
            <a:r>
              <a:rPr sz="1950" b="1">
                <a:solidFill>
                  <a:srgbClr val="1759BC"/>
                </a:solidFill>
                <a:latin typeface="Helvetica Neue"/>
                <a:ea typeface="Helvetica Neue"/>
                <a:cs typeface="Helvetica Neue"/>
              </a:rPr>
              <a:t>68.50</a:t>
            </a:r>
          </a:p>
        </p:txBody>
      </p:sp>
      <p:sp>
        <p:nvSpPr>
          <p:cNvPr id="40" name="structural-divider">
            <a:extLst xmlns:a="http://schemas.openxmlformats.org/drawingml/2006/main">
              <a:ext uri="{FF2B5EF4-FFF2-40B4-BE49-F238E27FC236}">
                <a16:creationId xmlns:a16="http://schemas.microsoft.com/office/drawing/2014/main" id="{1461CB58-C70F-4B4B-A096-06D139E62338}"/>
              </a:ext>
            </a:extLst>
          </p:cNvPr>
          <p:cNvSpPr>
            <a:spLocks xmlns:a="http://schemas.openxmlformats.org/drawingml/2006/main" noGrp="1"/>
          </p:cNvSpPr>
          <p:nvPr/>
        </p:nvSpPr>
        <p:spPr>
          <a:xfrm xmlns:a="http://schemas.openxmlformats.org/drawingml/2006/main">
            <a:off x="895350" y="53816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1" name="matrix-goal-label">
            <a:extLst xmlns:a="http://schemas.openxmlformats.org/drawingml/2006/main">
              <a:ext uri="{FF2B5EF4-FFF2-40B4-BE49-F238E27FC236}">
                <a16:creationId xmlns:a16="http://schemas.microsoft.com/office/drawing/2014/main" id="{80D0C4E9-FE52-4717-B675-3257AD350D3E}"/>
              </a:ext>
            </a:extLst>
          </p:cNvPr>
          <p:cNvSpPr>
            <a:spLocks xmlns:a="http://schemas.openxmlformats.org/drawingml/2006/main" noGrp="1"/>
          </p:cNvSpPr>
          <p:nvPr/>
        </p:nvSpPr>
        <p:spPr>
          <a:xfrm xmlns:a="http://schemas.openxmlformats.org/drawingml/2006/main">
            <a:off x="895350" y="5543550"/>
            <a:ext cx="3486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Adaptive coherence</a:t>
            </a:r>
          </a:p>
        </p:txBody>
      </p:sp>
      <p:sp>
        <p:nvSpPr>
          <p:cNvPr id="42" name="matrix-score">
            <a:extLst xmlns:a="http://schemas.openxmlformats.org/drawingml/2006/main">
              <a:ext uri="{FF2B5EF4-FFF2-40B4-BE49-F238E27FC236}">
                <a16:creationId xmlns:a16="http://schemas.microsoft.com/office/drawing/2014/main" id="{BA72BFE0-4F67-495F-84C0-34D0AD9ABD82}"/>
              </a:ext>
            </a:extLst>
          </p:cNvPr>
          <p:cNvSpPr>
            <a:spLocks xmlns:a="http://schemas.openxmlformats.org/drawingml/2006/main" noGrp="1"/>
          </p:cNvSpPr>
          <p:nvPr/>
        </p:nvSpPr>
        <p:spPr>
          <a:xfrm xmlns:a="http://schemas.openxmlformats.org/drawingml/2006/main">
            <a:off x="4381500" y="55435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49</a:t>
            </a:r>
          </a:p>
        </p:txBody>
      </p:sp>
      <p:sp>
        <p:nvSpPr>
          <p:cNvPr id="43" name="matrix-score">
            <a:extLst xmlns:a="http://schemas.openxmlformats.org/drawingml/2006/main">
              <a:ext uri="{FF2B5EF4-FFF2-40B4-BE49-F238E27FC236}">
                <a16:creationId xmlns:a16="http://schemas.microsoft.com/office/drawing/2014/main" id="{65E1C187-B807-4BAD-8728-F83BA9A90E79}"/>
              </a:ext>
            </a:extLst>
          </p:cNvPr>
          <p:cNvSpPr>
            <a:spLocks xmlns:a="http://schemas.openxmlformats.org/drawingml/2006/main" noGrp="1"/>
          </p:cNvSpPr>
          <p:nvPr/>
        </p:nvSpPr>
        <p:spPr>
          <a:xfrm xmlns:a="http://schemas.openxmlformats.org/drawingml/2006/main">
            <a:off x="6374130" y="55435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64</a:t>
            </a:r>
          </a:p>
        </p:txBody>
      </p:sp>
      <p:sp>
        <p:nvSpPr>
          <p:cNvPr id="44" name="matrix-score">
            <a:extLst xmlns:a="http://schemas.openxmlformats.org/drawingml/2006/main">
              <a:ext uri="{FF2B5EF4-FFF2-40B4-BE49-F238E27FC236}">
                <a16:creationId xmlns:a16="http://schemas.microsoft.com/office/drawing/2014/main" id="{75F60AFD-6DF8-4080-BBC4-77DD69CA0FD6}"/>
              </a:ext>
            </a:extLst>
          </p:cNvPr>
          <p:cNvSpPr>
            <a:spLocks xmlns:a="http://schemas.openxmlformats.org/drawingml/2006/main" noGrp="1"/>
          </p:cNvSpPr>
          <p:nvPr/>
        </p:nvSpPr>
        <p:spPr>
          <a:xfrm xmlns:a="http://schemas.openxmlformats.org/drawingml/2006/main">
            <a:off x="8366760" y="55435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62</a:t>
            </a:r>
          </a:p>
        </p:txBody>
      </p:sp>
      <p:sp>
        <p:nvSpPr>
          <p:cNvPr id="45" name="matrix-score">
            <a:extLst xmlns:a="http://schemas.openxmlformats.org/drawingml/2006/main">
              <a:ext uri="{FF2B5EF4-FFF2-40B4-BE49-F238E27FC236}">
                <a16:creationId xmlns:a16="http://schemas.microsoft.com/office/drawing/2014/main" id="{1212828A-A31A-4AA4-8CC4-B34B2DAFCF2C}"/>
              </a:ext>
            </a:extLst>
          </p:cNvPr>
          <p:cNvSpPr>
            <a:spLocks xmlns:a="http://schemas.openxmlformats.org/drawingml/2006/main" noGrp="1"/>
          </p:cNvSpPr>
          <p:nvPr/>
        </p:nvSpPr>
        <p:spPr>
          <a:xfrm xmlns:a="http://schemas.openxmlformats.org/drawingml/2006/main">
            <a:off x="10359390" y="55435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60</a:t>
            </a:r>
          </a:p>
        </p:txBody>
      </p:sp>
      <p:sp>
        <p:nvSpPr>
          <p:cNvPr id="46" name="matrix-score">
            <a:extLst xmlns:a="http://schemas.openxmlformats.org/drawingml/2006/main">
              <a:ext uri="{FF2B5EF4-FFF2-40B4-BE49-F238E27FC236}">
                <a16:creationId xmlns:a16="http://schemas.microsoft.com/office/drawing/2014/main" id="{88AC0AC3-DC2D-4B82-ACC6-FF4334E00692}"/>
              </a:ext>
            </a:extLst>
          </p:cNvPr>
          <p:cNvSpPr>
            <a:spLocks xmlns:a="http://schemas.openxmlformats.org/drawingml/2006/main" noGrp="1"/>
          </p:cNvSpPr>
          <p:nvPr/>
        </p:nvSpPr>
        <p:spPr>
          <a:xfrm xmlns:a="http://schemas.openxmlformats.org/drawingml/2006/main">
            <a:off x="12352020" y="554355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950" b="1">
                <a:solidFill>
                  <a:srgbClr val="1759BC"/>
                </a:solidFill>
                <a:latin typeface="Helvetica Neue"/>
                <a:ea typeface="Helvetica Neue"/>
                <a:cs typeface="Helvetica Neue"/>
              </a:defRPr>
            </a:pPr>
            <a:r>
              <a:rPr sz="1950" b="1">
                <a:solidFill>
                  <a:srgbClr val="1759BC"/>
                </a:solidFill>
                <a:latin typeface="Helvetica Neue"/>
                <a:ea typeface="Helvetica Neue"/>
                <a:cs typeface="Helvetica Neue"/>
              </a:rPr>
              <a:t>58.75</a:t>
            </a:r>
          </a:p>
        </p:txBody>
      </p:sp>
      <p:sp>
        <p:nvSpPr>
          <p:cNvPr id="47" name="structural-divider">
            <a:extLst xmlns:a="http://schemas.openxmlformats.org/drawingml/2006/main">
              <a:ext uri="{FF2B5EF4-FFF2-40B4-BE49-F238E27FC236}">
                <a16:creationId xmlns:a16="http://schemas.microsoft.com/office/drawing/2014/main" id="{E745DE8F-71A0-4C3B-A26A-753F72D22C9A}"/>
              </a:ext>
            </a:extLst>
          </p:cNvPr>
          <p:cNvSpPr>
            <a:spLocks xmlns:a="http://schemas.openxmlformats.org/drawingml/2006/main" noGrp="1"/>
          </p:cNvSpPr>
          <p:nvPr/>
        </p:nvSpPr>
        <p:spPr>
          <a:xfrm xmlns:a="http://schemas.openxmlformats.org/drawingml/2006/main">
            <a:off x="895350" y="60102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8" name="matrix-goal-label">
            <a:extLst xmlns:a="http://schemas.openxmlformats.org/drawingml/2006/main">
              <a:ext uri="{FF2B5EF4-FFF2-40B4-BE49-F238E27FC236}">
                <a16:creationId xmlns:a16="http://schemas.microsoft.com/office/drawing/2014/main" id="{AC86DE6E-B2B8-416E-A99B-5BA8F4F39E35}"/>
              </a:ext>
            </a:extLst>
          </p:cNvPr>
          <p:cNvSpPr>
            <a:spLocks xmlns:a="http://schemas.openxmlformats.org/drawingml/2006/main" noGrp="1"/>
          </p:cNvSpPr>
          <p:nvPr/>
        </p:nvSpPr>
        <p:spPr>
          <a:xfrm xmlns:a="http://schemas.openxmlformats.org/drawingml/2006/main">
            <a:off x="895350" y="6172200"/>
            <a:ext cx="3486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Context → delivery</a:t>
            </a:r>
          </a:p>
        </p:txBody>
      </p:sp>
      <p:sp>
        <p:nvSpPr>
          <p:cNvPr id="49" name="matrix-score">
            <a:extLst xmlns:a="http://schemas.openxmlformats.org/drawingml/2006/main">
              <a:ext uri="{FF2B5EF4-FFF2-40B4-BE49-F238E27FC236}">
                <a16:creationId xmlns:a16="http://schemas.microsoft.com/office/drawing/2014/main" id="{92533E58-9D37-41AF-A7A6-188F5418BD29}"/>
              </a:ext>
            </a:extLst>
          </p:cNvPr>
          <p:cNvSpPr>
            <a:spLocks xmlns:a="http://schemas.openxmlformats.org/drawingml/2006/main" noGrp="1"/>
          </p:cNvSpPr>
          <p:nvPr/>
        </p:nvSpPr>
        <p:spPr>
          <a:xfrm xmlns:a="http://schemas.openxmlformats.org/drawingml/2006/main">
            <a:off x="4381500" y="61722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67</a:t>
            </a:r>
          </a:p>
        </p:txBody>
      </p:sp>
      <p:sp>
        <p:nvSpPr>
          <p:cNvPr id="50" name="matrix-score">
            <a:extLst xmlns:a="http://schemas.openxmlformats.org/drawingml/2006/main">
              <a:ext uri="{FF2B5EF4-FFF2-40B4-BE49-F238E27FC236}">
                <a16:creationId xmlns:a16="http://schemas.microsoft.com/office/drawing/2014/main" id="{0450434F-FD90-45B8-8395-37E6EDA974E2}"/>
              </a:ext>
            </a:extLst>
          </p:cNvPr>
          <p:cNvSpPr>
            <a:spLocks xmlns:a="http://schemas.openxmlformats.org/drawingml/2006/main" noGrp="1"/>
          </p:cNvSpPr>
          <p:nvPr/>
        </p:nvSpPr>
        <p:spPr>
          <a:xfrm xmlns:a="http://schemas.openxmlformats.org/drawingml/2006/main">
            <a:off x="6374130" y="61722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84</a:t>
            </a:r>
          </a:p>
        </p:txBody>
      </p:sp>
      <p:sp>
        <p:nvSpPr>
          <p:cNvPr id="51" name="matrix-score">
            <a:extLst xmlns:a="http://schemas.openxmlformats.org/drawingml/2006/main">
              <a:ext uri="{FF2B5EF4-FFF2-40B4-BE49-F238E27FC236}">
                <a16:creationId xmlns:a16="http://schemas.microsoft.com/office/drawing/2014/main" id="{1C7DCDA3-C2CD-4EA1-A47C-816319E2C02D}"/>
              </a:ext>
            </a:extLst>
          </p:cNvPr>
          <p:cNvSpPr>
            <a:spLocks xmlns:a="http://schemas.openxmlformats.org/drawingml/2006/main" noGrp="1"/>
          </p:cNvSpPr>
          <p:nvPr/>
        </p:nvSpPr>
        <p:spPr>
          <a:xfrm xmlns:a="http://schemas.openxmlformats.org/drawingml/2006/main">
            <a:off x="8366760" y="61722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83</a:t>
            </a:r>
          </a:p>
        </p:txBody>
      </p:sp>
      <p:sp>
        <p:nvSpPr>
          <p:cNvPr id="52" name="matrix-score">
            <a:extLst xmlns:a="http://schemas.openxmlformats.org/drawingml/2006/main">
              <a:ext uri="{FF2B5EF4-FFF2-40B4-BE49-F238E27FC236}">
                <a16:creationId xmlns:a16="http://schemas.microsoft.com/office/drawing/2014/main" id="{0CA42D7C-4AE1-4651-BA8E-5F1466CEEBC2}"/>
              </a:ext>
            </a:extLst>
          </p:cNvPr>
          <p:cNvSpPr>
            <a:spLocks xmlns:a="http://schemas.openxmlformats.org/drawingml/2006/main" noGrp="1"/>
          </p:cNvSpPr>
          <p:nvPr/>
        </p:nvSpPr>
        <p:spPr>
          <a:xfrm xmlns:a="http://schemas.openxmlformats.org/drawingml/2006/main">
            <a:off x="10359390" y="61722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800" b="0">
                <a:solidFill>
                  <a:srgbClr val="17191C"/>
                </a:solidFill>
                <a:latin typeface="Helvetica Neue"/>
                <a:ea typeface="Helvetica Neue"/>
                <a:cs typeface="Helvetica Neue"/>
              </a:defRPr>
            </a:pPr>
            <a:r>
              <a:rPr sz="1800" b="0">
                <a:solidFill>
                  <a:srgbClr val="17191C"/>
                </a:solidFill>
                <a:latin typeface="Helvetica Neue"/>
                <a:ea typeface="Helvetica Neue"/>
                <a:cs typeface="Helvetica Neue"/>
              </a:rPr>
              <a:t>84</a:t>
            </a:r>
          </a:p>
        </p:txBody>
      </p:sp>
      <p:sp>
        <p:nvSpPr>
          <p:cNvPr id="53" name="matrix-score">
            <a:extLst xmlns:a="http://schemas.openxmlformats.org/drawingml/2006/main">
              <a:ext uri="{FF2B5EF4-FFF2-40B4-BE49-F238E27FC236}">
                <a16:creationId xmlns:a16="http://schemas.microsoft.com/office/drawing/2014/main" id="{4E565657-0158-4859-A991-384ED70E724A}"/>
              </a:ext>
            </a:extLst>
          </p:cNvPr>
          <p:cNvSpPr>
            <a:spLocks xmlns:a="http://schemas.openxmlformats.org/drawingml/2006/main" noGrp="1"/>
          </p:cNvSpPr>
          <p:nvPr/>
        </p:nvSpPr>
        <p:spPr>
          <a:xfrm xmlns:a="http://schemas.openxmlformats.org/drawingml/2006/main">
            <a:off x="12352020" y="6172200"/>
            <a:ext cx="199263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2000"/>
              </a:lnSpc>
              <a:buNone/>
              <a:defRPr sz="1950" b="1">
                <a:solidFill>
                  <a:srgbClr val="1759BC"/>
                </a:solidFill>
                <a:latin typeface="Helvetica Neue"/>
                <a:ea typeface="Helvetica Neue"/>
                <a:cs typeface="Helvetica Neue"/>
              </a:defRPr>
            </a:pPr>
            <a:r>
              <a:rPr sz="1950" b="1">
                <a:solidFill>
                  <a:srgbClr val="1759BC"/>
                </a:solidFill>
                <a:latin typeface="Helvetica Neue"/>
                <a:ea typeface="Helvetica Neue"/>
                <a:cs typeface="Helvetica Neue"/>
              </a:rPr>
              <a:t>79.50</a:t>
            </a:r>
          </a:p>
        </p:txBody>
      </p:sp>
      <p:sp>
        <p:nvSpPr>
          <p:cNvPr id="54" name="structural-divider">
            <a:extLst xmlns:a="http://schemas.openxmlformats.org/drawingml/2006/main">
              <a:ext uri="{FF2B5EF4-FFF2-40B4-BE49-F238E27FC236}">
                <a16:creationId xmlns:a16="http://schemas.microsoft.com/office/drawing/2014/main" id="{49DCE2B2-A274-45CA-B986-26689BDFBEC8}"/>
              </a:ext>
            </a:extLst>
          </p:cNvPr>
          <p:cNvSpPr>
            <a:spLocks xmlns:a="http://schemas.openxmlformats.org/drawingml/2006/main" noGrp="1"/>
          </p:cNvSpPr>
          <p:nvPr/>
        </p:nvSpPr>
        <p:spPr>
          <a:xfrm xmlns:a="http://schemas.openxmlformats.org/drawingml/2006/main">
            <a:off x="895350" y="66389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55" name="body-paragraph">
            <a:extLst xmlns:a="http://schemas.openxmlformats.org/drawingml/2006/main">
              <a:ext uri="{FF2B5EF4-FFF2-40B4-BE49-F238E27FC236}">
                <a16:creationId xmlns:a16="http://schemas.microsoft.com/office/drawing/2014/main" id="{D68F3B32-79C8-4900-BC2A-B9CD6437358E}"/>
              </a:ext>
            </a:extLst>
          </p:cNvPr>
          <p:cNvSpPr>
            <a:spLocks xmlns:a="http://schemas.openxmlformats.org/drawingml/2006/main" noGrp="1"/>
          </p:cNvSpPr>
          <p:nvPr/>
        </p:nvSpPr>
        <p:spPr>
          <a:xfrm xmlns:a="http://schemas.openxmlformats.org/drawingml/2006/main">
            <a:off x="895350" y="7086600"/>
            <a:ext cx="13449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759BC"/>
                </a:solidFill>
                <a:latin typeface="Helvetica Neue"/>
                <a:ea typeface="Helvetica Neue"/>
                <a:cs typeface="Helvetica Neue"/>
              </a:defRPr>
            </a:pPr>
            <a:r>
              <a:rPr sz="1800" b="1">
                <a:solidFill>
                  <a:srgbClr val="1759BC"/>
                </a:solidFill>
                <a:latin typeface="Helvetica Neue"/>
                <a:ea typeface="Helvetica Neue"/>
                <a:cs typeface="Helvetica Neue"/>
              </a:rPr>
              <a:t>Phone + tablet are the clearest product constraint.  Separate buyer readiness: 56.17 / 100.</a:t>
            </a:r>
          </a:p>
        </p:txBody>
      </p:sp>
    </p:spTree>
    <p:extLst>
      <p:ext uri="{BB962C8B-B14F-4D97-AF65-F5344CB8AC3E}">
        <p14:creationId xmlns:p14="http://schemas.microsoft.com/office/powerpoint/2010/main" val="20218131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ection-kicker">
            <a:extLst xmlns:a="http://schemas.openxmlformats.org/drawingml/2006/main">
              <a:ext uri="{FF2B5EF4-FFF2-40B4-BE49-F238E27FC236}">
                <a16:creationId xmlns:a16="http://schemas.microsoft.com/office/drawing/2014/main" id="{C900C809-D55E-4486-A33C-851CBAC0E331}"/>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OBSERVED FAILURES</a:t>
            </a:r>
          </a:p>
        </p:txBody>
      </p:sp>
      <p:sp>
        <p:nvSpPr>
          <p:cNvPr id="2" name="slide-title">
            <a:extLst xmlns:a="http://schemas.openxmlformats.org/drawingml/2006/main">
              <a:ext uri="{FF2B5EF4-FFF2-40B4-BE49-F238E27FC236}">
                <a16:creationId xmlns:a16="http://schemas.microsoft.com/office/drawing/2014/main" id="{0DC17B29-66B8-4692-8DC6-031246E6BC40}"/>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Essential capabilities disappear under pressure</a:t>
            </a:r>
          </a:p>
        </p:txBody>
      </p:sp>
      <p:sp>
        <p:nvSpPr>
          <p:cNvPr id="3" name="structural-divider">
            <a:extLst xmlns:a="http://schemas.openxmlformats.org/drawingml/2006/main">
              <a:ext uri="{FF2B5EF4-FFF2-40B4-BE49-F238E27FC236}">
                <a16:creationId xmlns:a16="http://schemas.microsoft.com/office/drawing/2014/main" id="{90A28F64-570E-4242-BB86-C1F5F9650E8A}"/>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58F8281D-8766-4D04-BDBD-39CC8DAEF6A3}"/>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93247698-3AFB-41E1-B25E-ABC91ADAD8D5}"/>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04</a:t>
            </a:r>
          </a:p>
        </p:txBody>
      </p:sp>
      <p:sp>
        <p:nvSpPr>
          <p:cNvPr id="6" name="row-number">
            <a:extLst xmlns:a="http://schemas.openxmlformats.org/drawingml/2006/main">
              <a:ext uri="{FF2B5EF4-FFF2-40B4-BE49-F238E27FC236}">
                <a16:creationId xmlns:a16="http://schemas.microsoft.com/office/drawing/2014/main" id="{FAD3D66D-2F13-4C80-8AD5-143A4A9F449C}"/>
              </a:ext>
            </a:extLst>
          </p:cNvPr>
          <p:cNvSpPr>
            <a:spLocks xmlns:a="http://schemas.openxmlformats.org/drawingml/2006/main" noGrp="1"/>
          </p:cNvSpPr>
          <p:nvPr/>
        </p:nvSpPr>
        <p:spPr>
          <a:xfrm xmlns:a="http://schemas.openxmlformats.org/drawingml/2006/main">
            <a:off x="895350" y="219075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01</a:t>
            </a:r>
          </a:p>
        </p:txBody>
      </p:sp>
      <p:sp>
        <p:nvSpPr>
          <p:cNvPr id="7" name="row-title">
            <a:extLst xmlns:a="http://schemas.openxmlformats.org/drawingml/2006/main">
              <a:ext uri="{FF2B5EF4-FFF2-40B4-BE49-F238E27FC236}">
                <a16:creationId xmlns:a16="http://schemas.microsoft.com/office/drawing/2014/main" id="{33191CC1-9374-453B-9861-1791A0FD4461}"/>
              </a:ext>
            </a:extLst>
          </p:cNvPr>
          <p:cNvSpPr>
            <a:spLocks xmlns:a="http://schemas.openxmlformats.org/drawingml/2006/main" noGrp="1"/>
          </p:cNvSpPr>
          <p:nvPr/>
        </p:nvSpPr>
        <p:spPr>
          <a:xfrm xmlns:a="http://schemas.openxmlformats.org/drawingml/2006/main">
            <a:off x="1733550" y="2181225"/>
            <a:ext cx="352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Search is invisible</a:t>
            </a:r>
          </a:p>
        </p:txBody>
      </p:sp>
      <p:sp>
        <p:nvSpPr>
          <p:cNvPr id="8" name="row-detail">
            <a:extLst xmlns:a="http://schemas.openxmlformats.org/drawingml/2006/main">
              <a:ext uri="{FF2B5EF4-FFF2-40B4-BE49-F238E27FC236}">
                <a16:creationId xmlns:a16="http://schemas.microsoft.com/office/drawing/2014/main" id="{2FC498FC-5BBC-4AAB-9ED2-286A9ED57471}"/>
              </a:ext>
            </a:extLst>
          </p:cNvPr>
          <p:cNvSpPr>
            <a:spLocks xmlns:a="http://schemas.openxmlformats.org/drawingml/2006/main" noGrp="1"/>
          </p:cNvSpPr>
          <p:nvPr/>
        </p:nvSpPr>
        <p:spPr>
          <a:xfrm xmlns:a="http://schemas.openxmlformats.org/drawingml/2006/main">
            <a:off x="5419725" y="2209800"/>
            <a:ext cx="8924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At 390 × 844, the command entry is rendered at exactly 0 × 0.</a:t>
            </a:r>
          </a:p>
        </p:txBody>
      </p:sp>
      <p:sp>
        <p:nvSpPr>
          <p:cNvPr id="9" name="structural-divider">
            <a:extLst xmlns:a="http://schemas.openxmlformats.org/drawingml/2006/main">
              <a:ext uri="{FF2B5EF4-FFF2-40B4-BE49-F238E27FC236}">
                <a16:creationId xmlns:a16="http://schemas.microsoft.com/office/drawing/2014/main" id="{B651CDC4-C059-45DE-9B41-1EE7C83A350E}"/>
              </a:ext>
            </a:extLst>
          </p:cNvPr>
          <p:cNvSpPr>
            <a:spLocks xmlns:a="http://schemas.openxmlformats.org/drawingml/2006/main" noGrp="1"/>
          </p:cNvSpPr>
          <p:nvPr/>
        </p:nvSpPr>
        <p:spPr>
          <a:xfrm xmlns:a="http://schemas.openxmlformats.org/drawingml/2006/main">
            <a:off x="895350" y="29051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row-number">
            <a:extLst xmlns:a="http://schemas.openxmlformats.org/drawingml/2006/main">
              <a:ext uri="{FF2B5EF4-FFF2-40B4-BE49-F238E27FC236}">
                <a16:creationId xmlns:a16="http://schemas.microsoft.com/office/drawing/2014/main" id="{DBA94A34-A9CF-4C4C-9C53-223EFD2766D5}"/>
              </a:ext>
            </a:extLst>
          </p:cNvPr>
          <p:cNvSpPr>
            <a:spLocks xmlns:a="http://schemas.openxmlformats.org/drawingml/2006/main" noGrp="1"/>
          </p:cNvSpPr>
          <p:nvPr/>
        </p:nvSpPr>
        <p:spPr>
          <a:xfrm xmlns:a="http://schemas.openxmlformats.org/drawingml/2006/main">
            <a:off x="895350" y="29432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02</a:t>
            </a:r>
          </a:p>
        </p:txBody>
      </p:sp>
      <p:sp>
        <p:nvSpPr>
          <p:cNvPr id="11" name="row-title">
            <a:extLst xmlns:a="http://schemas.openxmlformats.org/drawingml/2006/main">
              <a:ext uri="{FF2B5EF4-FFF2-40B4-BE49-F238E27FC236}">
                <a16:creationId xmlns:a16="http://schemas.microsoft.com/office/drawing/2014/main" id="{E5A94D47-BAA7-477A-B3D8-0A005C63E194}"/>
              </a:ext>
            </a:extLst>
          </p:cNvPr>
          <p:cNvSpPr>
            <a:spLocks xmlns:a="http://schemas.openxmlformats.org/drawingml/2006/main" noGrp="1"/>
          </p:cNvSpPr>
          <p:nvPr/>
        </p:nvSpPr>
        <p:spPr>
          <a:xfrm xmlns:a="http://schemas.openxmlformats.org/drawingml/2006/main">
            <a:off x="1733550" y="2933700"/>
            <a:ext cx="352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Core actions vanish</a:t>
            </a:r>
          </a:p>
        </p:txBody>
      </p:sp>
      <p:sp>
        <p:nvSpPr>
          <p:cNvPr id="12" name="row-detail">
            <a:extLst xmlns:a="http://schemas.openxmlformats.org/drawingml/2006/main">
              <a:ext uri="{FF2B5EF4-FFF2-40B4-BE49-F238E27FC236}">
                <a16:creationId xmlns:a16="http://schemas.microsoft.com/office/drawing/2014/main" id="{B321F514-33E0-40B7-960B-5B96FDF6FBA7}"/>
              </a:ext>
            </a:extLst>
          </p:cNvPr>
          <p:cNvSpPr>
            <a:spLocks xmlns:a="http://schemas.openxmlformats.org/drawingml/2006/main" noGrp="1"/>
          </p:cNvSpPr>
          <p:nvPr/>
        </p:nvSpPr>
        <p:spPr>
          <a:xfrm xmlns:a="http://schemas.openxmlformats.org/drawingml/2006/main">
            <a:off x="5419725" y="2962275"/>
            <a:ext cx="8924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Mobile hides Ask Forma; authored collection trees become unreachable.</a:t>
            </a:r>
          </a:p>
        </p:txBody>
      </p:sp>
      <p:sp>
        <p:nvSpPr>
          <p:cNvPr id="13" name="structural-divider">
            <a:extLst xmlns:a="http://schemas.openxmlformats.org/drawingml/2006/main">
              <a:ext uri="{FF2B5EF4-FFF2-40B4-BE49-F238E27FC236}">
                <a16:creationId xmlns:a16="http://schemas.microsoft.com/office/drawing/2014/main" id="{B395E15A-A2AD-4519-A307-8DCAE8CE583A}"/>
              </a:ext>
            </a:extLst>
          </p:cNvPr>
          <p:cNvSpPr>
            <a:spLocks xmlns:a="http://schemas.openxmlformats.org/drawingml/2006/main" noGrp="1"/>
          </p:cNvSpPr>
          <p:nvPr/>
        </p:nvSpPr>
        <p:spPr>
          <a:xfrm xmlns:a="http://schemas.openxmlformats.org/drawingml/2006/main">
            <a:off x="895350" y="36576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4" name="row-number">
            <a:extLst xmlns:a="http://schemas.openxmlformats.org/drawingml/2006/main">
              <a:ext uri="{FF2B5EF4-FFF2-40B4-BE49-F238E27FC236}">
                <a16:creationId xmlns:a16="http://schemas.microsoft.com/office/drawing/2014/main" id="{0AE353F7-FE0F-4FDA-9946-AEF4D8F5D8D0}"/>
              </a:ext>
            </a:extLst>
          </p:cNvPr>
          <p:cNvSpPr>
            <a:spLocks xmlns:a="http://schemas.openxmlformats.org/drawingml/2006/main" noGrp="1"/>
          </p:cNvSpPr>
          <p:nvPr/>
        </p:nvSpPr>
        <p:spPr>
          <a:xfrm xmlns:a="http://schemas.openxmlformats.org/drawingml/2006/main">
            <a:off x="895350" y="369570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03</a:t>
            </a:r>
          </a:p>
        </p:txBody>
      </p:sp>
      <p:sp>
        <p:nvSpPr>
          <p:cNvPr id="15" name="row-title">
            <a:extLst xmlns:a="http://schemas.openxmlformats.org/drawingml/2006/main">
              <a:ext uri="{FF2B5EF4-FFF2-40B4-BE49-F238E27FC236}">
                <a16:creationId xmlns:a16="http://schemas.microsoft.com/office/drawing/2014/main" id="{8D7D5596-7434-44E5-B816-648E4F7E1569}"/>
              </a:ext>
            </a:extLst>
          </p:cNvPr>
          <p:cNvSpPr>
            <a:spLocks xmlns:a="http://schemas.openxmlformats.org/drawingml/2006/main" noGrp="1"/>
          </p:cNvSpPr>
          <p:nvPr/>
        </p:nvSpPr>
        <p:spPr>
          <a:xfrm xmlns:a="http://schemas.openxmlformats.org/drawingml/2006/main">
            <a:off x="1733550" y="3686175"/>
            <a:ext cx="352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Workflows cannot fit</a:t>
            </a:r>
          </a:p>
        </p:txBody>
      </p:sp>
      <p:sp>
        <p:nvSpPr>
          <p:cNvPr id="16" name="row-detail">
            <a:extLst xmlns:a="http://schemas.openxmlformats.org/drawingml/2006/main">
              <a:ext uri="{FF2B5EF4-FFF2-40B4-BE49-F238E27FC236}">
                <a16:creationId xmlns:a16="http://schemas.microsoft.com/office/drawing/2014/main" id="{E66EE75D-D207-4AA4-865C-6AFA635078C2}"/>
              </a:ext>
            </a:extLst>
          </p:cNvPr>
          <p:cNvSpPr>
            <a:spLocks xmlns:a="http://schemas.openxmlformats.org/drawingml/2006/main" noGrp="1"/>
          </p:cNvSpPr>
          <p:nvPr/>
        </p:nvSpPr>
        <p:spPr>
          <a:xfrm xmlns:a="http://schemas.openxmlformats.org/drawingml/2006/main">
            <a:off x="5419725" y="3714750"/>
            <a:ext cx="8924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Chat stacks 620 px + 680 px; Canvas imposes a 544 px minimum.</a:t>
            </a:r>
          </a:p>
        </p:txBody>
      </p:sp>
      <p:sp>
        <p:nvSpPr>
          <p:cNvPr id="17" name="structural-divider">
            <a:extLst xmlns:a="http://schemas.openxmlformats.org/drawingml/2006/main">
              <a:ext uri="{FF2B5EF4-FFF2-40B4-BE49-F238E27FC236}">
                <a16:creationId xmlns:a16="http://schemas.microsoft.com/office/drawing/2014/main" id="{54AB8AC6-0D69-4CC1-955C-DEBC37A53A60}"/>
              </a:ext>
            </a:extLst>
          </p:cNvPr>
          <p:cNvSpPr>
            <a:spLocks xmlns:a="http://schemas.openxmlformats.org/drawingml/2006/main" noGrp="1"/>
          </p:cNvSpPr>
          <p:nvPr/>
        </p:nvSpPr>
        <p:spPr>
          <a:xfrm xmlns:a="http://schemas.openxmlformats.org/drawingml/2006/main">
            <a:off x="895350" y="44100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row-number">
            <a:extLst xmlns:a="http://schemas.openxmlformats.org/drawingml/2006/main">
              <a:ext uri="{FF2B5EF4-FFF2-40B4-BE49-F238E27FC236}">
                <a16:creationId xmlns:a16="http://schemas.microsoft.com/office/drawing/2014/main" id="{2A1CF2FD-A8EC-41E8-A845-B18988A16C55}"/>
              </a:ext>
            </a:extLst>
          </p:cNvPr>
          <p:cNvSpPr>
            <a:spLocks xmlns:a="http://schemas.openxmlformats.org/drawingml/2006/main" noGrp="1"/>
          </p:cNvSpPr>
          <p:nvPr/>
        </p:nvSpPr>
        <p:spPr>
          <a:xfrm xmlns:a="http://schemas.openxmlformats.org/drawingml/2006/main">
            <a:off x="895350" y="44481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04</a:t>
            </a:r>
          </a:p>
        </p:txBody>
      </p:sp>
      <p:sp>
        <p:nvSpPr>
          <p:cNvPr id="19" name="row-title">
            <a:extLst xmlns:a="http://schemas.openxmlformats.org/drawingml/2006/main">
              <a:ext uri="{FF2B5EF4-FFF2-40B4-BE49-F238E27FC236}">
                <a16:creationId xmlns:a16="http://schemas.microsoft.com/office/drawing/2014/main" id="{F5169199-32AA-4912-9F02-595F225AC116}"/>
              </a:ext>
            </a:extLst>
          </p:cNvPr>
          <p:cNvSpPr>
            <a:spLocks xmlns:a="http://schemas.openxmlformats.org/drawingml/2006/main" noGrp="1"/>
          </p:cNvSpPr>
          <p:nvPr/>
        </p:nvSpPr>
        <p:spPr>
          <a:xfrm xmlns:a="http://schemas.openxmlformats.org/drawingml/2006/main">
            <a:off x="1733550" y="4438650"/>
            <a:ext cx="352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Follow-up is fragmented</a:t>
            </a:r>
          </a:p>
        </p:txBody>
      </p:sp>
      <p:sp>
        <p:nvSpPr>
          <p:cNvPr id="20" name="row-detail">
            <a:extLst xmlns:a="http://schemas.openxmlformats.org/drawingml/2006/main">
              <a:ext uri="{FF2B5EF4-FFF2-40B4-BE49-F238E27FC236}">
                <a16:creationId xmlns:a16="http://schemas.microsoft.com/office/drawing/2014/main" id="{A7F6130C-B9F7-4EA4-B4E1-4DE9B84D2CC6}"/>
              </a:ext>
            </a:extLst>
          </p:cNvPr>
          <p:cNvSpPr>
            <a:spLocks xmlns:a="http://schemas.openxmlformats.org/drawingml/2006/main" noGrp="1"/>
          </p:cNvSpPr>
          <p:nvPr/>
        </p:nvSpPr>
        <p:spPr>
          <a:xfrm xmlns:a="http://schemas.openxmlformats.org/drawingml/2006/main">
            <a:off x="5419725" y="4467225"/>
            <a:ext cx="8924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Only four unread items from the current document are surfaced.</a:t>
            </a:r>
          </a:p>
        </p:txBody>
      </p:sp>
      <p:sp>
        <p:nvSpPr>
          <p:cNvPr id="21" name="structural-divider">
            <a:extLst xmlns:a="http://schemas.openxmlformats.org/drawingml/2006/main">
              <a:ext uri="{FF2B5EF4-FFF2-40B4-BE49-F238E27FC236}">
                <a16:creationId xmlns:a16="http://schemas.microsoft.com/office/drawing/2014/main" id="{31ECEDCF-9E05-4AE1-8D46-67BF143929A8}"/>
              </a:ext>
            </a:extLst>
          </p:cNvPr>
          <p:cNvSpPr>
            <a:spLocks xmlns:a="http://schemas.openxmlformats.org/drawingml/2006/main" noGrp="1"/>
          </p:cNvSpPr>
          <p:nvPr/>
        </p:nvSpPr>
        <p:spPr>
          <a:xfrm xmlns:a="http://schemas.openxmlformats.org/drawingml/2006/main">
            <a:off x="895350" y="51625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2" name="row-number">
            <a:extLst xmlns:a="http://schemas.openxmlformats.org/drawingml/2006/main">
              <a:ext uri="{FF2B5EF4-FFF2-40B4-BE49-F238E27FC236}">
                <a16:creationId xmlns:a16="http://schemas.microsoft.com/office/drawing/2014/main" id="{EEBEA9E2-FB2A-4175-8EFB-560C288395DB}"/>
              </a:ext>
            </a:extLst>
          </p:cNvPr>
          <p:cNvSpPr>
            <a:spLocks xmlns:a="http://schemas.openxmlformats.org/drawingml/2006/main" noGrp="1"/>
          </p:cNvSpPr>
          <p:nvPr/>
        </p:nvSpPr>
        <p:spPr>
          <a:xfrm xmlns:a="http://schemas.openxmlformats.org/drawingml/2006/main">
            <a:off x="895350" y="520065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05</a:t>
            </a:r>
          </a:p>
        </p:txBody>
      </p:sp>
      <p:sp>
        <p:nvSpPr>
          <p:cNvPr id="23" name="row-title">
            <a:extLst xmlns:a="http://schemas.openxmlformats.org/drawingml/2006/main">
              <a:ext uri="{FF2B5EF4-FFF2-40B4-BE49-F238E27FC236}">
                <a16:creationId xmlns:a16="http://schemas.microsoft.com/office/drawing/2014/main" id="{EBCE50B8-6CC7-4E2C-8921-BD778760EACC}"/>
              </a:ext>
            </a:extLst>
          </p:cNvPr>
          <p:cNvSpPr>
            <a:spLocks xmlns:a="http://schemas.openxmlformats.org/drawingml/2006/main" noGrp="1"/>
          </p:cNvSpPr>
          <p:nvPr/>
        </p:nvSpPr>
        <p:spPr>
          <a:xfrm xmlns:a="http://schemas.openxmlformats.org/drawingml/2006/main">
            <a:off x="1733550" y="5191125"/>
            <a:ext cx="352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Presence is not shared</a:t>
            </a:r>
          </a:p>
        </p:txBody>
      </p:sp>
      <p:sp>
        <p:nvSpPr>
          <p:cNvPr id="24" name="row-detail">
            <a:extLst xmlns:a="http://schemas.openxmlformats.org/drawingml/2006/main">
              <a:ext uri="{FF2B5EF4-FFF2-40B4-BE49-F238E27FC236}">
                <a16:creationId xmlns:a16="http://schemas.microsoft.com/office/drawing/2014/main" id="{BA02E3C1-38E5-4097-B27A-6EAE6BBF1990}"/>
              </a:ext>
            </a:extLst>
          </p:cNvPr>
          <p:cNvSpPr>
            <a:spLocks xmlns:a="http://schemas.openxmlformats.org/drawingml/2006/main" noGrp="1"/>
          </p:cNvSpPr>
          <p:nvPr/>
        </p:nvSpPr>
        <p:spPr>
          <a:xfrm xmlns:a="http://schemas.openxmlformats.org/drawingml/2006/main">
            <a:off x="5419725" y="5219700"/>
            <a:ext cx="8924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Cross-account live presence is zero; do not suggest otherwise.</a:t>
            </a:r>
          </a:p>
        </p:txBody>
      </p:sp>
      <p:sp>
        <p:nvSpPr>
          <p:cNvPr id="25" name="structural-divider">
            <a:extLst xmlns:a="http://schemas.openxmlformats.org/drawingml/2006/main">
              <a:ext uri="{FF2B5EF4-FFF2-40B4-BE49-F238E27FC236}">
                <a16:creationId xmlns:a16="http://schemas.microsoft.com/office/drawing/2014/main" id="{6D1CB84E-C3B3-4C66-AF19-E14994796C71}"/>
              </a:ext>
            </a:extLst>
          </p:cNvPr>
          <p:cNvSpPr>
            <a:spLocks xmlns:a="http://schemas.openxmlformats.org/drawingml/2006/main" noGrp="1"/>
          </p:cNvSpPr>
          <p:nvPr/>
        </p:nvSpPr>
        <p:spPr>
          <a:xfrm xmlns:a="http://schemas.openxmlformats.org/drawingml/2006/main">
            <a:off x="895350" y="59150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6" name="row-number">
            <a:extLst xmlns:a="http://schemas.openxmlformats.org/drawingml/2006/main">
              <a:ext uri="{FF2B5EF4-FFF2-40B4-BE49-F238E27FC236}">
                <a16:creationId xmlns:a16="http://schemas.microsoft.com/office/drawing/2014/main" id="{2DA07B80-957F-4153-A898-883A0E9B595F}"/>
              </a:ext>
            </a:extLst>
          </p:cNvPr>
          <p:cNvSpPr>
            <a:spLocks xmlns:a="http://schemas.openxmlformats.org/drawingml/2006/main" noGrp="1"/>
          </p:cNvSpPr>
          <p:nvPr/>
        </p:nvSpPr>
        <p:spPr>
          <a:xfrm xmlns:a="http://schemas.openxmlformats.org/drawingml/2006/main">
            <a:off x="895350" y="59531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06</a:t>
            </a:r>
          </a:p>
        </p:txBody>
      </p:sp>
      <p:sp>
        <p:nvSpPr>
          <p:cNvPr id="27" name="row-title">
            <a:extLst xmlns:a="http://schemas.openxmlformats.org/drawingml/2006/main">
              <a:ext uri="{FF2B5EF4-FFF2-40B4-BE49-F238E27FC236}">
                <a16:creationId xmlns:a16="http://schemas.microsoft.com/office/drawing/2014/main" id="{A6E5E235-48F1-452D-AB29-F4D8F9528E26}"/>
              </a:ext>
            </a:extLst>
          </p:cNvPr>
          <p:cNvSpPr>
            <a:spLocks xmlns:a="http://schemas.openxmlformats.org/drawingml/2006/main" noGrp="1"/>
          </p:cNvSpPr>
          <p:nvPr/>
        </p:nvSpPr>
        <p:spPr>
          <a:xfrm xmlns:a="http://schemas.openxmlformats.org/drawingml/2006/main">
            <a:off x="1733550" y="5943600"/>
            <a:ext cx="352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Retries duplicate work</a:t>
            </a:r>
          </a:p>
        </p:txBody>
      </p:sp>
      <p:sp>
        <p:nvSpPr>
          <p:cNvPr id="28" name="row-detail">
            <a:extLst xmlns:a="http://schemas.openxmlformats.org/drawingml/2006/main">
              <a:ext uri="{FF2B5EF4-FFF2-40B4-BE49-F238E27FC236}">
                <a16:creationId xmlns:a16="http://schemas.microsoft.com/office/drawing/2014/main" id="{6F51E025-E147-45A3-A06D-A66DFA75D206}"/>
              </a:ext>
            </a:extLst>
          </p:cNvPr>
          <p:cNvSpPr>
            <a:spLocks xmlns:a="http://schemas.openxmlformats.org/drawingml/2006/main" noGrp="1"/>
          </p:cNvSpPr>
          <p:nvPr/>
        </p:nvSpPr>
        <p:spPr>
          <a:xfrm xmlns:a="http://schemas.openxmlformats.org/drawingml/2006/main">
            <a:off x="5419725" y="5972175"/>
            <a:ext cx="8924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False stale-save warnings duplicated a project and four documents.</a:t>
            </a:r>
          </a:p>
        </p:txBody>
      </p:sp>
      <p:sp>
        <p:nvSpPr>
          <p:cNvPr id="29" name="structural-divider">
            <a:extLst xmlns:a="http://schemas.openxmlformats.org/drawingml/2006/main">
              <a:ext uri="{FF2B5EF4-FFF2-40B4-BE49-F238E27FC236}">
                <a16:creationId xmlns:a16="http://schemas.microsoft.com/office/drawing/2014/main" id="{A746C4E6-8D8E-4219-8693-CBF483EB93ED}"/>
              </a:ext>
            </a:extLst>
          </p:cNvPr>
          <p:cNvSpPr>
            <a:spLocks xmlns:a="http://schemas.openxmlformats.org/drawingml/2006/main" noGrp="1"/>
          </p:cNvSpPr>
          <p:nvPr/>
        </p:nvSpPr>
        <p:spPr>
          <a:xfrm xmlns:a="http://schemas.openxmlformats.org/drawingml/2006/main">
            <a:off x="895350" y="66675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30" name="body-paragraph">
            <a:extLst xmlns:a="http://schemas.openxmlformats.org/drawingml/2006/main">
              <a:ext uri="{FF2B5EF4-FFF2-40B4-BE49-F238E27FC236}">
                <a16:creationId xmlns:a16="http://schemas.microsoft.com/office/drawing/2014/main" id="{86A1B16A-6DBA-4D2F-B24A-1FEF40DBB23E}"/>
              </a:ext>
            </a:extLst>
          </p:cNvPr>
          <p:cNvSpPr>
            <a:spLocks xmlns:a="http://schemas.openxmlformats.org/drawingml/2006/main" noGrp="1"/>
          </p:cNvSpPr>
          <p:nvPr/>
        </p:nvSpPr>
        <p:spPr>
          <a:xfrm xmlns:a="http://schemas.openxmlformats.org/drawingml/2006/main">
            <a:off x="895350" y="6953250"/>
            <a:ext cx="13449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1">
                <a:solidFill>
                  <a:srgbClr val="1759BC"/>
                </a:solidFill>
                <a:latin typeface="Helvetica Neue"/>
                <a:ea typeface="Helvetica Neue"/>
                <a:cs typeface="Helvetica Neue"/>
              </a:defRPr>
            </a:pPr>
            <a:r>
              <a:rPr sz="1875" b="1">
                <a:solidFill>
                  <a:srgbClr val="1759BC"/>
                </a:solidFill>
                <a:latin typeface="Helvetica Neue"/>
                <a:ea typeface="Helvetica Neue"/>
                <a:cs typeface="Helvetica Neue"/>
              </a:rPr>
              <a:t>These are trust and task-completion failures—not merely styling defects.</a:t>
            </a:r>
          </a:p>
        </p:txBody>
      </p:sp>
    </p:spTree>
    <p:extLst>
      <p:ext uri="{BB962C8B-B14F-4D97-AF65-F5344CB8AC3E}">
        <p14:creationId xmlns:p14="http://schemas.microsoft.com/office/powerpoint/2010/main" val="1857106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kicker">
            <a:extLst xmlns:a="http://schemas.openxmlformats.org/drawingml/2006/main">
              <a:ext uri="{FF2B5EF4-FFF2-40B4-BE49-F238E27FC236}">
                <a16:creationId xmlns:a16="http://schemas.microsoft.com/office/drawing/2014/main" id="{F35F3205-9F24-4AAE-8F34-7D9572FE0E02}"/>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VERBATIM STAKEHOLDER INPUT</a:t>
            </a:r>
          </a:p>
        </p:txBody>
      </p:sp>
      <p:sp>
        <p:nvSpPr>
          <p:cNvPr id="2" name="slide-title">
            <a:extLst xmlns:a="http://schemas.openxmlformats.org/drawingml/2006/main">
              <a:ext uri="{FF2B5EF4-FFF2-40B4-BE49-F238E27FC236}">
                <a16:creationId xmlns:a16="http://schemas.microsoft.com/office/drawing/2014/main" id="{EBEDC86C-D800-42A0-B6FB-6F2F74895319}"/>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Product decisions need three clear guardrails</a:t>
            </a:r>
          </a:p>
        </p:txBody>
      </p:sp>
      <p:sp>
        <p:nvSpPr>
          <p:cNvPr id="3" name="structural-divider">
            <a:extLst xmlns:a="http://schemas.openxmlformats.org/drawingml/2006/main">
              <a:ext uri="{FF2B5EF4-FFF2-40B4-BE49-F238E27FC236}">
                <a16:creationId xmlns:a16="http://schemas.microsoft.com/office/drawing/2014/main" id="{18F37BF6-F1C2-4D29-AD01-ADAD20F7FBB6}"/>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89345B24-DA15-4DE1-B791-626817B8023B}"/>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168A0054-8B9E-4E39-A7A4-8E3E9E66C8F6}"/>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05</a:t>
            </a:r>
          </a:p>
        </p:txBody>
      </p:sp>
      <p:sp>
        <p:nvSpPr>
          <p:cNvPr id="6" name="stakeholder-role">
            <a:extLst xmlns:a="http://schemas.openxmlformats.org/drawingml/2006/main">
              <a:ext uri="{FF2B5EF4-FFF2-40B4-BE49-F238E27FC236}">
                <a16:creationId xmlns:a16="http://schemas.microsoft.com/office/drawing/2014/main" id="{9F667108-9D2A-4A16-A3FF-950D7774604D}"/>
              </a:ext>
            </a:extLst>
          </p:cNvPr>
          <p:cNvSpPr>
            <a:spLocks xmlns:a="http://schemas.openxmlformats.org/drawingml/2006/main" noGrp="1"/>
          </p:cNvSpPr>
          <p:nvPr/>
        </p:nvSpPr>
        <p:spPr>
          <a:xfrm xmlns:a="http://schemas.openxmlformats.org/drawingml/2006/main">
            <a:off x="895350" y="2343150"/>
            <a:ext cx="2686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LEAD DESIGNER</a:t>
            </a:r>
          </a:p>
        </p:txBody>
      </p:sp>
      <p:sp>
        <p:nvSpPr>
          <p:cNvPr id="7" name="stakeholder-verbatim-quote">
            <a:extLst xmlns:a="http://schemas.openxmlformats.org/drawingml/2006/main">
              <a:ext uri="{FF2B5EF4-FFF2-40B4-BE49-F238E27FC236}">
                <a16:creationId xmlns:a16="http://schemas.microsoft.com/office/drawing/2014/main" id="{E9C2A588-1934-4C08-A6F2-D0974F38A5BC}"/>
              </a:ext>
            </a:extLst>
          </p:cNvPr>
          <p:cNvSpPr>
            <a:spLocks xmlns:a="http://schemas.openxmlformats.org/drawingml/2006/main" noGrp="1"/>
          </p:cNvSpPr>
          <p:nvPr/>
        </p:nvSpPr>
        <p:spPr>
          <a:xfrm xmlns:a="http://schemas.openxmlformats.org/drawingml/2006/main">
            <a:off x="3905250" y="2276475"/>
            <a:ext cx="10429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2100" b="0">
                <a:solidFill>
                  <a:srgbClr val="17191C"/>
                </a:solidFill>
                <a:latin typeface="Helvetica Neue"/>
                <a:ea typeface="Helvetica Neue"/>
                <a:cs typeface="Helvetica Neue"/>
              </a:defRPr>
            </a:pPr>
            <a:r>
              <a:rPr sz="2100" b="0">
                <a:solidFill>
                  <a:srgbClr val="17191C"/>
                </a:solidFill>
                <a:latin typeface="Helvetica Neue"/>
                <a:ea typeface="Helvetica Neue"/>
                <a:cs typeface="Helvetica Neue"/>
              </a:rPr>
              <a:t>“A smaller screen is not a smaller product; it is a stricter argument about what deserves the next square inch.”</a:t>
            </a:r>
          </a:p>
        </p:txBody>
      </p:sp>
      <p:sp>
        <p:nvSpPr>
          <p:cNvPr id="8" name="structural-divider">
            <a:extLst xmlns:a="http://schemas.openxmlformats.org/drawingml/2006/main">
              <a:ext uri="{FF2B5EF4-FFF2-40B4-BE49-F238E27FC236}">
                <a16:creationId xmlns:a16="http://schemas.microsoft.com/office/drawing/2014/main" id="{8CAB4A82-EF34-4BC3-BB13-7F60076512EF}"/>
              </a:ext>
            </a:extLst>
          </p:cNvPr>
          <p:cNvSpPr>
            <a:spLocks xmlns:a="http://schemas.openxmlformats.org/drawingml/2006/main" noGrp="1"/>
          </p:cNvSpPr>
          <p:nvPr/>
        </p:nvSpPr>
        <p:spPr>
          <a:xfrm xmlns:a="http://schemas.openxmlformats.org/drawingml/2006/main">
            <a:off x="895350" y="35718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9" name="stakeholder-role">
            <a:extLst xmlns:a="http://schemas.openxmlformats.org/drawingml/2006/main">
              <a:ext uri="{FF2B5EF4-FFF2-40B4-BE49-F238E27FC236}">
                <a16:creationId xmlns:a16="http://schemas.microsoft.com/office/drawing/2014/main" id="{29522C16-1E08-46B4-A725-050E94A1A6DD}"/>
              </a:ext>
            </a:extLst>
          </p:cNvPr>
          <p:cNvSpPr>
            <a:spLocks xmlns:a="http://schemas.openxmlformats.org/drawingml/2006/main" noGrp="1"/>
          </p:cNvSpPr>
          <p:nvPr/>
        </p:nvSpPr>
        <p:spPr>
          <a:xfrm xmlns:a="http://schemas.openxmlformats.org/drawingml/2006/main">
            <a:off x="895350" y="3924300"/>
            <a:ext cx="2686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DESIGN ENGINEER</a:t>
            </a:r>
          </a:p>
        </p:txBody>
      </p:sp>
      <p:sp>
        <p:nvSpPr>
          <p:cNvPr id="10" name="stakeholder-verbatim-quote">
            <a:extLst xmlns:a="http://schemas.openxmlformats.org/drawingml/2006/main">
              <a:ext uri="{FF2B5EF4-FFF2-40B4-BE49-F238E27FC236}">
                <a16:creationId xmlns:a16="http://schemas.microsoft.com/office/drawing/2014/main" id="{6C8C5FF9-D2E8-45C2-913B-09180DAC8B33}"/>
              </a:ext>
            </a:extLst>
          </p:cNvPr>
          <p:cNvSpPr>
            <a:spLocks xmlns:a="http://schemas.openxmlformats.org/drawingml/2006/main" noGrp="1"/>
          </p:cNvSpPr>
          <p:nvPr/>
        </p:nvSpPr>
        <p:spPr>
          <a:xfrm xmlns:a="http://schemas.openxmlformats.org/drawingml/2006/main">
            <a:off x="3905250" y="3857625"/>
            <a:ext cx="10429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2100" b="0">
                <a:solidFill>
                  <a:srgbClr val="17191C"/>
                </a:solidFill>
                <a:latin typeface="Helvetica Neue"/>
                <a:ea typeface="Helvetica Neue"/>
                <a:cs typeface="Helvetica Neue"/>
              </a:defRPr>
            </a:pPr>
            <a:r>
              <a:rPr sz="2100" b="0">
                <a:solidFill>
                  <a:srgbClr val="17191C"/>
                </a:solidFill>
                <a:latin typeface="Helvetica Neue"/>
                <a:ea typeface="Helvetica Neue"/>
                <a:cs typeface="Helvetica Neue"/>
              </a:rPr>
              <a:t>“The viewport tells the shell how to spend space; the container tells the work surface what it can actually afford.”</a:t>
            </a:r>
          </a:p>
        </p:txBody>
      </p:sp>
      <p:sp>
        <p:nvSpPr>
          <p:cNvPr id="11" name="structural-divider">
            <a:extLst xmlns:a="http://schemas.openxmlformats.org/drawingml/2006/main">
              <a:ext uri="{FF2B5EF4-FFF2-40B4-BE49-F238E27FC236}">
                <a16:creationId xmlns:a16="http://schemas.microsoft.com/office/drawing/2014/main" id="{CECC5747-0D36-4795-AA21-12F97FD5AE4B}"/>
              </a:ext>
            </a:extLst>
          </p:cNvPr>
          <p:cNvSpPr>
            <a:spLocks xmlns:a="http://schemas.openxmlformats.org/drawingml/2006/main" noGrp="1"/>
          </p:cNvSpPr>
          <p:nvPr/>
        </p:nvSpPr>
        <p:spPr>
          <a:xfrm xmlns:a="http://schemas.openxmlformats.org/drawingml/2006/main">
            <a:off x="895350" y="51530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2" name="stakeholder-role">
            <a:extLst xmlns:a="http://schemas.openxmlformats.org/drawingml/2006/main">
              <a:ext uri="{FF2B5EF4-FFF2-40B4-BE49-F238E27FC236}">
                <a16:creationId xmlns:a16="http://schemas.microsoft.com/office/drawing/2014/main" id="{9BF82ECA-53DB-462F-8F67-A028316BE102}"/>
              </a:ext>
            </a:extLst>
          </p:cNvPr>
          <p:cNvSpPr>
            <a:spLocks xmlns:a="http://schemas.openxmlformats.org/drawingml/2006/main" noGrp="1"/>
          </p:cNvSpPr>
          <p:nvPr/>
        </p:nvSpPr>
        <p:spPr>
          <a:xfrm xmlns:a="http://schemas.openxmlformats.org/drawingml/2006/main">
            <a:off x="895350" y="5495925"/>
            <a:ext cx="2686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PRODUCT OWNER</a:t>
            </a:r>
          </a:p>
        </p:txBody>
      </p:sp>
      <p:sp>
        <p:nvSpPr>
          <p:cNvPr id="13" name="stakeholder-verbatim-quote">
            <a:extLst xmlns:a="http://schemas.openxmlformats.org/drawingml/2006/main">
              <a:ext uri="{FF2B5EF4-FFF2-40B4-BE49-F238E27FC236}">
                <a16:creationId xmlns:a16="http://schemas.microsoft.com/office/drawing/2014/main" id="{56A4B4C5-F39E-4AEF-AAF7-84829599C3C7}"/>
              </a:ext>
            </a:extLst>
          </p:cNvPr>
          <p:cNvSpPr>
            <a:spLocks xmlns:a="http://schemas.openxmlformats.org/drawingml/2006/main" noGrp="1"/>
          </p:cNvSpPr>
          <p:nvPr/>
        </p:nvSpPr>
        <p:spPr>
          <a:xfrm xmlns:a="http://schemas.openxmlformats.org/drawingml/2006/main">
            <a:off x="3905250" y="5429250"/>
            <a:ext cx="10429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2100" b="0">
                <a:solidFill>
                  <a:srgbClr val="17191C"/>
                </a:solidFill>
                <a:latin typeface="Helvetica Neue"/>
                <a:ea typeface="Helvetica Neue"/>
                <a:cs typeface="Helvetica Neue"/>
              </a:defRPr>
            </a:pPr>
            <a:r>
              <a:rPr sz="2100" b="0">
                <a:solidFill>
                  <a:srgbClr val="17191C"/>
                </a:solidFill>
                <a:latin typeface="Helvetica Neue"/>
                <a:ea typeface="Helvetica Neue"/>
                <a:cs typeface="Helvetica Neue"/>
              </a:rPr>
              <a:t>“A smaller screen is not permission to ship a smaller product; it is an obligation to present the next meaningful decision first.”</a:t>
            </a:r>
          </a:p>
        </p:txBody>
      </p:sp>
      <p:sp>
        <p:nvSpPr>
          <p:cNvPr id="14" name="structural-divider">
            <a:extLst xmlns:a="http://schemas.openxmlformats.org/drawingml/2006/main">
              <a:ext uri="{FF2B5EF4-FFF2-40B4-BE49-F238E27FC236}">
                <a16:creationId xmlns:a16="http://schemas.microsoft.com/office/drawing/2014/main" id="{C18D675A-3481-4C9F-9259-919617FCF755}"/>
              </a:ext>
            </a:extLst>
          </p:cNvPr>
          <p:cNvSpPr>
            <a:spLocks xmlns:a="http://schemas.openxmlformats.org/drawingml/2006/main" noGrp="1"/>
          </p:cNvSpPr>
          <p:nvPr/>
        </p:nvSpPr>
        <p:spPr>
          <a:xfrm xmlns:a="http://schemas.openxmlformats.org/drawingml/2006/main">
            <a:off x="895350" y="67722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5" name="body-paragraph">
            <a:extLst xmlns:a="http://schemas.openxmlformats.org/drawingml/2006/main">
              <a:ext uri="{FF2B5EF4-FFF2-40B4-BE49-F238E27FC236}">
                <a16:creationId xmlns:a16="http://schemas.microsoft.com/office/drawing/2014/main" id="{7734448D-38F5-43CA-880C-DC270114057B}"/>
              </a:ext>
            </a:extLst>
          </p:cNvPr>
          <p:cNvSpPr>
            <a:spLocks xmlns:a="http://schemas.openxmlformats.org/drawingml/2006/main" noGrp="1"/>
          </p:cNvSpPr>
          <p:nvPr/>
        </p:nvSpPr>
        <p:spPr>
          <a:xfrm xmlns:a="http://schemas.openxmlformats.org/drawingml/2006/main">
            <a:off x="895350" y="7286625"/>
            <a:ext cx="13449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Quoted speakers are role-played subagent stakeholders, not external human interviewees.</a:t>
            </a:r>
          </a:p>
        </p:txBody>
      </p:sp>
    </p:spTree>
    <p:extLst>
      <p:ext uri="{BB962C8B-B14F-4D97-AF65-F5344CB8AC3E}">
        <p14:creationId xmlns:p14="http://schemas.microsoft.com/office/powerpoint/2010/main" val="17886221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kicker">
            <a:extLst xmlns:a="http://schemas.openxmlformats.org/drawingml/2006/main">
              <a:ext uri="{FF2B5EF4-FFF2-40B4-BE49-F238E27FC236}">
                <a16:creationId xmlns:a16="http://schemas.microsoft.com/office/drawing/2014/main" id="{EE14A893-DFB5-4F8E-88E0-F9B9B7BD3AEC}"/>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VERBATIM END-USER STAKEHOLDER INPUT</a:t>
            </a:r>
          </a:p>
        </p:txBody>
      </p:sp>
      <p:sp>
        <p:nvSpPr>
          <p:cNvPr id="2" name="slide-title">
            <a:extLst xmlns:a="http://schemas.openxmlformats.org/drawingml/2006/main">
              <a:ext uri="{FF2B5EF4-FFF2-40B4-BE49-F238E27FC236}">
                <a16:creationId xmlns:a16="http://schemas.microsoft.com/office/drawing/2014/main" id="{544339CB-686D-4438-8C6D-ECE83FA9243A}"/>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Each device posture changes the next decision</a:t>
            </a:r>
          </a:p>
        </p:txBody>
      </p:sp>
      <p:sp>
        <p:nvSpPr>
          <p:cNvPr id="3" name="structural-divider">
            <a:extLst xmlns:a="http://schemas.openxmlformats.org/drawingml/2006/main">
              <a:ext uri="{FF2B5EF4-FFF2-40B4-BE49-F238E27FC236}">
                <a16:creationId xmlns:a16="http://schemas.microsoft.com/office/drawing/2014/main" id="{B5CD4BF4-A399-4455-8825-0F7B0862F8EF}"/>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8448B1FE-C0FB-4732-A2CF-AB43C647D476}"/>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E733B45A-8612-451C-9C31-6E8C7B10C535}"/>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06</a:t>
            </a:r>
          </a:p>
        </p:txBody>
      </p:sp>
      <p:sp>
        <p:nvSpPr>
          <p:cNvPr id="6" name="stakeholder-role">
            <a:extLst xmlns:a="http://schemas.openxmlformats.org/drawingml/2006/main">
              <a:ext uri="{FF2B5EF4-FFF2-40B4-BE49-F238E27FC236}">
                <a16:creationId xmlns:a16="http://schemas.microsoft.com/office/drawing/2014/main" id="{7A864AE9-BA24-47DF-AAE5-9DCBE00477F7}"/>
              </a:ext>
            </a:extLst>
          </p:cNvPr>
          <p:cNvSpPr>
            <a:spLocks xmlns:a="http://schemas.openxmlformats.org/drawingml/2006/main" noGrp="1"/>
          </p:cNvSpPr>
          <p:nvPr/>
        </p:nvSpPr>
        <p:spPr>
          <a:xfrm xmlns:a="http://schemas.openxmlformats.org/drawingml/2006/main">
            <a:off x="895350" y="2314575"/>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SMARTPHONE END USER</a:t>
            </a:r>
          </a:p>
        </p:txBody>
      </p:sp>
      <p:sp>
        <p:nvSpPr>
          <p:cNvPr id="7" name="stakeholder-verbatim-quote">
            <a:extLst xmlns:a="http://schemas.openxmlformats.org/drawingml/2006/main">
              <a:ext uri="{FF2B5EF4-FFF2-40B4-BE49-F238E27FC236}">
                <a16:creationId xmlns:a16="http://schemas.microsoft.com/office/drawing/2014/main" id="{8F2C7C0D-9896-4630-8BBB-5C515769BD19}"/>
              </a:ext>
            </a:extLst>
          </p:cNvPr>
          <p:cNvSpPr>
            <a:spLocks xmlns:a="http://schemas.openxmlformats.org/drawingml/2006/main" noGrp="1"/>
          </p:cNvSpPr>
          <p:nvPr/>
        </p:nvSpPr>
        <p:spPr>
          <a:xfrm xmlns:a="http://schemas.openxmlformats.org/drawingml/2006/main">
            <a:off x="4267200" y="2247900"/>
            <a:ext cx="100679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875" b="0">
                <a:solidFill>
                  <a:srgbClr val="17191C"/>
                </a:solidFill>
                <a:latin typeface="Helvetica Neue"/>
                <a:ea typeface="Helvetica Neue"/>
                <a:cs typeface="Helvetica Neue"/>
              </a:defRPr>
            </a:pPr>
            <a:r>
              <a:rPr sz="1875" b="0">
                <a:solidFill>
                  <a:srgbClr val="17191C"/>
                </a:solidFill>
                <a:latin typeface="Helvetica Neue"/>
                <a:ea typeface="Helvetica Neue"/>
                <a:cs typeface="Helvetica Neue"/>
              </a:rPr>
              <a:t>“I am here to finish something, not to reconstruct a desktop sidebar.”</a:t>
            </a:r>
          </a:p>
        </p:txBody>
      </p:sp>
      <p:sp>
        <p:nvSpPr>
          <p:cNvPr id="8" name="structural-divider">
            <a:extLst xmlns:a="http://schemas.openxmlformats.org/drawingml/2006/main">
              <a:ext uri="{FF2B5EF4-FFF2-40B4-BE49-F238E27FC236}">
                <a16:creationId xmlns:a16="http://schemas.microsoft.com/office/drawing/2014/main" id="{C055DD2D-8D13-4F9B-B16F-0D716F4E80AB}"/>
              </a:ext>
            </a:extLst>
          </p:cNvPr>
          <p:cNvSpPr>
            <a:spLocks xmlns:a="http://schemas.openxmlformats.org/drawingml/2006/main" noGrp="1"/>
          </p:cNvSpPr>
          <p:nvPr/>
        </p:nvSpPr>
        <p:spPr>
          <a:xfrm xmlns:a="http://schemas.openxmlformats.org/drawingml/2006/main">
            <a:off x="895350" y="32385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9" name="stakeholder-role">
            <a:extLst xmlns:a="http://schemas.openxmlformats.org/drawingml/2006/main">
              <a:ext uri="{FF2B5EF4-FFF2-40B4-BE49-F238E27FC236}">
                <a16:creationId xmlns:a16="http://schemas.microsoft.com/office/drawing/2014/main" id="{45E70695-93A1-4C09-85DE-82B2C7322144}"/>
              </a:ext>
            </a:extLst>
          </p:cNvPr>
          <p:cNvSpPr>
            <a:spLocks xmlns:a="http://schemas.openxmlformats.org/drawingml/2006/main" noGrp="1"/>
          </p:cNvSpPr>
          <p:nvPr/>
        </p:nvSpPr>
        <p:spPr>
          <a:xfrm xmlns:a="http://schemas.openxmlformats.org/drawingml/2006/main">
            <a:off x="895350" y="35433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TABLET END USER</a:t>
            </a:r>
          </a:p>
        </p:txBody>
      </p:sp>
      <p:sp>
        <p:nvSpPr>
          <p:cNvPr id="10" name="stakeholder-verbatim-quote">
            <a:extLst xmlns:a="http://schemas.openxmlformats.org/drawingml/2006/main">
              <a:ext uri="{FF2B5EF4-FFF2-40B4-BE49-F238E27FC236}">
                <a16:creationId xmlns:a16="http://schemas.microsoft.com/office/drawing/2014/main" id="{10159C4A-2BCC-4AAC-BCEC-3CE9C5CB5D51}"/>
              </a:ext>
            </a:extLst>
          </p:cNvPr>
          <p:cNvSpPr>
            <a:spLocks xmlns:a="http://schemas.openxmlformats.org/drawingml/2006/main" noGrp="1"/>
          </p:cNvSpPr>
          <p:nvPr/>
        </p:nvSpPr>
        <p:spPr>
          <a:xfrm xmlns:a="http://schemas.openxmlformats.org/drawingml/2006/main">
            <a:off x="4267200" y="3476625"/>
            <a:ext cx="100679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875" b="0">
                <a:solidFill>
                  <a:srgbClr val="17191C"/>
                </a:solidFill>
                <a:latin typeface="Helvetica Neue"/>
                <a:ea typeface="Helvetica Neue"/>
                <a:cs typeface="Helvetica Neue"/>
              </a:defRPr>
            </a:pPr>
            <a:r>
              <a:rPr sz="1875" b="0">
                <a:solidFill>
                  <a:srgbClr val="17191C"/>
                </a:solidFill>
                <a:latin typeface="Helvetica Neue"/>
                <a:ea typeface="Helvetica Neue"/>
                <a:cs typeface="Helvetica Neue"/>
              </a:rPr>
              <a:t>“A pencil should draw, two fingers should move the board, and none of that should depend on owning a keyboard.”</a:t>
            </a:r>
          </a:p>
        </p:txBody>
      </p:sp>
      <p:sp>
        <p:nvSpPr>
          <p:cNvPr id="11" name="structural-divider">
            <a:extLst xmlns:a="http://schemas.openxmlformats.org/drawingml/2006/main">
              <a:ext uri="{FF2B5EF4-FFF2-40B4-BE49-F238E27FC236}">
                <a16:creationId xmlns:a16="http://schemas.microsoft.com/office/drawing/2014/main" id="{FB3A1883-965A-4A0B-82A6-CB171260C795}"/>
              </a:ext>
            </a:extLst>
          </p:cNvPr>
          <p:cNvSpPr>
            <a:spLocks xmlns:a="http://schemas.openxmlformats.org/drawingml/2006/main" noGrp="1"/>
          </p:cNvSpPr>
          <p:nvPr/>
        </p:nvSpPr>
        <p:spPr>
          <a:xfrm xmlns:a="http://schemas.openxmlformats.org/drawingml/2006/main">
            <a:off x="895350" y="44672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2" name="stakeholder-role">
            <a:extLst xmlns:a="http://schemas.openxmlformats.org/drawingml/2006/main">
              <a:ext uri="{FF2B5EF4-FFF2-40B4-BE49-F238E27FC236}">
                <a16:creationId xmlns:a16="http://schemas.microsoft.com/office/drawing/2014/main" id="{4F571BC8-6F4E-4977-BFC9-218B3EDC109A}"/>
              </a:ext>
            </a:extLst>
          </p:cNvPr>
          <p:cNvSpPr>
            <a:spLocks xmlns:a="http://schemas.openxmlformats.org/drawingml/2006/main" noGrp="1"/>
          </p:cNvSpPr>
          <p:nvPr/>
        </p:nvSpPr>
        <p:spPr>
          <a:xfrm xmlns:a="http://schemas.openxmlformats.org/drawingml/2006/main">
            <a:off x="895350" y="478155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SMALL MONITOR END USER</a:t>
            </a:r>
          </a:p>
        </p:txBody>
      </p:sp>
      <p:sp>
        <p:nvSpPr>
          <p:cNvPr id="13" name="stakeholder-verbatim-quote">
            <a:extLst xmlns:a="http://schemas.openxmlformats.org/drawingml/2006/main">
              <a:ext uri="{FF2B5EF4-FFF2-40B4-BE49-F238E27FC236}">
                <a16:creationId xmlns:a16="http://schemas.microsoft.com/office/drawing/2014/main" id="{EC70B031-F262-41CF-9557-83BE41E85C42}"/>
              </a:ext>
            </a:extLst>
          </p:cNvPr>
          <p:cNvSpPr>
            <a:spLocks xmlns:a="http://schemas.openxmlformats.org/drawingml/2006/main" noGrp="1"/>
          </p:cNvSpPr>
          <p:nvPr/>
        </p:nvSpPr>
        <p:spPr>
          <a:xfrm xmlns:a="http://schemas.openxmlformats.org/drawingml/2006/main">
            <a:off x="4267200" y="4714875"/>
            <a:ext cx="100679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875" b="0">
                <a:solidFill>
                  <a:srgbClr val="17191C"/>
                </a:solidFill>
                <a:latin typeface="Helvetica Neue"/>
                <a:ea typeface="Helvetica Neue"/>
                <a:cs typeface="Helvetica Neue"/>
              </a:defRPr>
            </a:pPr>
            <a:r>
              <a:rPr sz="1875" b="0">
                <a:solidFill>
                  <a:srgbClr val="17191C"/>
                </a:solidFill>
                <a:latin typeface="Helvetica Neue"/>
                <a:ea typeface="Helvetica Neue"/>
                <a:cs typeface="Helvetica Neue"/>
              </a:rPr>
              <a:t>“A half-width window is not a half-capable application.”</a:t>
            </a:r>
          </a:p>
        </p:txBody>
      </p:sp>
      <p:sp>
        <p:nvSpPr>
          <p:cNvPr id="14" name="structural-divider">
            <a:extLst xmlns:a="http://schemas.openxmlformats.org/drawingml/2006/main">
              <a:ext uri="{FF2B5EF4-FFF2-40B4-BE49-F238E27FC236}">
                <a16:creationId xmlns:a16="http://schemas.microsoft.com/office/drawing/2014/main" id="{4830DFF6-CB0D-4501-8349-2B1F5A6E6DB5}"/>
              </a:ext>
            </a:extLst>
          </p:cNvPr>
          <p:cNvSpPr>
            <a:spLocks xmlns:a="http://schemas.openxmlformats.org/drawingml/2006/main" noGrp="1"/>
          </p:cNvSpPr>
          <p:nvPr/>
        </p:nvSpPr>
        <p:spPr>
          <a:xfrm xmlns:a="http://schemas.openxmlformats.org/drawingml/2006/main">
            <a:off x="895350" y="57054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5" name="stakeholder-role">
            <a:extLst xmlns:a="http://schemas.openxmlformats.org/drawingml/2006/main">
              <a:ext uri="{FF2B5EF4-FFF2-40B4-BE49-F238E27FC236}">
                <a16:creationId xmlns:a16="http://schemas.microsoft.com/office/drawing/2014/main" id="{214BCB7F-8F6C-492F-BCC2-98986D339E43}"/>
              </a:ext>
            </a:extLst>
          </p:cNvPr>
          <p:cNvSpPr>
            <a:spLocks xmlns:a="http://schemas.openxmlformats.org/drawingml/2006/main" noGrp="1"/>
          </p:cNvSpPr>
          <p:nvPr/>
        </p:nvSpPr>
        <p:spPr>
          <a:xfrm xmlns:a="http://schemas.openxmlformats.org/drawingml/2006/main">
            <a:off x="895350" y="60198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LARGE MONITOR END USER</a:t>
            </a:r>
          </a:p>
        </p:txBody>
      </p:sp>
      <p:sp>
        <p:nvSpPr>
          <p:cNvPr id="16" name="stakeholder-verbatim-quote">
            <a:extLst xmlns:a="http://schemas.openxmlformats.org/drawingml/2006/main">
              <a:ext uri="{FF2B5EF4-FFF2-40B4-BE49-F238E27FC236}">
                <a16:creationId xmlns:a16="http://schemas.microsoft.com/office/drawing/2014/main" id="{08980D05-A0C4-442D-A497-2826468F3B28}"/>
              </a:ext>
            </a:extLst>
          </p:cNvPr>
          <p:cNvSpPr>
            <a:spLocks xmlns:a="http://schemas.openxmlformats.org/drawingml/2006/main" noGrp="1"/>
          </p:cNvSpPr>
          <p:nvPr/>
        </p:nvSpPr>
        <p:spPr>
          <a:xfrm xmlns:a="http://schemas.openxmlformats.org/drawingml/2006/main">
            <a:off x="4267200" y="5953125"/>
            <a:ext cx="100679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1875" b="0">
                <a:solidFill>
                  <a:srgbClr val="17191C"/>
                </a:solidFill>
                <a:latin typeface="Helvetica Neue"/>
                <a:ea typeface="Helvetica Neue"/>
                <a:cs typeface="Helvetica Neue"/>
              </a:defRPr>
            </a:pPr>
            <a:r>
              <a:rPr sz="1875" b="0">
                <a:solidFill>
                  <a:srgbClr val="17191C"/>
                </a:solidFill>
                <a:latin typeface="Helvetica Neue"/>
                <a:ea typeface="Helvetica Neue"/>
                <a:cs typeface="Helvetica Neue"/>
              </a:rPr>
              <a:t>“I bought screen space to see relationships, decisions, and collaborators together—not to display a larger version of the same cramped interface.”</a:t>
            </a:r>
          </a:p>
        </p:txBody>
      </p:sp>
      <p:sp>
        <p:nvSpPr>
          <p:cNvPr id="17" name="structural-divider">
            <a:extLst xmlns:a="http://schemas.openxmlformats.org/drawingml/2006/main">
              <a:ext uri="{FF2B5EF4-FFF2-40B4-BE49-F238E27FC236}">
                <a16:creationId xmlns:a16="http://schemas.microsoft.com/office/drawing/2014/main" id="{18DB2C11-9A87-45E9-AA77-582477B421B7}"/>
              </a:ext>
            </a:extLst>
          </p:cNvPr>
          <p:cNvSpPr>
            <a:spLocks xmlns:a="http://schemas.openxmlformats.org/drawingml/2006/main" noGrp="1"/>
          </p:cNvSpPr>
          <p:nvPr/>
        </p:nvSpPr>
        <p:spPr>
          <a:xfrm xmlns:a="http://schemas.openxmlformats.org/drawingml/2006/main">
            <a:off x="895350" y="69437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body-paragraph">
            <a:extLst xmlns:a="http://schemas.openxmlformats.org/drawingml/2006/main">
              <a:ext uri="{FF2B5EF4-FFF2-40B4-BE49-F238E27FC236}">
                <a16:creationId xmlns:a16="http://schemas.microsoft.com/office/drawing/2014/main" id="{0CAA6D52-7F3D-4439-82DD-227FE745C83C}"/>
              </a:ext>
            </a:extLst>
          </p:cNvPr>
          <p:cNvSpPr>
            <a:spLocks xmlns:a="http://schemas.openxmlformats.org/drawingml/2006/main" noGrp="1"/>
          </p:cNvSpPr>
          <p:nvPr/>
        </p:nvSpPr>
        <p:spPr>
          <a:xfrm xmlns:a="http://schemas.openxmlformats.org/drawingml/2006/main">
            <a:off x="895350" y="7353300"/>
            <a:ext cx="1344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Quoted speakers are role-played subagent stakeholders, not external human interviewees.</a:t>
            </a:r>
          </a:p>
        </p:txBody>
      </p:sp>
    </p:spTree>
    <p:extLst>
      <p:ext uri="{BB962C8B-B14F-4D97-AF65-F5344CB8AC3E}">
        <p14:creationId xmlns:p14="http://schemas.microsoft.com/office/powerpoint/2010/main" val="13195695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ection-kicker">
            <a:extLst xmlns:a="http://schemas.openxmlformats.org/drawingml/2006/main">
              <a:ext uri="{FF2B5EF4-FFF2-40B4-BE49-F238E27FC236}">
                <a16:creationId xmlns:a16="http://schemas.microsoft.com/office/drawing/2014/main" id="{452F9E5A-C34A-4A03-B8F6-64E32BCD5607}"/>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INFORMATION ARCHITECTURE</a:t>
            </a:r>
          </a:p>
        </p:txBody>
      </p:sp>
      <p:sp>
        <p:nvSpPr>
          <p:cNvPr id="2" name="slide-title">
            <a:extLst xmlns:a="http://schemas.openxmlformats.org/drawingml/2006/main">
              <a:ext uri="{FF2B5EF4-FFF2-40B4-BE49-F238E27FC236}">
                <a16:creationId xmlns:a16="http://schemas.microsoft.com/office/drawing/2014/main" id="{BAADA5FD-0533-46F2-96E2-85EC6AB1CD65}"/>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Five destinations remain stable on every device</a:t>
            </a:r>
          </a:p>
        </p:txBody>
      </p:sp>
      <p:sp>
        <p:nvSpPr>
          <p:cNvPr id="3" name="structural-divider">
            <a:extLst xmlns:a="http://schemas.openxmlformats.org/drawingml/2006/main">
              <a:ext uri="{FF2B5EF4-FFF2-40B4-BE49-F238E27FC236}">
                <a16:creationId xmlns:a16="http://schemas.microsoft.com/office/drawing/2014/main" id="{5303AB51-6A4E-4C44-918C-2C2C10548E62}"/>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894E312-555B-4474-AC91-C3DBB6EEF19C}"/>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C550F54A-6809-4AF2-A074-F321FAF2AABB}"/>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07</a:t>
            </a:r>
          </a:p>
        </p:txBody>
      </p:sp>
      <p:sp>
        <p:nvSpPr>
          <p:cNvPr id="6" name="row-number">
            <a:extLst xmlns:a="http://schemas.openxmlformats.org/drawingml/2006/main">
              <a:ext uri="{FF2B5EF4-FFF2-40B4-BE49-F238E27FC236}">
                <a16:creationId xmlns:a16="http://schemas.microsoft.com/office/drawing/2014/main" id="{CF7F847B-1EDC-4109-A259-F22316534381}"/>
              </a:ext>
            </a:extLst>
          </p:cNvPr>
          <p:cNvSpPr>
            <a:spLocks xmlns:a="http://schemas.openxmlformats.org/drawingml/2006/main" noGrp="1"/>
          </p:cNvSpPr>
          <p:nvPr/>
        </p:nvSpPr>
        <p:spPr>
          <a:xfrm xmlns:a="http://schemas.openxmlformats.org/drawingml/2006/main">
            <a:off x="895350" y="22193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01</a:t>
            </a:r>
          </a:p>
        </p:txBody>
      </p:sp>
      <p:sp>
        <p:nvSpPr>
          <p:cNvPr id="7" name="row-title">
            <a:extLst xmlns:a="http://schemas.openxmlformats.org/drawingml/2006/main">
              <a:ext uri="{FF2B5EF4-FFF2-40B4-BE49-F238E27FC236}">
                <a16:creationId xmlns:a16="http://schemas.microsoft.com/office/drawing/2014/main" id="{E82232E4-F9CD-480A-88AB-DDE48DCD8CCC}"/>
              </a:ext>
            </a:extLst>
          </p:cNvPr>
          <p:cNvSpPr>
            <a:spLocks xmlns:a="http://schemas.openxmlformats.org/drawingml/2006/main" noGrp="1"/>
          </p:cNvSpPr>
          <p:nvPr/>
        </p:nvSpPr>
        <p:spPr>
          <a:xfrm xmlns:a="http://schemas.openxmlformats.org/drawingml/2006/main">
            <a:off x="1733550" y="2209800"/>
            <a:ext cx="2400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Projects</a:t>
            </a:r>
          </a:p>
        </p:txBody>
      </p:sp>
      <p:sp>
        <p:nvSpPr>
          <p:cNvPr id="8" name="row-detail">
            <a:extLst xmlns:a="http://schemas.openxmlformats.org/drawingml/2006/main">
              <a:ext uri="{FF2B5EF4-FFF2-40B4-BE49-F238E27FC236}">
                <a16:creationId xmlns:a16="http://schemas.microsoft.com/office/drawing/2014/main" id="{6997E24C-A7E2-4B44-B948-C5CCF63757BD}"/>
              </a:ext>
            </a:extLst>
          </p:cNvPr>
          <p:cNvSpPr>
            <a:spLocks xmlns:a="http://schemas.openxmlformats.org/drawingml/2006/main" noGrp="1"/>
          </p:cNvSpPr>
          <p:nvPr/>
        </p:nvSpPr>
        <p:spPr>
          <a:xfrm xmlns:a="http://schemas.openxmlformats.org/drawingml/2006/main">
            <a:off x="4295775" y="2238375"/>
            <a:ext cx="1004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Choose a project; see ownership, urgency, recent work, and authored collections.</a:t>
            </a:r>
          </a:p>
        </p:txBody>
      </p:sp>
      <p:sp>
        <p:nvSpPr>
          <p:cNvPr id="9" name="structural-divider">
            <a:extLst xmlns:a="http://schemas.openxmlformats.org/drawingml/2006/main">
              <a:ext uri="{FF2B5EF4-FFF2-40B4-BE49-F238E27FC236}">
                <a16:creationId xmlns:a16="http://schemas.microsoft.com/office/drawing/2014/main" id="{6F5EA96C-CC8A-4E37-AE15-694FEB772D5D}"/>
              </a:ext>
            </a:extLst>
          </p:cNvPr>
          <p:cNvSpPr>
            <a:spLocks xmlns:a="http://schemas.openxmlformats.org/drawingml/2006/main" noGrp="1"/>
          </p:cNvSpPr>
          <p:nvPr/>
        </p:nvSpPr>
        <p:spPr>
          <a:xfrm xmlns:a="http://schemas.openxmlformats.org/drawingml/2006/main">
            <a:off x="895350" y="29337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row-number">
            <a:extLst xmlns:a="http://schemas.openxmlformats.org/drawingml/2006/main">
              <a:ext uri="{FF2B5EF4-FFF2-40B4-BE49-F238E27FC236}">
                <a16:creationId xmlns:a16="http://schemas.microsoft.com/office/drawing/2014/main" id="{A616B7B0-726B-4AAA-AF8A-8AA73F908CD6}"/>
              </a:ext>
            </a:extLst>
          </p:cNvPr>
          <p:cNvSpPr>
            <a:spLocks xmlns:a="http://schemas.openxmlformats.org/drawingml/2006/main" noGrp="1"/>
          </p:cNvSpPr>
          <p:nvPr/>
        </p:nvSpPr>
        <p:spPr>
          <a:xfrm xmlns:a="http://schemas.openxmlformats.org/drawingml/2006/main">
            <a:off x="895350" y="30956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02</a:t>
            </a:r>
          </a:p>
        </p:txBody>
      </p:sp>
      <p:sp>
        <p:nvSpPr>
          <p:cNvPr id="11" name="row-title">
            <a:extLst xmlns:a="http://schemas.openxmlformats.org/drawingml/2006/main">
              <a:ext uri="{FF2B5EF4-FFF2-40B4-BE49-F238E27FC236}">
                <a16:creationId xmlns:a16="http://schemas.microsoft.com/office/drawing/2014/main" id="{EFE93A5B-AD6B-424B-B916-54669533C496}"/>
              </a:ext>
            </a:extLst>
          </p:cNvPr>
          <p:cNvSpPr>
            <a:spLocks xmlns:a="http://schemas.openxmlformats.org/drawingml/2006/main" noGrp="1"/>
          </p:cNvSpPr>
          <p:nvPr/>
        </p:nvSpPr>
        <p:spPr>
          <a:xfrm xmlns:a="http://schemas.openxmlformats.org/drawingml/2006/main">
            <a:off x="1733550" y="3086100"/>
            <a:ext cx="2400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Work</a:t>
            </a:r>
          </a:p>
        </p:txBody>
      </p:sp>
      <p:sp>
        <p:nvSpPr>
          <p:cNvPr id="12" name="row-detail">
            <a:extLst xmlns:a="http://schemas.openxmlformats.org/drawingml/2006/main">
              <a:ext uri="{FF2B5EF4-FFF2-40B4-BE49-F238E27FC236}">
                <a16:creationId xmlns:a16="http://schemas.microsoft.com/office/drawing/2014/main" id="{770FFB8C-5F81-4465-AAE5-D0E3AB613093}"/>
              </a:ext>
            </a:extLst>
          </p:cNvPr>
          <p:cNvSpPr>
            <a:spLocks xmlns:a="http://schemas.openxmlformats.org/drawingml/2006/main" noGrp="1"/>
          </p:cNvSpPr>
          <p:nvPr/>
        </p:nvSpPr>
        <p:spPr>
          <a:xfrm xmlns:a="http://schemas.openxmlformats.org/drawingml/2006/main">
            <a:off x="4295775" y="3114675"/>
            <a:ext cx="1004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Create, edit, compare, and review the current document or Canvas board.</a:t>
            </a:r>
          </a:p>
        </p:txBody>
      </p:sp>
      <p:sp>
        <p:nvSpPr>
          <p:cNvPr id="13" name="structural-divider">
            <a:extLst xmlns:a="http://schemas.openxmlformats.org/drawingml/2006/main">
              <a:ext uri="{FF2B5EF4-FFF2-40B4-BE49-F238E27FC236}">
                <a16:creationId xmlns:a16="http://schemas.microsoft.com/office/drawing/2014/main" id="{49C4B7E3-F77A-4876-86EC-A66E2B821393}"/>
              </a:ext>
            </a:extLst>
          </p:cNvPr>
          <p:cNvSpPr>
            <a:spLocks xmlns:a="http://schemas.openxmlformats.org/drawingml/2006/main" noGrp="1"/>
          </p:cNvSpPr>
          <p:nvPr/>
        </p:nvSpPr>
        <p:spPr>
          <a:xfrm xmlns:a="http://schemas.openxmlformats.org/drawingml/2006/main">
            <a:off x="895350" y="38100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4" name="row-number">
            <a:extLst xmlns:a="http://schemas.openxmlformats.org/drawingml/2006/main">
              <a:ext uri="{FF2B5EF4-FFF2-40B4-BE49-F238E27FC236}">
                <a16:creationId xmlns:a16="http://schemas.microsoft.com/office/drawing/2014/main" id="{AA58947C-896A-470D-A544-4295CB50F3DC}"/>
              </a:ext>
            </a:extLst>
          </p:cNvPr>
          <p:cNvSpPr>
            <a:spLocks xmlns:a="http://schemas.openxmlformats.org/drawingml/2006/main" noGrp="1"/>
          </p:cNvSpPr>
          <p:nvPr/>
        </p:nvSpPr>
        <p:spPr>
          <a:xfrm xmlns:a="http://schemas.openxmlformats.org/drawingml/2006/main">
            <a:off x="895350" y="39719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03</a:t>
            </a:r>
          </a:p>
        </p:txBody>
      </p:sp>
      <p:sp>
        <p:nvSpPr>
          <p:cNvPr id="15" name="row-title">
            <a:extLst xmlns:a="http://schemas.openxmlformats.org/drawingml/2006/main">
              <a:ext uri="{FF2B5EF4-FFF2-40B4-BE49-F238E27FC236}">
                <a16:creationId xmlns:a16="http://schemas.microsoft.com/office/drawing/2014/main" id="{41EB5D8A-8543-47FB-808C-2595298C883D}"/>
              </a:ext>
            </a:extLst>
          </p:cNvPr>
          <p:cNvSpPr>
            <a:spLocks xmlns:a="http://schemas.openxmlformats.org/drawingml/2006/main" noGrp="1"/>
          </p:cNvSpPr>
          <p:nvPr/>
        </p:nvSpPr>
        <p:spPr>
          <a:xfrm xmlns:a="http://schemas.openxmlformats.org/drawingml/2006/main">
            <a:off x="1733550" y="3962400"/>
            <a:ext cx="2400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Explore</a:t>
            </a:r>
          </a:p>
        </p:txBody>
      </p:sp>
      <p:sp>
        <p:nvSpPr>
          <p:cNvPr id="16" name="row-detail">
            <a:extLst xmlns:a="http://schemas.openxmlformats.org/drawingml/2006/main">
              <a:ext uri="{FF2B5EF4-FFF2-40B4-BE49-F238E27FC236}">
                <a16:creationId xmlns:a16="http://schemas.microsoft.com/office/drawing/2014/main" id="{9150D2C0-87DD-4F0B-A605-CDCBD5403C0F}"/>
              </a:ext>
            </a:extLst>
          </p:cNvPr>
          <p:cNvSpPr>
            <a:spLocks xmlns:a="http://schemas.openxmlformats.org/drawingml/2006/main" noGrp="1"/>
          </p:cNvSpPr>
          <p:nvPr/>
        </p:nvSpPr>
        <p:spPr>
          <a:xfrm xmlns:a="http://schemas.openxmlformats.org/drawingml/2006/main">
            <a:off x="4295775" y="3990975"/>
            <a:ext cx="1004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Find Library, precedent, Scout, Taste &amp; time, and all authorized discovery.</a:t>
            </a:r>
          </a:p>
        </p:txBody>
      </p:sp>
      <p:sp>
        <p:nvSpPr>
          <p:cNvPr id="17" name="structural-divider">
            <a:extLst xmlns:a="http://schemas.openxmlformats.org/drawingml/2006/main">
              <a:ext uri="{FF2B5EF4-FFF2-40B4-BE49-F238E27FC236}">
                <a16:creationId xmlns:a16="http://schemas.microsoft.com/office/drawing/2014/main" id="{A1F27FAE-C6E8-47BB-A6C0-B7C107DE08A9}"/>
              </a:ext>
            </a:extLst>
          </p:cNvPr>
          <p:cNvSpPr>
            <a:spLocks xmlns:a="http://schemas.openxmlformats.org/drawingml/2006/main" noGrp="1"/>
          </p:cNvSpPr>
          <p:nvPr/>
        </p:nvSpPr>
        <p:spPr>
          <a:xfrm xmlns:a="http://schemas.openxmlformats.org/drawingml/2006/main">
            <a:off x="895350" y="46863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row-number">
            <a:extLst xmlns:a="http://schemas.openxmlformats.org/drawingml/2006/main">
              <a:ext uri="{FF2B5EF4-FFF2-40B4-BE49-F238E27FC236}">
                <a16:creationId xmlns:a16="http://schemas.microsoft.com/office/drawing/2014/main" id="{CC3851AA-E264-44ED-B717-C0AB93E01C95}"/>
              </a:ext>
            </a:extLst>
          </p:cNvPr>
          <p:cNvSpPr>
            <a:spLocks xmlns:a="http://schemas.openxmlformats.org/drawingml/2006/main" noGrp="1"/>
          </p:cNvSpPr>
          <p:nvPr/>
        </p:nvSpPr>
        <p:spPr>
          <a:xfrm xmlns:a="http://schemas.openxmlformats.org/drawingml/2006/main">
            <a:off x="895350" y="48482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04</a:t>
            </a:r>
          </a:p>
        </p:txBody>
      </p:sp>
      <p:sp>
        <p:nvSpPr>
          <p:cNvPr id="19" name="row-title">
            <a:extLst xmlns:a="http://schemas.openxmlformats.org/drawingml/2006/main">
              <a:ext uri="{FF2B5EF4-FFF2-40B4-BE49-F238E27FC236}">
                <a16:creationId xmlns:a16="http://schemas.microsoft.com/office/drawing/2014/main" id="{EFA471F6-FF9A-445C-A9C6-4040F263DEC1}"/>
              </a:ext>
            </a:extLst>
          </p:cNvPr>
          <p:cNvSpPr>
            <a:spLocks xmlns:a="http://schemas.openxmlformats.org/drawingml/2006/main" noGrp="1"/>
          </p:cNvSpPr>
          <p:nvPr/>
        </p:nvSpPr>
        <p:spPr>
          <a:xfrm xmlns:a="http://schemas.openxmlformats.org/drawingml/2006/main">
            <a:off x="1733550" y="4838700"/>
            <a:ext cx="2400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Activity</a:t>
            </a:r>
          </a:p>
        </p:txBody>
      </p:sp>
      <p:sp>
        <p:nvSpPr>
          <p:cNvPr id="20" name="row-detail">
            <a:extLst xmlns:a="http://schemas.openxmlformats.org/drawingml/2006/main">
              <a:ext uri="{FF2B5EF4-FFF2-40B4-BE49-F238E27FC236}">
                <a16:creationId xmlns:a16="http://schemas.microsoft.com/office/drawing/2014/main" id="{B189654F-351D-4953-8063-B3B9D62273F8}"/>
              </a:ext>
            </a:extLst>
          </p:cNvPr>
          <p:cNvSpPr>
            <a:spLocks xmlns:a="http://schemas.openxmlformats.org/drawingml/2006/main" noGrp="1"/>
          </p:cNvSpPr>
          <p:nvPr/>
        </p:nvSpPr>
        <p:spPr>
          <a:xfrm xmlns:a="http://schemas.openxmlformats.org/drawingml/2006/main">
            <a:off x="4295775" y="4867275"/>
            <a:ext cx="1004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Track approvals, ready outputs, blocked jobs, changes, and exact next actions.</a:t>
            </a:r>
          </a:p>
        </p:txBody>
      </p:sp>
      <p:sp>
        <p:nvSpPr>
          <p:cNvPr id="21" name="structural-divider">
            <a:extLst xmlns:a="http://schemas.openxmlformats.org/drawingml/2006/main">
              <a:ext uri="{FF2B5EF4-FFF2-40B4-BE49-F238E27FC236}">
                <a16:creationId xmlns:a16="http://schemas.microsoft.com/office/drawing/2014/main" id="{AF845DFC-43C6-47EE-87F4-9595E9AE1E9D}"/>
              </a:ext>
            </a:extLst>
          </p:cNvPr>
          <p:cNvSpPr>
            <a:spLocks xmlns:a="http://schemas.openxmlformats.org/drawingml/2006/main" noGrp="1"/>
          </p:cNvSpPr>
          <p:nvPr/>
        </p:nvSpPr>
        <p:spPr>
          <a:xfrm xmlns:a="http://schemas.openxmlformats.org/drawingml/2006/main">
            <a:off x="895350" y="55626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2" name="row-number">
            <a:extLst xmlns:a="http://schemas.openxmlformats.org/drawingml/2006/main">
              <a:ext uri="{FF2B5EF4-FFF2-40B4-BE49-F238E27FC236}">
                <a16:creationId xmlns:a16="http://schemas.microsoft.com/office/drawing/2014/main" id="{1B6B0EF9-B23E-4ADE-85C1-BDBBA912089A}"/>
              </a:ext>
            </a:extLst>
          </p:cNvPr>
          <p:cNvSpPr>
            <a:spLocks xmlns:a="http://schemas.openxmlformats.org/drawingml/2006/main" noGrp="1"/>
          </p:cNvSpPr>
          <p:nvPr/>
        </p:nvSpPr>
        <p:spPr>
          <a:xfrm xmlns:a="http://schemas.openxmlformats.org/drawingml/2006/main">
            <a:off x="895350" y="57245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05</a:t>
            </a:r>
          </a:p>
        </p:txBody>
      </p:sp>
      <p:sp>
        <p:nvSpPr>
          <p:cNvPr id="23" name="row-title">
            <a:extLst xmlns:a="http://schemas.openxmlformats.org/drawingml/2006/main">
              <a:ext uri="{FF2B5EF4-FFF2-40B4-BE49-F238E27FC236}">
                <a16:creationId xmlns:a16="http://schemas.microsoft.com/office/drawing/2014/main" id="{B9940B48-27AF-46D4-87C7-4DFF2FE7C7B9}"/>
              </a:ext>
            </a:extLst>
          </p:cNvPr>
          <p:cNvSpPr>
            <a:spLocks xmlns:a="http://schemas.openxmlformats.org/drawingml/2006/main" noGrp="1"/>
          </p:cNvSpPr>
          <p:nvPr/>
        </p:nvSpPr>
        <p:spPr>
          <a:xfrm xmlns:a="http://schemas.openxmlformats.org/drawingml/2006/main">
            <a:off x="1733550" y="5715000"/>
            <a:ext cx="2400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Deliver</a:t>
            </a:r>
          </a:p>
        </p:txBody>
      </p:sp>
      <p:sp>
        <p:nvSpPr>
          <p:cNvPr id="24" name="row-detail">
            <a:extLst xmlns:a="http://schemas.openxmlformats.org/drawingml/2006/main">
              <a:ext uri="{FF2B5EF4-FFF2-40B4-BE49-F238E27FC236}">
                <a16:creationId xmlns:a16="http://schemas.microsoft.com/office/drawing/2014/main" id="{26388774-842D-444C-BBA0-9A75236CE711}"/>
              </a:ext>
            </a:extLst>
          </p:cNvPr>
          <p:cNvSpPr>
            <a:spLocks xmlns:a="http://schemas.openxmlformats.org/drawingml/2006/main" noGrp="1"/>
          </p:cNvSpPr>
          <p:nvPr/>
        </p:nvSpPr>
        <p:spPr>
          <a:xfrm xmlns:a="http://schemas.openxmlformats.org/drawingml/2006/main">
            <a:off x="4295775" y="5743575"/>
            <a:ext cx="10048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Inspect versions, approval status, recipients, and governed DOCX/PPTX release.</a:t>
            </a:r>
          </a:p>
        </p:txBody>
      </p:sp>
      <p:sp>
        <p:nvSpPr>
          <p:cNvPr id="25" name="structural-divider">
            <a:extLst xmlns:a="http://schemas.openxmlformats.org/drawingml/2006/main">
              <a:ext uri="{FF2B5EF4-FFF2-40B4-BE49-F238E27FC236}">
                <a16:creationId xmlns:a16="http://schemas.microsoft.com/office/drawing/2014/main" id="{DFC10D7F-E0D4-40F8-AC5F-3961F791E819}"/>
              </a:ext>
            </a:extLst>
          </p:cNvPr>
          <p:cNvSpPr>
            <a:spLocks xmlns:a="http://schemas.openxmlformats.org/drawingml/2006/main" noGrp="1"/>
          </p:cNvSpPr>
          <p:nvPr/>
        </p:nvSpPr>
        <p:spPr>
          <a:xfrm xmlns:a="http://schemas.openxmlformats.org/drawingml/2006/main">
            <a:off x="895350" y="64389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6" name="body-paragraph">
            <a:extLst xmlns:a="http://schemas.openxmlformats.org/drawingml/2006/main">
              <a:ext uri="{FF2B5EF4-FFF2-40B4-BE49-F238E27FC236}">
                <a16:creationId xmlns:a16="http://schemas.microsoft.com/office/drawing/2014/main" id="{EE96E0DD-9B97-47F2-9D4A-E1373A6588FE}"/>
              </a:ext>
            </a:extLst>
          </p:cNvPr>
          <p:cNvSpPr>
            <a:spLocks xmlns:a="http://schemas.openxmlformats.org/drawingml/2006/main" noGrp="1"/>
          </p:cNvSpPr>
          <p:nvPr/>
        </p:nvSpPr>
        <p:spPr>
          <a:xfrm xmlns:a="http://schemas.openxmlformats.org/drawingml/2006/main">
            <a:off x="895350" y="7019925"/>
            <a:ext cx="13449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59BC"/>
                </a:solidFill>
                <a:latin typeface="Helvetica Neue"/>
                <a:ea typeface="Helvetica Neue"/>
                <a:cs typeface="Helvetica Neue"/>
              </a:defRPr>
            </a:pPr>
            <a:r>
              <a:rPr sz="1725" b="0">
                <a:solidFill>
                  <a:srgbClr val="1759BC"/>
                </a:solidFill>
                <a:latin typeface="Helvetica Neue"/>
                <a:ea typeface="Helvetica Neue"/>
                <a:cs typeface="Helvetica Neue"/>
              </a:rPr>
              <a:t>Settings and specialist applications stay authorization-scoped; width never grants access.</a:t>
            </a:r>
          </a:p>
        </p:txBody>
      </p:sp>
    </p:spTree>
    <p:extLst>
      <p:ext uri="{BB962C8B-B14F-4D97-AF65-F5344CB8AC3E}">
        <p14:creationId xmlns:p14="http://schemas.microsoft.com/office/powerpoint/2010/main" val="9053624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kicker">
            <a:extLst xmlns:a="http://schemas.openxmlformats.org/drawingml/2006/main">
              <a:ext uri="{FF2B5EF4-FFF2-40B4-BE49-F238E27FC236}">
                <a16:creationId xmlns:a16="http://schemas.microsoft.com/office/drawing/2014/main" id="{4197A1A3-A691-48CB-9763-5AD540E58884}"/>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WORK MODE FAMILIES</a:t>
            </a:r>
          </a:p>
        </p:txBody>
      </p:sp>
      <p:sp>
        <p:nvSpPr>
          <p:cNvPr id="2" name="slide-title">
            <a:extLst xmlns:a="http://schemas.openxmlformats.org/drawingml/2006/main">
              <a:ext uri="{FF2B5EF4-FFF2-40B4-BE49-F238E27FC236}">
                <a16:creationId xmlns:a16="http://schemas.microsoft.com/office/drawing/2014/main" id="{89F85CDE-529A-45C5-B8D7-25D20C504777}"/>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Simplify working modes without breaking routes</a:t>
            </a:r>
          </a:p>
        </p:txBody>
      </p:sp>
      <p:sp>
        <p:nvSpPr>
          <p:cNvPr id="3" name="structural-divider">
            <a:extLst xmlns:a="http://schemas.openxmlformats.org/drawingml/2006/main">
              <a:ext uri="{FF2B5EF4-FFF2-40B4-BE49-F238E27FC236}">
                <a16:creationId xmlns:a16="http://schemas.microsoft.com/office/drawing/2014/main" id="{D0BC656C-2BA7-4125-B608-5C352FFF89DB}"/>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AE7E795-74FF-46D9-88D7-0D05C82FE737}"/>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94169784-A8A1-4C70-8D8F-9D24782A8093}"/>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08</a:t>
            </a:r>
          </a:p>
        </p:txBody>
      </p:sp>
      <p:sp>
        <p:nvSpPr>
          <p:cNvPr id="6" name="body-paragraph">
            <a:extLst xmlns:a="http://schemas.openxmlformats.org/drawingml/2006/main">
              <a:ext uri="{FF2B5EF4-FFF2-40B4-BE49-F238E27FC236}">
                <a16:creationId xmlns:a16="http://schemas.microsoft.com/office/drawing/2014/main" id="{1666C094-5C90-42C7-A585-115AC2CF1F12}"/>
              </a:ext>
            </a:extLst>
          </p:cNvPr>
          <p:cNvSpPr>
            <a:spLocks xmlns:a="http://schemas.openxmlformats.org/drawingml/2006/main" noGrp="1"/>
          </p:cNvSpPr>
          <p:nvPr/>
        </p:nvSpPr>
        <p:spPr>
          <a:xfrm xmlns:a="http://schemas.openxmlformats.org/drawingml/2006/main">
            <a:off x="895350" y="2219325"/>
            <a:ext cx="12573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0">
                <a:solidFill>
                  <a:srgbClr val="17191C"/>
                </a:solidFill>
                <a:latin typeface="Helvetica Neue"/>
                <a:ea typeface="Helvetica Neue"/>
                <a:cs typeface="Helvetica Neue"/>
              </a:defRPr>
            </a:pPr>
            <a:r>
              <a:rPr sz="2100" b="0">
                <a:solidFill>
                  <a:srgbClr val="17191C"/>
                </a:solidFill>
                <a:latin typeface="Helvetica Neue"/>
                <a:ea typeface="Helvetica Neue"/>
                <a:cs typeface="Helvetica Neue"/>
              </a:rPr>
              <a:t>Three recognizable families reduce decision fatigue while preserving every existing lens, deep link, and saved creative decision.</a:t>
            </a:r>
          </a:p>
        </p:txBody>
      </p:sp>
      <p:sp>
        <p:nvSpPr>
          <p:cNvPr id="7" name="column-label">
            <a:extLst xmlns:a="http://schemas.openxmlformats.org/drawingml/2006/main">
              <a:ext uri="{FF2B5EF4-FFF2-40B4-BE49-F238E27FC236}">
                <a16:creationId xmlns:a16="http://schemas.microsoft.com/office/drawing/2014/main" id="{896D53BE-6F78-475C-8B96-2192A1F29AA6}"/>
              </a:ext>
            </a:extLst>
          </p:cNvPr>
          <p:cNvSpPr>
            <a:spLocks xmlns:a="http://schemas.openxmlformats.org/drawingml/2006/main" noGrp="1"/>
          </p:cNvSpPr>
          <p:nvPr/>
        </p:nvSpPr>
        <p:spPr>
          <a:xfrm xmlns:a="http://schemas.openxmlformats.org/drawingml/2006/main">
            <a:off x="895350" y="3514725"/>
            <a:ext cx="3886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FAMILY 01</a:t>
            </a:r>
          </a:p>
        </p:txBody>
      </p:sp>
      <p:sp>
        <p:nvSpPr>
          <p:cNvPr id="8" name="column-heading">
            <a:extLst xmlns:a="http://schemas.openxmlformats.org/drawingml/2006/main">
              <a:ext uri="{FF2B5EF4-FFF2-40B4-BE49-F238E27FC236}">
                <a16:creationId xmlns:a16="http://schemas.microsoft.com/office/drawing/2014/main" id="{C101B38A-C8BE-47C8-AA84-FB19D136DC26}"/>
              </a:ext>
            </a:extLst>
          </p:cNvPr>
          <p:cNvSpPr>
            <a:spLocks xmlns:a="http://schemas.openxmlformats.org/drawingml/2006/main" noGrp="1"/>
          </p:cNvSpPr>
          <p:nvPr/>
        </p:nvSpPr>
        <p:spPr>
          <a:xfrm xmlns:a="http://schemas.openxmlformats.org/drawingml/2006/main">
            <a:off x="895350" y="4000500"/>
            <a:ext cx="388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17191C"/>
                </a:solidFill>
                <a:latin typeface="Helvetica Neue"/>
                <a:ea typeface="Helvetica Neue"/>
                <a:cs typeface="Helvetica Neue"/>
              </a:defRPr>
            </a:pPr>
            <a:r>
              <a:rPr sz="2625" b="1">
                <a:solidFill>
                  <a:srgbClr val="17191C"/>
                </a:solidFill>
                <a:latin typeface="Helvetica Neue"/>
                <a:ea typeface="Helvetica Neue"/>
                <a:cs typeface="Helvetica Neue"/>
              </a:rPr>
              <a:t>Write</a:t>
            </a:r>
          </a:p>
        </p:txBody>
      </p:sp>
      <p:sp>
        <p:nvSpPr>
          <p:cNvPr id="9" name="column-body">
            <a:extLst xmlns:a="http://schemas.openxmlformats.org/drawingml/2006/main">
              <a:ext uri="{FF2B5EF4-FFF2-40B4-BE49-F238E27FC236}">
                <a16:creationId xmlns:a16="http://schemas.microsoft.com/office/drawing/2014/main" id="{58EA9516-36DC-46D9-8D6F-BC3C28781696}"/>
              </a:ext>
            </a:extLst>
          </p:cNvPr>
          <p:cNvSpPr>
            <a:spLocks xmlns:a="http://schemas.openxmlformats.org/drawingml/2006/main" noGrp="1"/>
          </p:cNvSpPr>
          <p:nvPr/>
        </p:nvSpPr>
        <p:spPr>
          <a:xfrm xmlns:a="http://schemas.openxmlformats.org/drawingml/2006/main">
            <a:off x="895350" y="4591050"/>
            <a:ext cx="38862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Document</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Guided brief</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Chat</a:t>
            </a:r>
          </a:p>
          <a:p xmlns:a="http://schemas.openxmlformats.org/drawingml/2006/main">
            <a:r>
              <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Author, clarify, and direct the same durable creative plan.</a:t>
            </a:r>
          </a:p>
        </p:txBody>
      </p:sp>
      <p:sp>
        <p:nvSpPr>
          <p:cNvPr id="10" name="column-label">
            <a:extLst xmlns:a="http://schemas.openxmlformats.org/drawingml/2006/main">
              <a:ext uri="{FF2B5EF4-FFF2-40B4-BE49-F238E27FC236}">
                <a16:creationId xmlns:a16="http://schemas.microsoft.com/office/drawing/2014/main" id="{AEC27D18-79D5-485E-A097-E6135AE8D7ED}"/>
              </a:ext>
            </a:extLst>
          </p:cNvPr>
          <p:cNvSpPr>
            <a:spLocks xmlns:a="http://schemas.openxmlformats.org/drawingml/2006/main" noGrp="1"/>
          </p:cNvSpPr>
          <p:nvPr/>
        </p:nvSpPr>
        <p:spPr>
          <a:xfrm xmlns:a="http://schemas.openxmlformats.org/drawingml/2006/main">
            <a:off x="5676900" y="3514725"/>
            <a:ext cx="3886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FAMILY 02</a:t>
            </a:r>
          </a:p>
        </p:txBody>
      </p:sp>
      <p:sp>
        <p:nvSpPr>
          <p:cNvPr id="11" name="column-heading">
            <a:extLst xmlns:a="http://schemas.openxmlformats.org/drawingml/2006/main">
              <a:ext uri="{FF2B5EF4-FFF2-40B4-BE49-F238E27FC236}">
                <a16:creationId xmlns:a16="http://schemas.microsoft.com/office/drawing/2014/main" id="{B380E338-42C9-42E4-A075-DA1C989CF3A2}"/>
              </a:ext>
            </a:extLst>
          </p:cNvPr>
          <p:cNvSpPr>
            <a:spLocks xmlns:a="http://schemas.openxmlformats.org/drawingml/2006/main" noGrp="1"/>
          </p:cNvSpPr>
          <p:nvPr/>
        </p:nvSpPr>
        <p:spPr>
          <a:xfrm xmlns:a="http://schemas.openxmlformats.org/drawingml/2006/main">
            <a:off x="5676900" y="4000500"/>
            <a:ext cx="388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17191C"/>
                </a:solidFill>
                <a:latin typeface="Helvetica Neue"/>
                <a:ea typeface="Helvetica Neue"/>
                <a:cs typeface="Helvetica Neue"/>
              </a:defRPr>
            </a:pPr>
            <a:r>
              <a:rPr sz="2625" b="1">
                <a:solidFill>
                  <a:srgbClr val="17191C"/>
                </a:solidFill>
                <a:latin typeface="Helvetica Neue"/>
                <a:ea typeface="Helvetica Neue"/>
                <a:cs typeface="Helvetica Neue"/>
              </a:rPr>
              <a:t>Shape</a:t>
            </a:r>
          </a:p>
        </p:txBody>
      </p:sp>
      <p:sp>
        <p:nvSpPr>
          <p:cNvPr id="12" name="column-body">
            <a:extLst xmlns:a="http://schemas.openxmlformats.org/drawingml/2006/main">
              <a:ext uri="{FF2B5EF4-FFF2-40B4-BE49-F238E27FC236}">
                <a16:creationId xmlns:a16="http://schemas.microsoft.com/office/drawing/2014/main" id="{6F38CFF5-4D94-42EF-B100-3C8FCCBB1E41}"/>
              </a:ext>
            </a:extLst>
          </p:cNvPr>
          <p:cNvSpPr>
            <a:spLocks xmlns:a="http://schemas.openxmlformats.org/drawingml/2006/main" noGrp="1"/>
          </p:cNvSpPr>
          <p:nvPr/>
        </p:nvSpPr>
        <p:spPr>
          <a:xfrm xmlns:a="http://schemas.openxmlformats.org/drawingml/2006/main">
            <a:off x="5676900" y="4591050"/>
            <a:ext cx="3886200" cy="2752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Context board</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Reality layers</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Adaptive path</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Creative editor</a:t>
            </a:r>
          </a:p>
          <a:p xmlns:a="http://schemas.openxmlformats.org/drawingml/2006/main">
            <a:r>
              <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Reorganize decisions and refine the active creative result.</a:t>
            </a:r>
          </a:p>
        </p:txBody>
      </p:sp>
      <p:sp>
        <p:nvSpPr>
          <p:cNvPr id="13" name="column-label">
            <a:extLst xmlns:a="http://schemas.openxmlformats.org/drawingml/2006/main">
              <a:ext uri="{FF2B5EF4-FFF2-40B4-BE49-F238E27FC236}">
                <a16:creationId xmlns:a16="http://schemas.microsoft.com/office/drawing/2014/main" id="{19DE9DB0-05EE-4063-B623-E44295DC5DFA}"/>
              </a:ext>
            </a:extLst>
          </p:cNvPr>
          <p:cNvSpPr>
            <a:spLocks xmlns:a="http://schemas.openxmlformats.org/drawingml/2006/main" noGrp="1"/>
          </p:cNvSpPr>
          <p:nvPr/>
        </p:nvSpPr>
        <p:spPr>
          <a:xfrm xmlns:a="http://schemas.openxmlformats.org/drawingml/2006/main">
            <a:off x="10458450" y="3514725"/>
            <a:ext cx="3886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FAMILY 03</a:t>
            </a:r>
          </a:p>
        </p:txBody>
      </p:sp>
      <p:sp>
        <p:nvSpPr>
          <p:cNvPr id="14" name="column-heading">
            <a:extLst xmlns:a="http://schemas.openxmlformats.org/drawingml/2006/main">
              <a:ext uri="{FF2B5EF4-FFF2-40B4-BE49-F238E27FC236}">
                <a16:creationId xmlns:a16="http://schemas.microsoft.com/office/drawing/2014/main" id="{58548873-95A1-4FB3-AAFB-A37CFF9EA3BA}"/>
              </a:ext>
            </a:extLst>
          </p:cNvPr>
          <p:cNvSpPr>
            <a:spLocks xmlns:a="http://schemas.openxmlformats.org/drawingml/2006/main" noGrp="1"/>
          </p:cNvSpPr>
          <p:nvPr/>
        </p:nvSpPr>
        <p:spPr>
          <a:xfrm xmlns:a="http://schemas.openxmlformats.org/drawingml/2006/main">
            <a:off x="10458450" y="4000500"/>
            <a:ext cx="3886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1">
                <a:solidFill>
                  <a:srgbClr val="17191C"/>
                </a:solidFill>
                <a:latin typeface="Helvetica Neue"/>
                <a:ea typeface="Helvetica Neue"/>
                <a:cs typeface="Helvetica Neue"/>
              </a:defRPr>
            </a:pPr>
            <a:r>
              <a:rPr sz="2625" b="1">
                <a:solidFill>
                  <a:srgbClr val="17191C"/>
                </a:solidFill>
                <a:latin typeface="Helvetica Neue"/>
                <a:ea typeface="Helvetica Neue"/>
                <a:cs typeface="Helvetica Neue"/>
              </a:rPr>
              <a:t>Present</a:t>
            </a:r>
          </a:p>
        </p:txBody>
      </p:sp>
      <p:sp>
        <p:nvSpPr>
          <p:cNvPr id="15" name="column-body">
            <a:extLst xmlns:a="http://schemas.openxmlformats.org/drawingml/2006/main">
              <a:ext uri="{FF2B5EF4-FFF2-40B4-BE49-F238E27FC236}">
                <a16:creationId xmlns:a16="http://schemas.microsoft.com/office/drawing/2014/main" id="{53C6D664-A355-4E64-A549-8A7C9AACBCED}"/>
              </a:ext>
            </a:extLst>
          </p:cNvPr>
          <p:cNvSpPr>
            <a:spLocks xmlns:a="http://schemas.openxmlformats.org/drawingml/2006/main" noGrp="1"/>
          </p:cNvSpPr>
          <p:nvPr/>
        </p:nvSpPr>
        <p:spPr>
          <a:xfrm xmlns:a="http://schemas.openxmlformats.org/drawingml/2006/main">
            <a:off x="10458450" y="4591050"/>
            <a:ext cx="3886200" cy="2562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Review output</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Compare versions</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Approve + deliver</a:t>
            </a:r>
          </a:p>
          <a:p xmlns:a="http://schemas.openxmlformats.org/drawingml/2006/main">
            <a:r>
              <a:t/>
            </a:r>
          </a:p>
          <a:p xmlns:a="http://schemas.openxmlformats.org/drawingml/2006/main">
            <a:pPr algn="l">
              <a:lnSpc>
                <a:spcPct val="116000"/>
              </a:lnSpc>
              <a:buNone/>
              <a:defRPr sz="1800" b="0">
                <a:solidFill>
                  <a:srgbClr val="606771"/>
                </a:solidFill>
                <a:latin typeface="Helvetica Neue"/>
                <a:ea typeface="Helvetica Neue"/>
                <a:cs typeface="Helvetica Neue"/>
              </a:defRPr>
            </a:pPr>
            <a:r>
              <a:rPr sz="1800" b="0">
                <a:solidFill>
                  <a:srgbClr val="606771"/>
                </a:solidFill>
                <a:latin typeface="Helvetica Neue"/>
                <a:ea typeface="Helvetica Neue"/>
                <a:cs typeface="Helvetica Neue"/>
              </a:rPr>
              <a:t>Inspect the selected result without inventing an eighth legacy lens.</a:t>
            </a:r>
          </a:p>
        </p:txBody>
      </p:sp>
      <p:sp>
        <p:nvSpPr>
          <p:cNvPr id="16" name="body-paragraph">
            <a:extLst xmlns:a="http://schemas.openxmlformats.org/drawingml/2006/main">
              <a:ext uri="{FF2B5EF4-FFF2-40B4-BE49-F238E27FC236}">
                <a16:creationId xmlns:a16="http://schemas.microsoft.com/office/drawing/2014/main" id="{B9FC1CA2-48F8-4127-89C2-6C013910882E}"/>
              </a:ext>
            </a:extLst>
          </p:cNvPr>
          <p:cNvSpPr>
            <a:spLocks xmlns:a="http://schemas.openxmlformats.org/drawingml/2006/main" noGrp="1"/>
          </p:cNvSpPr>
          <p:nvPr/>
        </p:nvSpPr>
        <p:spPr>
          <a:xfrm xmlns:a="http://schemas.openxmlformats.org/drawingml/2006/main">
            <a:off x="895350" y="7410450"/>
            <a:ext cx="13449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Preserved routes: document · board · guided · layers · adaptive · editor · chat</a:t>
            </a:r>
          </a:p>
        </p:txBody>
      </p:sp>
    </p:spTree>
    <p:extLst>
      <p:ext uri="{BB962C8B-B14F-4D97-AF65-F5344CB8AC3E}">
        <p14:creationId xmlns:p14="http://schemas.microsoft.com/office/powerpoint/2010/main" val="8672907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kicker">
            <a:extLst xmlns:a="http://schemas.openxmlformats.org/drawingml/2006/main">
              <a:ext uri="{FF2B5EF4-FFF2-40B4-BE49-F238E27FC236}">
                <a16:creationId xmlns:a16="http://schemas.microsoft.com/office/drawing/2014/main" id="{9B6B508E-EDC1-4296-AAEA-32BD5FCD00FD}"/>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ADAPTIVE POSTURE MODEL</a:t>
            </a:r>
          </a:p>
        </p:txBody>
      </p:sp>
      <p:sp>
        <p:nvSpPr>
          <p:cNvPr id="2" name="slide-title">
            <a:extLst xmlns:a="http://schemas.openxmlformats.org/drawingml/2006/main">
              <a:ext uri="{FF2B5EF4-FFF2-40B4-BE49-F238E27FC236}">
                <a16:creationId xmlns:a16="http://schemas.microsoft.com/office/drawing/2014/main" id="{6C60572F-9005-466A-9E82-E2C2EC961332}"/>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Design for six postures, not four devices</a:t>
            </a:r>
          </a:p>
        </p:txBody>
      </p:sp>
      <p:sp>
        <p:nvSpPr>
          <p:cNvPr id="3" name="structural-divider">
            <a:extLst xmlns:a="http://schemas.openxmlformats.org/drawingml/2006/main">
              <a:ext uri="{FF2B5EF4-FFF2-40B4-BE49-F238E27FC236}">
                <a16:creationId xmlns:a16="http://schemas.microsoft.com/office/drawing/2014/main" id="{D3477035-8B5E-4EFE-BF07-CED75BAB40A4}"/>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7265FA35-40DE-4B0F-8FA2-C949768EBE3F}"/>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211FBEE4-4E29-43C9-AE4C-5CCC231BDEC4}"/>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09</a:t>
            </a:r>
          </a:p>
        </p:txBody>
      </p:sp>
      <p:sp>
        <p:nvSpPr>
          <p:cNvPr id="6" name="column-label">
            <a:extLst xmlns:a="http://schemas.openxmlformats.org/drawingml/2006/main">
              <a:ext uri="{FF2B5EF4-FFF2-40B4-BE49-F238E27FC236}">
                <a16:creationId xmlns:a16="http://schemas.microsoft.com/office/drawing/2014/main" id="{DF27C94C-E741-4DC4-BDE6-BF7987CBA782}"/>
              </a:ext>
            </a:extLst>
          </p:cNvPr>
          <p:cNvSpPr>
            <a:spLocks xmlns:a="http://schemas.openxmlformats.org/drawingml/2006/main" noGrp="1"/>
          </p:cNvSpPr>
          <p:nvPr/>
        </p:nvSpPr>
        <p:spPr>
          <a:xfrm xmlns:a="http://schemas.openxmlformats.org/drawingml/2006/main">
            <a:off x="895350" y="2343150"/>
            <a:ext cx="40290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01 · PHONE PORTRAIT</a:t>
            </a:r>
          </a:p>
        </p:txBody>
      </p:sp>
      <p:sp>
        <p:nvSpPr>
          <p:cNvPr id="7" name="column-heading">
            <a:extLst xmlns:a="http://schemas.openxmlformats.org/drawingml/2006/main">
              <a:ext uri="{FF2B5EF4-FFF2-40B4-BE49-F238E27FC236}">
                <a16:creationId xmlns:a16="http://schemas.microsoft.com/office/drawing/2014/main" id="{4D64865A-70E3-46BE-A477-45F94A651FF6}"/>
              </a:ext>
            </a:extLst>
          </p:cNvPr>
          <p:cNvSpPr>
            <a:spLocks xmlns:a="http://schemas.openxmlformats.org/drawingml/2006/main" noGrp="1"/>
          </p:cNvSpPr>
          <p:nvPr/>
        </p:nvSpPr>
        <p:spPr>
          <a:xfrm xmlns:a="http://schemas.openxmlformats.org/drawingml/2006/main">
            <a:off x="895350" y="2828925"/>
            <a:ext cx="40290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7191C"/>
                </a:solidFill>
                <a:latin typeface="Helvetica Neue"/>
                <a:ea typeface="Helvetica Neue"/>
                <a:cs typeface="Helvetica Neue"/>
              </a:defRPr>
            </a:pPr>
            <a:r>
              <a:rPr sz="2475" b="1">
                <a:solidFill>
                  <a:srgbClr val="17191C"/>
                </a:solidFill>
                <a:latin typeface="Helvetica Neue"/>
                <a:ea typeface="Helvetica Neue"/>
                <a:cs typeface="Helvetica Neue"/>
              </a:rPr>
              <a:t>Immediate progress</a:t>
            </a:r>
          </a:p>
        </p:txBody>
      </p:sp>
      <p:sp>
        <p:nvSpPr>
          <p:cNvPr id="8" name="column-body">
            <a:extLst xmlns:a="http://schemas.openxmlformats.org/drawingml/2006/main">
              <a:ext uri="{FF2B5EF4-FFF2-40B4-BE49-F238E27FC236}">
                <a16:creationId xmlns:a16="http://schemas.microsoft.com/office/drawing/2014/main" id="{F7F22906-6F63-432A-A946-5E3657084E19}"/>
              </a:ext>
            </a:extLst>
          </p:cNvPr>
          <p:cNvSpPr>
            <a:spLocks xmlns:a="http://schemas.openxmlformats.org/drawingml/2006/main" noGrp="1"/>
          </p:cNvSpPr>
          <p:nvPr/>
        </p:nvSpPr>
        <p:spPr>
          <a:xfrm xmlns:a="http://schemas.openxmlformats.org/drawingml/2006/main">
            <a:off x="895350" y="3390900"/>
            <a:ext cx="40290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Resume, next decision, one-thumb action, visible assistant, review badge.</a:t>
            </a:r>
          </a:p>
        </p:txBody>
      </p:sp>
      <p:sp>
        <p:nvSpPr>
          <p:cNvPr id="9" name="column-label">
            <a:extLst xmlns:a="http://schemas.openxmlformats.org/drawingml/2006/main">
              <a:ext uri="{FF2B5EF4-FFF2-40B4-BE49-F238E27FC236}">
                <a16:creationId xmlns:a16="http://schemas.microsoft.com/office/drawing/2014/main" id="{D2BDDC47-F4F3-41D3-ACBD-06BC3C8098F3}"/>
              </a:ext>
            </a:extLst>
          </p:cNvPr>
          <p:cNvSpPr>
            <a:spLocks xmlns:a="http://schemas.openxmlformats.org/drawingml/2006/main" noGrp="1"/>
          </p:cNvSpPr>
          <p:nvPr/>
        </p:nvSpPr>
        <p:spPr>
          <a:xfrm xmlns:a="http://schemas.openxmlformats.org/drawingml/2006/main">
            <a:off x="5600700" y="2343150"/>
            <a:ext cx="40290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02 · PHONE LANDSCAPE</a:t>
            </a:r>
          </a:p>
        </p:txBody>
      </p:sp>
      <p:sp>
        <p:nvSpPr>
          <p:cNvPr id="10" name="column-heading">
            <a:extLst xmlns:a="http://schemas.openxmlformats.org/drawingml/2006/main">
              <a:ext uri="{FF2B5EF4-FFF2-40B4-BE49-F238E27FC236}">
                <a16:creationId xmlns:a16="http://schemas.microsoft.com/office/drawing/2014/main" id="{4E546534-2F29-4244-83B8-AD629C1A3257}"/>
              </a:ext>
            </a:extLst>
          </p:cNvPr>
          <p:cNvSpPr>
            <a:spLocks xmlns:a="http://schemas.openxmlformats.org/drawingml/2006/main" noGrp="1"/>
          </p:cNvSpPr>
          <p:nvPr/>
        </p:nvSpPr>
        <p:spPr>
          <a:xfrm xmlns:a="http://schemas.openxmlformats.org/drawingml/2006/main">
            <a:off x="5600700" y="2828925"/>
            <a:ext cx="40290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7191C"/>
                </a:solidFill>
                <a:latin typeface="Helvetica Neue"/>
                <a:ea typeface="Helvetica Neue"/>
                <a:cs typeface="Helvetica Neue"/>
              </a:defRPr>
            </a:pPr>
            <a:r>
              <a:rPr sz="2475" b="1">
                <a:solidFill>
                  <a:srgbClr val="17191C"/>
                </a:solidFill>
                <a:latin typeface="Helvetica Neue"/>
                <a:ea typeface="Helvetica Neue"/>
                <a:cs typeface="Helvetica Neue"/>
              </a:rPr>
              <a:t>Short-height focus</a:t>
            </a:r>
          </a:p>
        </p:txBody>
      </p:sp>
      <p:sp>
        <p:nvSpPr>
          <p:cNvPr id="11" name="column-body">
            <a:extLst xmlns:a="http://schemas.openxmlformats.org/drawingml/2006/main">
              <a:ext uri="{FF2B5EF4-FFF2-40B4-BE49-F238E27FC236}">
                <a16:creationId xmlns:a16="http://schemas.microsoft.com/office/drawing/2014/main" id="{F45160AB-9BE3-4B74-9FFB-F928DFD2F134}"/>
              </a:ext>
            </a:extLst>
          </p:cNvPr>
          <p:cNvSpPr>
            <a:spLocks xmlns:a="http://schemas.openxmlformats.org/drawingml/2006/main" noGrp="1"/>
          </p:cNvSpPr>
          <p:nvPr/>
        </p:nvSpPr>
        <p:spPr>
          <a:xfrm xmlns:a="http://schemas.openxmlformats.org/drawingml/2006/main">
            <a:off x="5600700" y="3390900"/>
            <a:ext cx="40290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Compact chrome, keyboard-aware controls, optional side-by-side context.</a:t>
            </a:r>
          </a:p>
        </p:txBody>
      </p:sp>
      <p:sp>
        <p:nvSpPr>
          <p:cNvPr id="12" name="column-label">
            <a:extLst xmlns:a="http://schemas.openxmlformats.org/drawingml/2006/main">
              <a:ext uri="{FF2B5EF4-FFF2-40B4-BE49-F238E27FC236}">
                <a16:creationId xmlns:a16="http://schemas.microsoft.com/office/drawing/2014/main" id="{A57020BA-9BCA-4E5E-B22D-63831A9485DC}"/>
              </a:ext>
            </a:extLst>
          </p:cNvPr>
          <p:cNvSpPr>
            <a:spLocks xmlns:a="http://schemas.openxmlformats.org/drawingml/2006/main" noGrp="1"/>
          </p:cNvSpPr>
          <p:nvPr/>
        </p:nvSpPr>
        <p:spPr>
          <a:xfrm xmlns:a="http://schemas.openxmlformats.org/drawingml/2006/main">
            <a:off x="10306050" y="2343150"/>
            <a:ext cx="40290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03 · TABLET PORTRAIT</a:t>
            </a:r>
          </a:p>
        </p:txBody>
      </p:sp>
      <p:sp>
        <p:nvSpPr>
          <p:cNvPr id="13" name="column-heading">
            <a:extLst xmlns:a="http://schemas.openxmlformats.org/drawingml/2006/main">
              <a:ext uri="{FF2B5EF4-FFF2-40B4-BE49-F238E27FC236}">
                <a16:creationId xmlns:a16="http://schemas.microsoft.com/office/drawing/2014/main" id="{08B2804E-49E7-4292-B8A7-5A315D29516E}"/>
              </a:ext>
            </a:extLst>
          </p:cNvPr>
          <p:cNvSpPr>
            <a:spLocks xmlns:a="http://schemas.openxmlformats.org/drawingml/2006/main" noGrp="1"/>
          </p:cNvSpPr>
          <p:nvPr/>
        </p:nvSpPr>
        <p:spPr>
          <a:xfrm xmlns:a="http://schemas.openxmlformats.org/drawingml/2006/main">
            <a:off x="10306050" y="2828925"/>
            <a:ext cx="40290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7191C"/>
                </a:solidFill>
                <a:latin typeface="Helvetica Neue"/>
                <a:ea typeface="Helvetica Neue"/>
                <a:cs typeface="Helvetica Neue"/>
              </a:defRPr>
            </a:pPr>
            <a:r>
              <a:rPr sz="2400" b="1">
                <a:solidFill>
                  <a:srgbClr val="17191C"/>
                </a:solidFill>
                <a:latin typeface="Helvetica Neue"/>
                <a:ea typeface="Helvetica Neue"/>
                <a:cs typeface="Helvetica Neue"/>
              </a:rPr>
              <a:t>Leisurely exploration</a:t>
            </a:r>
          </a:p>
        </p:txBody>
      </p:sp>
      <p:sp>
        <p:nvSpPr>
          <p:cNvPr id="14" name="column-body">
            <a:extLst xmlns:a="http://schemas.openxmlformats.org/drawingml/2006/main">
              <a:ext uri="{FF2B5EF4-FFF2-40B4-BE49-F238E27FC236}">
                <a16:creationId xmlns:a16="http://schemas.microsoft.com/office/drawing/2014/main" id="{E3B1B112-922D-4496-B06B-713D84495A73}"/>
              </a:ext>
            </a:extLst>
          </p:cNvPr>
          <p:cNvSpPr>
            <a:spLocks xmlns:a="http://schemas.openxmlformats.org/drawingml/2006/main" noGrp="1"/>
          </p:cNvSpPr>
          <p:nvPr/>
        </p:nvSpPr>
        <p:spPr>
          <a:xfrm xmlns:a="http://schemas.openxmlformats.org/drawingml/2006/main">
            <a:off x="10306050" y="3390900"/>
            <a:ext cx="40290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Object-first reading, touch-ready inspection, one-tap supporting detail.</a:t>
            </a:r>
          </a:p>
        </p:txBody>
      </p:sp>
      <p:sp>
        <p:nvSpPr>
          <p:cNvPr id="15" name="structural-divider">
            <a:extLst xmlns:a="http://schemas.openxmlformats.org/drawingml/2006/main">
              <a:ext uri="{FF2B5EF4-FFF2-40B4-BE49-F238E27FC236}">
                <a16:creationId xmlns:a16="http://schemas.microsoft.com/office/drawing/2014/main" id="{5E7F5E45-7C46-4D38-87DC-A7023AD8EDD3}"/>
              </a:ext>
            </a:extLst>
          </p:cNvPr>
          <p:cNvSpPr>
            <a:spLocks xmlns:a="http://schemas.openxmlformats.org/drawingml/2006/main" noGrp="1"/>
          </p:cNvSpPr>
          <p:nvPr/>
        </p:nvSpPr>
        <p:spPr>
          <a:xfrm xmlns:a="http://schemas.openxmlformats.org/drawingml/2006/main">
            <a:off x="895350" y="46577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6" name="column-label">
            <a:extLst xmlns:a="http://schemas.openxmlformats.org/drawingml/2006/main">
              <a:ext uri="{FF2B5EF4-FFF2-40B4-BE49-F238E27FC236}">
                <a16:creationId xmlns:a16="http://schemas.microsoft.com/office/drawing/2014/main" id="{8EC55A54-10D4-4B6C-94E6-7A86E2CC4BF5}"/>
              </a:ext>
            </a:extLst>
          </p:cNvPr>
          <p:cNvSpPr>
            <a:spLocks xmlns:a="http://schemas.openxmlformats.org/drawingml/2006/main" noGrp="1"/>
          </p:cNvSpPr>
          <p:nvPr/>
        </p:nvSpPr>
        <p:spPr>
          <a:xfrm xmlns:a="http://schemas.openxmlformats.org/drawingml/2006/main">
            <a:off x="895350" y="5029200"/>
            <a:ext cx="40290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04 · TABLET LANDSCAPE</a:t>
            </a:r>
          </a:p>
        </p:txBody>
      </p:sp>
      <p:sp>
        <p:nvSpPr>
          <p:cNvPr id="17" name="column-heading">
            <a:extLst xmlns:a="http://schemas.openxmlformats.org/drawingml/2006/main">
              <a:ext uri="{FF2B5EF4-FFF2-40B4-BE49-F238E27FC236}">
                <a16:creationId xmlns:a16="http://schemas.microsoft.com/office/drawing/2014/main" id="{561FC43C-753E-4F6C-94B0-BE13222AC9EC}"/>
              </a:ext>
            </a:extLst>
          </p:cNvPr>
          <p:cNvSpPr>
            <a:spLocks xmlns:a="http://schemas.openxmlformats.org/drawingml/2006/main" noGrp="1"/>
          </p:cNvSpPr>
          <p:nvPr/>
        </p:nvSpPr>
        <p:spPr>
          <a:xfrm xmlns:a="http://schemas.openxmlformats.org/drawingml/2006/main">
            <a:off x="895350" y="5514975"/>
            <a:ext cx="40290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7191C"/>
                </a:solidFill>
                <a:latin typeface="Helvetica Neue"/>
                <a:ea typeface="Helvetica Neue"/>
                <a:cs typeface="Helvetica Neue"/>
              </a:defRPr>
            </a:pPr>
            <a:r>
              <a:rPr sz="2400" b="1">
                <a:solidFill>
                  <a:srgbClr val="17191C"/>
                </a:solidFill>
                <a:latin typeface="Helvetica Neue"/>
                <a:ea typeface="Helvetica Neue"/>
                <a:cs typeface="Helvetica Neue"/>
              </a:rPr>
              <a:t>Context beside output</a:t>
            </a:r>
          </a:p>
        </p:txBody>
      </p:sp>
      <p:sp>
        <p:nvSpPr>
          <p:cNvPr id="18" name="column-body">
            <a:extLst xmlns:a="http://schemas.openxmlformats.org/drawingml/2006/main">
              <a:ext uri="{FF2B5EF4-FFF2-40B4-BE49-F238E27FC236}">
                <a16:creationId xmlns:a16="http://schemas.microsoft.com/office/drawing/2014/main" id="{55BDB202-ED54-4937-8749-771CEDB7DF59}"/>
              </a:ext>
            </a:extLst>
          </p:cNvPr>
          <p:cNvSpPr>
            <a:spLocks xmlns:a="http://schemas.openxmlformats.org/drawingml/2006/main" noGrp="1"/>
          </p:cNvSpPr>
          <p:nvPr/>
        </p:nvSpPr>
        <p:spPr>
          <a:xfrm xmlns:a="http://schemas.openxmlformats.org/drawingml/2006/main">
            <a:off x="895350" y="6076950"/>
            <a:ext cx="40290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Two useful panes, optional inspector, pinch, stylus, selected-object actions.</a:t>
            </a:r>
          </a:p>
        </p:txBody>
      </p:sp>
      <p:sp>
        <p:nvSpPr>
          <p:cNvPr id="19" name="column-label">
            <a:extLst xmlns:a="http://schemas.openxmlformats.org/drawingml/2006/main">
              <a:ext uri="{FF2B5EF4-FFF2-40B4-BE49-F238E27FC236}">
                <a16:creationId xmlns:a16="http://schemas.microsoft.com/office/drawing/2014/main" id="{0E57849D-4682-4D12-B100-989066DA2A6B}"/>
              </a:ext>
            </a:extLst>
          </p:cNvPr>
          <p:cNvSpPr>
            <a:spLocks xmlns:a="http://schemas.openxmlformats.org/drawingml/2006/main" noGrp="1"/>
          </p:cNvSpPr>
          <p:nvPr/>
        </p:nvSpPr>
        <p:spPr>
          <a:xfrm xmlns:a="http://schemas.openxmlformats.org/drawingml/2006/main">
            <a:off x="5600700" y="5029200"/>
            <a:ext cx="40290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05 · LAPTOP / SPLIT</a:t>
            </a:r>
          </a:p>
        </p:txBody>
      </p:sp>
      <p:sp>
        <p:nvSpPr>
          <p:cNvPr id="20" name="column-heading">
            <a:extLst xmlns:a="http://schemas.openxmlformats.org/drawingml/2006/main">
              <a:ext uri="{FF2B5EF4-FFF2-40B4-BE49-F238E27FC236}">
                <a16:creationId xmlns:a16="http://schemas.microsoft.com/office/drawing/2014/main" id="{8ACF2C3E-D1BC-465F-A7B0-D3E65AF54B63}"/>
              </a:ext>
            </a:extLst>
          </p:cNvPr>
          <p:cNvSpPr>
            <a:spLocks xmlns:a="http://schemas.openxmlformats.org/drawingml/2006/main" noGrp="1"/>
          </p:cNvSpPr>
          <p:nvPr/>
        </p:nvSpPr>
        <p:spPr>
          <a:xfrm xmlns:a="http://schemas.openxmlformats.org/drawingml/2006/main">
            <a:off x="5600700" y="5514975"/>
            <a:ext cx="40290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7191C"/>
                </a:solidFill>
                <a:latin typeface="Helvetica Neue"/>
                <a:ea typeface="Helvetica Neue"/>
                <a:cs typeface="Helvetica Neue"/>
              </a:defRPr>
            </a:pPr>
            <a:r>
              <a:rPr sz="2400" b="1">
                <a:solidFill>
                  <a:srgbClr val="17191C"/>
                </a:solidFill>
                <a:latin typeface="Helvetica Neue"/>
                <a:ea typeface="Helvetica Neue"/>
                <a:cs typeface="Helvetica Neue"/>
              </a:rPr>
              <a:t>Concentrated delivery</a:t>
            </a:r>
          </a:p>
        </p:txBody>
      </p:sp>
      <p:sp>
        <p:nvSpPr>
          <p:cNvPr id="21" name="column-body">
            <a:extLst xmlns:a="http://schemas.openxmlformats.org/drawingml/2006/main">
              <a:ext uri="{FF2B5EF4-FFF2-40B4-BE49-F238E27FC236}">
                <a16:creationId xmlns:a16="http://schemas.microsoft.com/office/drawing/2014/main" id="{A5B64564-9EEF-4B79-9659-79D0168894D6}"/>
              </a:ext>
            </a:extLst>
          </p:cNvPr>
          <p:cNvSpPr>
            <a:spLocks xmlns:a="http://schemas.openxmlformats.org/drawingml/2006/main" noGrp="1"/>
          </p:cNvSpPr>
          <p:nvPr/>
        </p:nvSpPr>
        <p:spPr>
          <a:xfrm xmlns:a="http://schemas.openxmlformats.org/drawingml/2006/main">
            <a:off x="5600700" y="6076950"/>
            <a:ext cx="40290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Search, keyboard shortcuts, resilient panes, fast project-to-output work.</a:t>
            </a:r>
          </a:p>
        </p:txBody>
      </p:sp>
      <p:sp>
        <p:nvSpPr>
          <p:cNvPr id="22" name="column-label">
            <a:extLst xmlns:a="http://schemas.openxmlformats.org/drawingml/2006/main">
              <a:ext uri="{FF2B5EF4-FFF2-40B4-BE49-F238E27FC236}">
                <a16:creationId xmlns:a16="http://schemas.microsoft.com/office/drawing/2014/main" id="{8B70511C-8CD3-448C-BC8B-21E4C1EDEF66}"/>
              </a:ext>
            </a:extLst>
          </p:cNvPr>
          <p:cNvSpPr>
            <a:spLocks xmlns:a="http://schemas.openxmlformats.org/drawingml/2006/main" noGrp="1"/>
          </p:cNvSpPr>
          <p:nvPr/>
        </p:nvSpPr>
        <p:spPr>
          <a:xfrm xmlns:a="http://schemas.openxmlformats.org/drawingml/2006/main">
            <a:off x="10306050" y="5029200"/>
            <a:ext cx="40290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06 · WIDE WORKBENCH</a:t>
            </a:r>
          </a:p>
        </p:txBody>
      </p:sp>
      <p:sp>
        <p:nvSpPr>
          <p:cNvPr id="23" name="column-heading">
            <a:extLst xmlns:a="http://schemas.openxmlformats.org/drawingml/2006/main">
              <a:ext uri="{FF2B5EF4-FFF2-40B4-BE49-F238E27FC236}">
                <a16:creationId xmlns:a16="http://schemas.microsoft.com/office/drawing/2014/main" id="{652446A3-76A3-4C01-8C86-DC412A76D6AE}"/>
              </a:ext>
            </a:extLst>
          </p:cNvPr>
          <p:cNvSpPr>
            <a:spLocks xmlns:a="http://schemas.openxmlformats.org/drawingml/2006/main" noGrp="1"/>
          </p:cNvSpPr>
          <p:nvPr/>
        </p:nvSpPr>
        <p:spPr>
          <a:xfrm xmlns:a="http://schemas.openxmlformats.org/drawingml/2006/main">
            <a:off x="10306050" y="5514975"/>
            <a:ext cx="40290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7191C"/>
                </a:solidFill>
                <a:latin typeface="Helvetica Neue"/>
                <a:ea typeface="Helvetica Neue"/>
                <a:cs typeface="Helvetica Neue"/>
              </a:defRPr>
            </a:pPr>
            <a:r>
              <a:rPr sz="2400" b="1">
                <a:solidFill>
                  <a:srgbClr val="17191C"/>
                </a:solidFill>
                <a:latin typeface="Helvetica Neue"/>
                <a:ea typeface="Helvetica Neue"/>
                <a:cs typeface="Helvetica Neue"/>
              </a:rPr>
              <a:t>Visible breadth</a:t>
            </a:r>
          </a:p>
        </p:txBody>
      </p:sp>
      <p:sp>
        <p:nvSpPr>
          <p:cNvPr id="24" name="column-body">
            <a:extLst xmlns:a="http://schemas.openxmlformats.org/drawingml/2006/main">
              <a:ext uri="{FF2B5EF4-FFF2-40B4-BE49-F238E27FC236}">
                <a16:creationId xmlns:a16="http://schemas.microsoft.com/office/drawing/2014/main" id="{2AA1F84B-41F3-4D66-B44B-80DE9713753D}"/>
              </a:ext>
            </a:extLst>
          </p:cNvPr>
          <p:cNvSpPr>
            <a:spLocks xmlns:a="http://schemas.openxmlformats.org/drawingml/2006/main" noGrp="1"/>
          </p:cNvSpPr>
          <p:nvPr/>
        </p:nvSpPr>
        <p:spPr>
          <a:xfrm xmlns:a="http://schemas.openxmlformats.org/drawingml/2006/main">
            <a:off x="10306050" y="6076950"/>
            <a:ext cx="40290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Project tree, work, inspector, and activity appear as actual space permits.</a:t>
            </a:r>
          </a:p>
        </p:txBody>
      </p:sp>
    </p:spTree>
    <p:extLst>
      <p:ext uri="{BB962C8B-B14F-4D97-AF65-F5344CB8AC3E}">
        <p14:creationId xmlns:p14="http://schemas.microsoft.com/office/powerpoint/2010/main" val="683118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kicker">
            <a:extLst xmlns:a="http://schemas.openxmlformats.org/drawingml/2006/main">
              <a:ext uri="{FF2B5EF4-FFF2-40B4-BE49-F238E27FC236}">
                <a16:creationId xmlns:a16="http://schemas.microsoft.com/office/drawing/2014/main" id="{1A9D68CE-91B8-4A23-9490-719134B87B63}"/>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SMARTPHONE END-USER BLUEPRINT</a:t>
            </a:r>
          </a:p>
        </p:txBody>
      </p:sp>
      <p:sp>
        <p:nvSpPr>
          <p:cNvPr id="2" name="slide-title">
            <a:extLst xmlns:a="http://schemas.openxmlformats.org/drawingml/2006/main">
              <a:ext uri="{FF2B5EF4-FFF2-40B4-BE49-F238E27FC236}">
                <a16:creationId xmlns:a16="http://schemas.microsoft.com/office/drawing/2014/main" id="{B13A73B8-BB9E-4821-85B4-8BE536024CDC}"/>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On a phone, finish the next meaningful action</a:t>
            </a:r>
          </a:p>
        </p:txBody>
      </p:sp>
      <p:sp>
        <p:nvSpPr>
          <p:cNvPr id="3" name="structural-divider">
            <a:extLst xmlns:a="http://schemas.openxmlformats.org/drawingml/2006/main">
              <a:ext uri="{FF2B5EF4-FFF2-40B4-BE49-F238E27FC236}">
                <a16:creationId xmlns:a16="http://schemas.microsoft.com/office/drawing/2014/main" id="{3ED05DD1-48AC-4257-B88A-5A97DDAFC481}"/>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50E0FD53-3956-4B50-8C39-136FD118909E}"/>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1294C75B-514F-47CB-9298-6C223FF62F82}"/>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10</a:t>
            </a:r>
          </a:p>
        </p:txBody>
      </p:sp>
      <p:sp>
        <p:nvSpPr>
          <p:cNvPr id="6" name="section-heading">
            <a:extLst xmlns:a="http://schemas.openxmlformats.org/drawingml/2006/main">
              <a:ext uri="{FF2B5EF4-FFF2-40B4-BE49-F238E27FC236}">
                <a16:creationId xmlns:a16="http://schemas.microsoft.com/office/drawing/2014/main" id="{C444219F-D0F5-48EB-B2DD-5F14BD11737E}"/>
              </a:ext>
            </a:extLst>
          </p:cNvPr>
          <p:cNvSpPr>
            <a:spLocks xmlns:a="http://schemas.openxmlformats.org/drawingml/2006/main" noGrp="1"/>
          </p:cNvSpPr>
          <p:nvPr/>
        </p:nvSpPr>
        <p:spPr>
          <a:xfrm xmlns:a="http://schemas.openxmlformats.org/drawingml/2006/main">
            <a:off x="895350" y="2333625"/>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Portrait: immediate and complete</a:t>
            </a:r>
          </a:p>
        </p:txBody>
      </p:sp>
      <p:sp>
        <p:nvSpPr>
          <p:cNvPr id="7" name="list-marker">
            <a:extLst xmlns:a="http://schemas.openxmlformats.org/drawingml/2006/main">
              <a:ext uri="{FF2B5EF4-FFF2-40B4-BE49-F238E27FC236}">
                <a16:creationId xmlns:a16="http://schemas.microsoft.com/office/drawing/2014/main" id="{486C2E42-7863-474D-976B-DABBF3F96F2E}"/>
              </a:ext>
            </a:extLst>
          </p:cNvPr>
          <p:cNvSpPr>
            <a:spLocks xmlns:a="http://schemas.openxmlformats.org/drawingml/2006/main" noGrp="1"/>
          </p:cNvSpPr>
          <p:nvPr/>
        </p:nvSpPr>
        <p:spPr>
          <a:xfrm xmlns:a="http://schemas.openxmlformats.org/drawingml/2006/main">
            <a:off x="895350" y="30099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8" name="list-item">
            <a:extLst xmlns:a="http://schemas.openxmlformats.org/drawingml/2006/main">
              <a:ext uri="{FF2B5EF4-FFF2-40B4-BE49-F238E27FC236}">
                <a16:creationId xmlns:a16="http://schemas.microsoft.com/office/drawing/2014/main" id="{49E7FDA5-3282-44DA-AFA8-265B37CE3A5F}"/>
              </a:ext>
            </a:extLst>
          </p:cNvPr>
          <p:cNvSpPr>
            <a:spLocks xmlns:a="http://schemas.openxmlformats.org/drawingml/2006/main" noGrp="1"/>
          </p:cNvSpPr>
          <p:nvPr/>
        </p:nvSpPr>
        <p:spPr>
          <a:xfrm xmlns:a="http://schemas.openxmlformats.org/drawingml/2006/main">
            <a:off x="1295400" y="30099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Project + document identity stay visible.</a:t>
            </a:r>
          </a:p>
        </p:txBody>
      </p:sp>
      <p:sp>
        <p:nvSpPr>
          <p:cNvPr id="9" name="list-marker">
            <a:extLst xmlns:a="http://schemas.openxmlformats.org/drawingml/2006/main">
              <a:ext uri="{FF2B5EF4-FFF2-40B4-BE49-F238E27FC236}">
                <a16:creationId xmlns:a16="http://schemas.microsoft.com/office/drawing/2014/main" id="{AF139857-239C-4365-9D7F-CD0DCBC28B2B}"/>
              </a:ext>
            </a:extLst>
          </p:cNvPr>
          <p:cNvSpPr>
            <a:spLocks xmlns:a="http://schemas.openxmlformats.org/drawingml/2006/main" noGrp="1"/>
          </p:cNvSpPr>
          <p:nvPr/>
        </p:nvSpPr>
        <p:spPr>
          <a:xfrm xmlns:a="http://schemas.openxmlformats.org/drawingml/2006/main">
            <a:off x="895350" y="36576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0" name="list-item">
            <a:extLst xmlns:a="http://schemas.openxmlformats.org/drawingml/2006/main">
              <a:ext uri="{FF2B5EF4-FFF2-40B4-BE49-F238E27FC236}">
                <a16:creationId xmlns:a16="http://schemas.microsoft.com/office/drawing/2014/main" id="{7DE8F63A-3994-4065-ABB9-A404A1EBFEED}"/>
              </a:ext>
            </a:extLst>
          </p:cNvPr>
          <p:cNvSpPr>
            <a:spLocks xmlns:a="http://schemas.openxmlformats.org/drawingml/2006/main" noGrp="1"/>
          </p:cNvSpPr>
          <p:nvPr/>
        </p:nvSpPr>
        <p:spPr>
          <a:xfrm xmlns:a="http://schemas.openxmlformats.org/drawingml/2006/main">
            <a:off x="1295400" y="36576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Resume, search, review, and Ask are reachable.</a:t>
            </a:r>
          </a:p>
        </p:txBody>
      </p:sp>
      <p:sp>
        <p:nvSpPr>
          <p:cNvPr id="11" name="list-marker">
            <a:extLst xmlns:a="http://schemas.openxmlformats.org/drawingml/2006/main">
              <a:ext uri="{FF2B5EF4-FFF2-40B4-BE49-F238E27FC236}">
                <a16:creationId xmlns:a16="http://schemas.microsoft.com/office/drawing/2014/main" id="{65353181-234C-4B54-BE79-FBA97EB5A27F}"/>
              </a:ext>
            </a:extLst>
          </p:cNvPr>
          <p:cNvSpPr>
            <a:spLocks xmlns:a="http://schemas.openxmlformats.org/drawingml/2006/main" noGrp="1"/>
          </p:cNvSpPr>
          <p:nvPr/>
        </p:nvSpPr>
        <p:spPr>
          <a:xfrm xmlns:a="http://schemas.openxmlformats.org/drawingml/2006/main">
            <a:off x="895350" y="43053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2" name="list-item">
            <a:extLst xmlns:a="http://schemas.openxmlformats.org/drawingml/2006/main">
              <a:ext uri="{FF2B5EF4-FFF2-40B4-BE49-F238E27FC236}">
                <a16:creationId xmlns:a16="http://schemas.microsoft.com/office/drawing/2014/main" id="{F9B244B0-3DA4-4F09-AC3B-5366B4DFFB50}"/>
              </a:ext>
            </a:extLst>
          </p:cNvPr>
          <p:cNvSpPr>
            <a:spLocks xmlns:a="http://schemas.openxmlformats.org/drawingml/2006/main" noGrp="1"/>
          </p:cNvSpPr>
          <p:nvPr/>
        </p:nvSpPr>
        <p:spPr>
          <a:xfrm xmlns:a="http://schemas.openxmlformats.org/drawingml/2006/main">
            <a:off x="1295400" y="43053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One dominant work surface; drawers retain depth.</a:t>
            </a:r>
          </a:p>
        </p:txBody>
      </p:sp>
      <p:sp>
        <p:nvSpPr>
          <p:cNvPr id="13" name="list-marker">
            <a:extLst xmlns:a="http://schemas.openxmlformats.org/drawingml/2006/main">
              <a:ext uri="{FF2B5EF4-FFF2-40B4-BE49-F238E27FC236}">
                <a16:creationId xmlns:a16="http://schemas.microsoft.com/office/drawing/2014/main" id="{32951221-CC6E-4E38-8C94-90AE5FB8ECD2}"/>
              </a:ext>
            </a:extLst>
          </p:cNvPr>
          <p:cNvSpPr>
            <a:spLocks xmlns:a="http://schemas.openxmlformats.org/drawingml/2006/main" noGrp="1"/>
          </p:cNvSpPr>
          <p:nvPr/>
        </p:nvSpPr>
        <p:spPr>
          <a:xfrm xmlns:a="http://schemas.openxmlformats.org/drawingml/2006/main">
            <a:off x="895350" y="49530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4" name="list-item">
            <a:extLst xmlns:a="http://schemas.openxmlformats.org/drawingml/2006/main">
              <a:ext uri="{FF2B5EF4-FFF2-40B4-BE49-F238E27FC236}">
                <a16:creationId xmlns:a16="http://schemas.microsoft.com/office/drawing/2014/main" id="{A1518895-0088-42F3-8655-D2A39B725DE9}"/>
              </a:ext>
            </a:extLst>
          </p:cNvPr>
          <p:cNvSpPr>
            <a:spLocks xmlns:a="http://schemas.openxmlformats.org/drawingml/2006/main" noGrp="1"/>
          </p:cNvSpPr>
          <p:nvPr/>
        </p:nvSpPr>
        <p:spPr>
          <a:xfrm xmlns:a="http://schemas.openxmlformats.org/drawingml/2006/main">
            <a:off x="1295400" y="49530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Activity opens the exact output that needs action.</a:t>
            </a:r>
          </a:p>
        </p:txBody>
      </p:sp>
      <p:sp>
        <p:nvSpPr>
          <p:cNvPr id="15" name="list-marker">
            <a:extLst xmlns:a="http://schemas.openxmlformats.org/drawingml/2006/main">
              <a:ext uri="{FF2B5EF4-FFF2-40B4-BE49-F238E27FC236}">
                <a16:creationId xmlns:a16="http://schemas.microsoft.com/office/drawing/2014/main" id="{7416A443-F009-4109-9209-B4EDFD9A1D61}"/>
              </a:ext>
            </a:extLst>
          </p:cNvPr>
          <p:cNvSpPr>
            <a:spLocks xmlns:a="http://schemas.openxmlformats.org/drawingml/2006/main" noGrp="1"/>
          </p:cNvSpPr>
          <p:nvPr/>
        </p:nvSpPr>
        <p:spPr>
          <a:xfrm xmlns:a="http://schemas.openxmlformats.org/drawingml/2006/main">
            <a:off x="895350" y="56007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6" name="list-item">
            <a:extLst xmlns:a="http://schemas.openxmlformats.org/drawingml/2006/main">
              <a:ext uri="{FF2B5EF4-FFF2-40B4-BE49-F238E27FC236}">
                <a16:creationId xmlns:a16="http://schemas.microsoft.com/office/drawing/2014/main" id="{454036F4-C0F1-483B-9C6E-900B3D151B27}"/>
              </a:ext>
            </a:extLst>
          </p:cNvPr>
          <p:cNvSpPr>
            <a:spLocks xmlns:a="http://schemas.openxmlformats.org/drawingml/2006/main" noGrp="1"/>
          </p:cNvSpPr>
          <p:nvPr/>
        </p:nvSpPr>
        <p:spPr>
          <a:xfrm xmlns:a="http://schemas.openxmlformats.org/drawingml/2006/main">
            <a:off x="1295400" y="56007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Composer clears keyboard + safe-area insets.</a:t>
            </a:r>
          </a:p>
        </p:txBody>
      </p:sp>
      <p:sp>
        <p:nvSpPr>
          <p:cNvPr id="17" name="section-heading">
            <a:extLst xmlns:a="http://schemas.openxmlformats.org/drawingml/2006/main">
              <a:ext uri="{FF2B5EF4-FFF2-40B4-BE49-F238E27FC236}">
                <a16:creationId xmlns:a16="http://schemas.microsoft.com/office/drawing/2014/main" id="{A8516CB5-E87A-4D74-AE7B-6AAE449B4E84}"/>
              </a:ext>
            </a:extLst>
          </p:cNvPr>
          <p:cNvSpPr>
            <a:spLocks xmlns:a="http://schemas.openxmlformats.org/drawingml/2006/main" noGrp="1"/>
          </p:cNvSpPr>
          <p:nvPr/>
        </p:nvSpPr>
        <p:spPr>
          <a:xfrm xmlns:a="http://schemas.openxmlformats.org/drawingml/2006/main">
            <a:off x="7858125" y="2333625"/>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Landscape: reclaim scarce height</a:t>
            </a:r>
          </a:p>
        </p:txBody>
      </p:sp>
      <p:sp>
        <p:nvSpPr>
          <p:cNvPr id="18" name="list-marker">
            <a:extLst xmlns:a="http://schemas.openxmlformats.org/drawingml/2006/main">
              <a:ext uri="{FF2B5EF4-FFF2-40B4-BE49-F238E27FC236}">
                <a16:creationId xmlns:a16="http://schemas.microsoft.com/office/drawing/2014/main" id="{4B749546-2DDE-47BC-81B8-ECD035E1FCE6}"/>
              </a:ext>
            </a:extLst>
          </p:cNvPr>
          <p:cNvSpPr>
            <a:spLocks xmlns:a="http://schemas.openxmlformats.org/drawingml/2006/main" noGrp="1"/>
          </p:cNvSpPr>
          <p:nvPr/>
        </p:nvSpPr>
        <p:spPr>
          <a:xfrm xmlns:a="http://schemas.openxmlformats.org/drawingml/2006/main">
            <a:off x="7858125" y="30099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9" name="list-item">
            <a:extLst xmlns:a="http://schemas.openxmlformats.org/drawingml/2006/main">
              <a:ext uri="{FF2B5EF4-FFF2-40B4-BE49-F238E27FC236}">
                <a16:creationId xmlns:a16="http://schemas.microsoft.com/office/drawing/2014/main" id="{97B92CAF-A544-4524-A1F3-8D41F001FD3A}"/>
              </a:ext>
            </a:extLst>
          </p:cNvPr>
          <p:cNvSpPr>
            <a:spLocks xmlns:a="http://schemas.openxmlformats.org/drawingml/2006/main" noGrp="1"/>
          </p:cNvSpPr>
          <p:nvPr/>
        </p:nvSpPr>
        <p:spPr>
          <a:xfrm xmlns:a="http://schemas.openxmlformats.org/drawingml/2006/main">
            <a:off x="8258175" y="30099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Reduce persistent chrome before reducing tools.</a:t>
            </a:r>
          </a:p>
        </p:txBody>
      </p:sp>
      <p:sp>
        <p:nvSpPr>
          <p:cNvPr id="20" name="list-marker">
            <a:extLst xmlns:a="http://schemas.openxmlformats.org/drawingml/2006/main">
              <a:ext uri="{FF2B5EF4-FFF2-40B4-BE49-F238E27FC236}">
                <a16:creationId xmlns:a16="http://schemas.microsoft.com/office/drawing/2014/main" id="{6D637224-905C-4F0A-89CE-86CA93C447DA}"/>
              </a:ext>
            </a:extLst>
          </p:cNvPr>
          <p:cNvSpPr>
            <a:spLocks xmlns:a="http://schemas.openxmlformats.org/drawingml/2006/main" noGrp="1"/>
          </p:cNvSpPr>
          <p:nvPr/>
        </p:nvSpPr>
        <p:spPr>
          <a:xfrm xmlns:a="http://schemas.openxmlformats.org/drawingml/2006/main">
            <a:off x="7858125" y="36576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1" name="list-item">
            <a:extLst xmlns:a="http://schemas.openxmlformats.org/drawingml/2006/main">
              <a:ext uri="{FF2B5EF4-FFF2-40B4-BE49-F238E27FC236}">
                <a16:creationId xmlns:a16="http://schemas.microsoft.com/office/drawing/2014/main" id="{4903F8EC-23CC-4278-AC45-2984FC37D493}"/>
              </a:ext>
            </a:extLst>
          </p:cNvPr>
          <p:cNvSpPr>
            <a:spLocks xmlns:a="http://schemas.openxmlformats.org/drawingml/2006/main" noGrp="1"/>
          </p:cNvSpPr>
          <p:nvPr/>
        </p:nvSpPr>
        <p:spPr>
          <a:xfrm xmlns:a="http://schemas.openxmlformats.org/drawingml/2006/main">
            <a:off x="8258175" y="36576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Pair context + result only when the region fits.</a:t>
            </a:r>
          </a:p>
        </p:txBody>
      </p:sp>
      <p:sp>
        <p:nvSpPr>
          <p:cNvPr id="22" name="list-marker">
            <a:extLst xmlns:a="http://schemas.openxmlformats.org/drawingml/2006/main">
              <a:ext uri="{FF2B5EF4-FFF2-40B4-BE49-F238E27FC236}">
                <a16:creationId xmlns:a16="http://schemas.microsoft.com/office/drawing/2014/main" id="{1A6553F6-2C2C-49A0-A730-05AD37DB4B1B}"/>
              </a:ext>
            </a:extLst>
          </p:cNvPr>
          <p:cNvSpPr>
            <a:spLocks xmlns:a="http://schemas.openxmlformats.org/drawingml/2006/main" noGrp="1"/>
          </p:cNvSpPr>
          <p:nvPr/>
        </p:nvSpPr>
        <p:spPr>
          <a:xfrm xmlns:a="http://schemas.openxmlformats.org/drawingml/2006/main">
            <a:off x="7858125" y="43053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3" name="list-item">
            <a:extLst xmlns:a="http://schemas.openxmlformats.org/drawingml/2006/main">
              <a:ext uri="{FF2B5EF4-FFF2-40B4-BE49-F238E27FC236}">
                <a16:creationId xmlns:a16="http://schemas.microsoft.com/office/drawing/2014/main" id="{9AF591A1-36D2-4D4E-AA7C-10447BB6FFAF}"/>
              </a:ext>
            </a:extLst>
          </p:cNvPr>
          <p:cNvSpPr>
            <a:spLocks xmlns:a="http://schemas.openxmlformats.org/drawingml/2006/main" noGrp="1"/>
          </p:cNvSpPr>
          <p:nvPr/>
        </p:nvSpPr>
        <p:spPr>
          <a:xfrm xmlns:a="http://schemas.openxmlformats.org/drawingml/2006/main">
            <a:off x="8258175" y="43053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Keep the focused object and submitter visible.</a:t>
            </a:r>
          </a:p>
        </p:txBody>
      </p:sp>
      <p:sp>
        <p:nvSpPr>
          <p:cNvPr id="24" name="list-marker">
            <a:extLst xmlns:a="http://schemas.openxmlformats.org/drawingml/2006/main">
              <a:ext uri="{FF2B5EF4-FFF2-40B4-BE49-F238E27FC236}">
                <a16:creationId xmlns:a16="http://schemas.microsoft.com/office/drawing/2014/main" id="{6D1A1646-CA57-48EF-B698-0781F903453D}"/>
              </a:ext>
            </a:extLst>
          </p:cNvPr>
          <p:cNvSpPr>
            <a:spLocks xmlns:a="http://schemas.openxmlformats.org/drawingml/2006/main" noGrp="1"/>
          </p:cNvSpPr>
          <p:nvPr/>
        </p:nvSpPr>
        <p:spPr>
          <a:xfrm xmlns:a="http://schemas.openxmlformats.org/drawingml/2006/main">
            <a:off x="7858125" y="49530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5" name="list-item">
            <a:extLst xmlns:a="http://schemas.openxmlformats.org/drawingml/2006/main">
              <a:ext uri="{FF2B5EF4-FFF2-40B4-BE49-F238E27FC236}">
                <a16:creationId xmlns:a16="http://schemas.microsoft.com/office/drawing/2014/main" id="{EB45F462-EDEA-4913-881A-125A71A3D12D}"/>
              </a:ext>
            </a:extLst>
          </p:cNvPr>
          <p:cNvSpPr>
            <a:spLocks xmlns:a="http://schemas.openxmlformats.org/drawingml/2006/main" noGrp="1"/>
          </p:cNvSpPr>
          <p:nvPr/>
        </p:nvSpPr>
        <p:spPr>
          <a:xfrm xmlns:a="http://schemas.openxmlformats.org/drawingml/2006/main">
            <a:off x="8258175" y="49530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Offer comparison without requiring rotation.</a:t>
            </a:r>
          </a:p>
        </p:txBody>
      </p:sp>
      <p:sp>
        <p:nvSpPr>
          <p:cNvPr id="26" name="list-marker">
            <a:extLst xmlns:a="http://schemas.openxmlformats.org/drawingml/2006/main">
              <a:ext uri="{FF2B5EF4-FFF2-40B4-BE49-F238E27FC236}">
                <a16:creationId xmlns:a16="http://schemas.microsoft.com/office/drawing/2014/main" id="{22FD48C2-5290-45BF-90B6-F323BC42CE35}"/>
              </a:ext>
            </a:extLst>
          </p:cNvPr>
          <p:cNvSpPr>
            <a:spLocks xmlns:a="http://schemas.openxmlformats.org/drawingml/2006/main" noGrp="1"/>
          </p:cNvSpPr>
          <p:nvPr/>
        </p:nvSpPr>
        <p:spPr>
          <a:xfrm xmlns:a="http://schemas.openxmlformats.org/drawingml/2006/main">
            <a:off x="7858125" y="56007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7" name="list-item">
            <a:extLst xmlns:a="http://schemas.openxmlformats.org/drawingml/2006/main">
              <a:ext uri="{FF2B5EF4-FFF2-40B4-BE49-F238E27FC236}">
                <a16:creationId xmlns:a16="http://schemas.microsoft.com/office/drawing/2014/main" id="{CF6FC01F-350C-4EE7-B9F9-80A5C1A30FF4}"/>
              </a:ext>
            </a:extLst>
          </p:cNvPr>
          <p:cNvSpPr>
            <a:spLocks xmlns:a="http://schemas.openxmlformats.org/drawingml/2006/main" noGrp="1"/>
          </p:cNvSpPr>
          <p:nvPr/>
        </p:nvSpPr>
        <p:spPr>
          <a:xfrm xmlns:a="http://schemas.openxmlformats.org/drawingml/2006/main">
            <a:off x="8258175" y="56007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Preserve draft, URL, selection, and review state.</a:t>
            </a:r>
          </a:p>
        </p:txBody>
      </p:sp>
      <p:sp>
        <p:nvSpPr>
          <p:cNvPr id="28" name="body-paragraph">
            <a:extLst xmlns:a="http://schemas.openxmlformats.org/drawingml/2006/main">
              <a:ext uri="{FF2B5EF4-FFF2-40B4-BE49-F238E27FC236}">
                <a16:creationId xmlns:a16="http://schemas.microsoft.com/office/drawing/2014/main" id="{002F9E52-5600-478A-9CCA-346590362C80}"/>
              </a:ext>
            </a:extLst>
          </p:cNvPr>
          <p:cNvSpPr>
            <a:spLocks xmlns:a="http://schemas.openxmlformats.org/drawingml/2006/main" noGrp="1"/>
          </p:cNvSpPr>
          <p:nvPr/>
        </p:nvSpPr>
        <p:spPr>
          <a:xfrm xmlns:a="http://schemas.openxmlformats.org/drawingml/2006/main">
            <a:off x="895350" y="7124700"/>
            <a:ext cx="13449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759BC"/>
                </a:solidFill>
                <a:latin typeface="Helvetica Neue"/>
                <a:ea typeface="Helvetica Neue"/>
                <a:cs typeface="Helvetica Neue"/>
              </a:defRPr>
            </a:pPr>
            <a:r>
              <a:rPr sz="1800" b="1">
                <a:solidFill>
                  <a:srgbClr val="1759BC"/>
                </a:solidFill>
                <a:latin typeface="Helvetica Neue"/>
                <a:ea typeface="Helvetica Neue"/>
                <a:cs typeface="Helvetica Neue"/>
              </a:rPr>
              <a:t>Success is a completed decision in a short session—not a stripped-down version of Forma.</a:t>
            </a:r>
          </a:p>
        </p:txBody>
      </p:sp>
    </p:spTree>
    <p:extLst>
      <p:ext uri="{BB962C8B-B14F-4D97-AF65-F5344CB8AC3E}">
        <p14:creationId xmlns:p14="http://schemas.microsoft.com/office/powerpoint/2010/main" val="20149108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kicker">
            <a:extLst xmlns:a="http://schemas.openxmlformats.org/drawingml/2006/main">
              <a:ext uri="{FF2B5EF4-FFF2-40B4-BE49-F238E27FC236}">
                <a16:creationId xmlns:a16="http://schemas.microsoft.com/office/drawing/2014/main" id="{1C09F152-9EEC-4E50-816C-0488A60E97CC}"/>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TABLET END-USER BLUEPRINT</a:t>
            </a:r>
          </a:p>
        </p:txBody>
      </p:sp>
      <p:sp>
        <p:nvSpPr>
          <p:cNvPr id="2" name="slide-title">
            <a:extLst xmlns:a="http://schemas.openxmlformats.org/drawingml/2006/main">
              <a:ext uri="{FF2B5EF4-FFF2-40B4-BE49-F238E27FC236}">
                <a16:creationId xmlns:a16="http://schemas.microsoft.com/office/drawing/2014/main" id="{7EDF1925-E004-4DD2-8B6B-CB68A2F16A74}"/>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On a tablet, put context beside the work</a:t>
            </a:r>
          </a:p>
        </p:txBody>
      </p:sp>
      <p:sp>
        <p:nvSpPr>
          <p:cNvPr id="3" name="structural-divider">
            <a:extLst xmlns:a="http://schemas.openxmlformats.org/drawingml/2006/main">
              <a:ext uri="{FF2B5EF4-FFF2-40B4-BE49-F238E27FC236}">
                <a16:creationId xmlns:a16="http://schemas.microsoft.com/office/drawing/2014/main" id="{7325FF81-9019-4F5E-A296-B89CDD8ED0BC}"/>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5313EB14-9933-4726-AEA5-BE5D6537D280}"/>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BA5DB53F-32AC-4A3F-A40A-E06A94BBF38C}"/>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11</a:t>
            </a:r>
          </a:p>
        </p:txBody>
      </p:sp>
      <p:sp>
        <p:nvSpPr>
          <p:cNvPr id="6" name="section-heading">
            <a:extLst xmlns:a="http://schemas.openxmlformats.org/drawingml/2006/main">
              <a:ext uri="{FF2B5EF4-FFF2-40B4-BE49-F238E27FC236}">
                <a16:creationId xmlns:a16="http://schemas.microsoft.com/office/drawing/2014/main" id="{C5AFDE72-D187-4A36-836F-2481FB1810C2}"/>
              </a:ext>
            </a:extLst>
          </p:cNvPr>
          <p:cNvSpPr>
            <a:spLocks xmlns:a="http://schemas.openxmlformats.org/drawingml/2006/main" noGrp="1"/>
          </p:cNvSpPr>
          <p:nvPr/>
        </p:nvSpPr>
        <p:spPr>
          <a:xfrm xmlns:a="http://schemas.openxmlformats.org/drawingml/2006/main">
            <a:off x="895350" y="2324100"/>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Portrait: object-first exploration</a:t>
            </a:r>
          </a:p>
        </p:txBody>
      </p:sp>
      <p:sp>
        <p:nvSpPr>
          <p:cNvPr id="7" name="list-marker">
            <a:extLst xmlns:a="http://schemas.openxmlformats.org/drawingml/2006/main">
              <a:ext uri="{FF2B5EF4-FFF2-40B4-BE49-F238E27FC236}">
                <a16:creationId xmlns:a16="http://schemas.microsoft.com/office/drawing/2014/main" id="{AC9AC977-FDDD-458E-86F6-8980E2419E4A}"/>
              </a:ext>
            </a:extLst>
          </p:cNvPr>
          <p:cNvSpPr>
            <a:spLocks xmlns:a="http://schemas.openxmlformats.org/drawingml/2006/main" noGrp="1"/>
          </p:cNvSpPr>
          <p:nvPr/>
        </p:nvSpPr>
        <p:spPr>
          <a:xfrm xmlns:a="http://schemas.openxmlformats.org/drawingml/2006/main">
            <a:off x="895350" y="30003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8" name="list-item">
            <a:extLst xmlns:a="http://schemas.openxmlformats.org/drawingml/2006/main">
              <a:ext uri="{FF2B5EF4-FFF2-40B4-BE49-F238E27FC236}">
                <a16:creationId xmlns:a16="http://schemas.microsoft.com/office/drawing/2014/main" id="{1A84E4E1-7EEB-4B65-B9EF-6EF9B153191E}"/>
              </a:ext>
            </a:extLst>
          </p:cNvPr>
          <p:cNvSpPr>
            <a:spLocks xmlns:a="http://schemas.openxmlformats.org/drawingml/2006/main" noGrp="1"/>
          </p:cNvSpPr>
          <p:nvPr/>
        </p:nvSpPr>
        <p:spPr>
          <a:xfrm xmlns:a="http://schemas.openxmlformats.org/drawingml/2006/main">
            <a:off x="1295400" y="3000375"/>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Give the document or artwork the full region.</a:t>
            </a:r>
          </a:p>
        </p:txBody>
      </p:sp>
      <p:sp>
        <p:nvSpPr>
          <p:cNvPr id="9" name="list-marker">
            <a:extLst xmlns:a="http://schemas.openxmlformats.org/drawingml/2006/main">
              <a:ext uri="{FF2B5EF4-FFF2-40B4-BE49-F238E27FC236}">
                <a16:creationId xmlns:a16="http://schemas.microsoft.com/office/drawing/2014/main" id="{6C470055-842F-4C96-AD70-F03231C14806}"/>
              </a:ext>
            </a:extLst>
          </p:cNvPr>
          <p:cNvSpPr>
            <a:spLocks xmlns:a="http://schemas.openxmlformats.org/drawingml/2006/main" noGrp="1"/>
          </p:cNvSpPr>
          <p:nvPr/>
        </p:nvSpPr>
        <p:spPr>
          <a:xfrm xmlns:a="http://schemas.openxmlformats.org/drawingml/2006/main">
            <a:off x="895350" y="36576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0" name="list-item">
            <a:extLst xmlns:a="http://schemas.openxmlformats.org/drawingml/2006/main">
              <a:ext uri="{FF2B5EF4-FFF2-40B4-BE49-F238E27FC236}">
                <a16:creationId xmlns:a16="http://schemas.microsoft.com/office/drawing/2014/main" id="{7B7F20CE-9C52-4DCE-B74D-3410C9786317}"/>
              </a:ext>
            </a:extLst>
          </p:cNvPr>
          <p:cNvSpPr>
            <a:spLocks xmlns:a="http://schemas.openxmlformats.org/drawingml/2006/main" noGrp="1"/>
          </p:cNvSpPr>
          <p:nvPr/>
        </p:nvSpPr>
        <p:spPr>
          <a:xfrm xmlns:a="http://schemas.openxmlformats.org/drawingml/2006/main">
            <a:off x="1295400" y="3657600"/>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Expose references and reviews in one tap.</a:t>
            </a:r>
          </a:p>
        </p:txBody>
      </p:sp>
      <p:sp>
        <p:nvSpPr>
          <p:cNvPr id="11" name="list-marker">
            <a:extLst xmlns:a="http://schemas.openxmlformats.org/drawingml/2006/main">
              <a:ext uri="{FF2B5EF4-FFF2-40B4-BE49-F238E27FC236}">
                <a16:creationId xmlns:a16="http://schemas.microsoft.com/office/drawing/2014/main" id="{925DC40A-726F-4159-B7F6-365CCF4F568A}"/>
              </a:ext>
            </a:extLst>
          </p:cNvPr>
          <p:cNvSpPr>
            <a:spLocks xmlns:a="http://schemas.openxmlformats.org/drawingml/2006/main" noGrp="1"/>
          </p:cNvSpPr>
          <p:nvPr/>
        </p:nvSpPr>
        <p:spPr>
          <a:xfrm xmlns:a="http://schemas.openxmlformats.org/drawingml/2006/main">
            <a:off x="895350" y="431482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2" name="list-item">
            <a:extLst xmlns:a="http://schemas.openxmlformats.org/drawingml/2006/main">
              <a:ext uri="{FF2B5EF4-FFF2-40B4-BE49-F238E27FC236}">
                <a16:creationId xmlns:a16="http://schemas.microsoft.com/office/drawing/2014/main" id="{56F74C2C-41F4-45A3-8AD5-13C9E8C45B2F}"/>
              </a:ext>
            </a:extLst>
          </p:cNvPr>
          <p:cNvSpPr>
            <a:spLocks xmlns:a="http://schemas.openxmlformats.org/drawingml/2006/main" noGrp="1"/>
          </p:cNvSpPr>
          <p:nvPr/>
        </p:nvSpPr>
        <p:spPr>
          <a:xfrm xmlns:a="http://schemas.openxmlformats.org/drawingml/2006/main">
            <a:off x="1295400" y="4314825"/>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Keep the image, chat, and action all reachable.</a:t>
            </a:r>
          </a:p>
        </p:txBody>
      </p:sp>
      <p:sp>
        <p:nvSpPr>
          <p:cNvPr id="13" name="list-marker">
            <a:extLst xmlns:a="http://schemas.openxmlformats.org/drawingml/2006/main">
              <a:ext uri="{FF2B5EF4-FFF2-40B4-BE49-F238E27FC236}">
                <a16:creationId xmlns:a16="http://schemas.microsoft.com/office/drawing/2014/main" id="{07235128-9B01-4E78-ACEB-F7D3304DFE20}"/>
              </a:ext>
            </a:extLst>
          </p:cNvPr>
          <p:cNvSpPr>
            <a:spLocks xmlns:a="http://schemas.openxmlformats.org/drawingml/2006/main" noGrp="1"/>
          </p:cNvSpPr>
          <p:nvPr/>
        </p:nvSpPr>
        <p:spPr>
          <a:xfrm xmlns:a="http://schemas.openxmlformats.org/drawingml/2006/main">
            <a:off x="895350" y="49720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4" name="list-item">
            <a:extLst xmlns:a="http://schemas.openxmlformats.org/drawingml/2006/main">
              <a:ext uri="{FF2B5EF4-FFF2-40B4-BE49-F238E27FC236}">
                <a16:creationId xmlns:a16="http://schemas.microsoft.com/office/drawing/2014/main" id="{479BC890-6AE9-4D72-B8FE-7699125FF3E1}"/>
              </a:ext>
            </a:extLst>
          </p:cNvPr>
          <p:cNvSpPr>
            <a:spLocks xmlns:a="http://schemas.openxmlformats.org/drawingml/2006/main" noGrp="1"/>
          </p:cNvSpPr>
          <p:nvPr/>
        </p:nvSpPr>
        <p:spPr>
          <a:xfrm xmlns:a="http://schemas.openxmlformats.org/drawingml/2006/main">
            <a:off x="1295400" y="4972050"/>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Use 44 × 44 minimum interactive hit areas.</a:t>
            </a:r>
          </a:p>
        </p:txBody>
      </p:sp>
      <p:sp>
        <p:nvSpPr>
          <p:cNvPr id="15" name="list-marker">
            <a:extLst xmlns:a="http://schemas.openxmlformats.org/drawingml/2006/main">
              <a:ext uri="{FF2B5EF4-FFF2-40B4-BE49-F238E27FC236}">
                <a16:creationId xmlns:a16="http://schemas.microsoft.com/office/drawing/2014/main" id="{4B5AB81B-FA5F-498D-A4B5-B13360221B36}"/>
              </a:ext>
            </a:extLst>
          </p:cNvPr>
          <p:cNvSpPr>
            <a:spLocks xmlns:a="http://schemas.openxmlformats.org/drawingml/2006/main" noGrp="1"/>
          </p:cNvSpPr>
          <p:nvPr/>
        </p:nvSpPr>
        <p:spPr>
          <a:xfrm xmlns:a="http://schemas.openxmlformats.org/drawingml/2006/main">
            <a:off x="895350" y="56292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6" name="list-item">
            <a:extLst xmlns:a="http://schemas.openxmlformats.org/drawingml/2006/main">
              <a:ext uri="{FF2B5EF4-FFF2-40B4-BE49-F238E27FC236}">
                <a16:creationId xmlns:a16="http://schemas.microsoft.com/office/drawing/2014/main" id="{6E4AB030-38A5-4C8A-831C-D79DD663C92D}"/>
              </a:ext>
            </a:extLst>
          </p:cNvPr>
          <p:cNvSpPr>
            <a:spLocks xmlns:a="http://schemas.openxmlformats.org/drawingml/2006/main" noGrp="1"/>
          </p:cNvSpPr>
          <p:nvPr/>
        </p:nvSpPr>
        <p:spPr>
          <a:xfrm xmlns:a="http://schemas.openxmlformats.org/drawingml/2006/main">
            <a:off x="1295400" y="5629275"/>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Support viewer-only review without edit access.</a:t>
            </a:r>
          </a:p>
        </p:txBody>
      </p:sp>
      <p:sp>
        <p:nvSpPr>
          <p:cNvPr id="17" name="section-heading">
            <a:extLst xmlns:a="http://schemas.openxmlformats.org/drawingml/2006/main">
              <a:ext uri="{FF2B5EF4-FFF2-40B4-BE49-F238E27FC236}">
                <a16:creationId xmlns:a16="http://schemas.microsoft.com/office/drawing/2014/main" id="{F42F3C40-CE96-4914-B7A0-7E52BC9B7214}"/>
              </a:ext>
            </a:extLst>
          </p:cNvPr>
          <p:cNvSpPr>
            <a:spLocks xmlns:a="http://schemas.openxmlformats.org/drawingml/2006/main" noGrp="1"/>
          </p:cNvSpPr>
          <p:nvPr/>
        </p:nvSpPr>
        <p:spPr>
          <a:xfrm xmlns:a="http://schemas.openxmlformats.org/drawingml/2006/main">
            <a:off x="7858125" y="2324100"/>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Landscape: genuinely useful pairing</a:t>
            </a:r>
          </a:p>
        </p:txBody>
      </p:sp>
      <p:sp>
        <p:nvSpPr>
          <p:cNvPr id="18" name="list-marker">
            <a:extLst xmlns:a="http://schemas.openxmlformats.org/drawingml/2006/main">
              <a:ext uri="{FF2B5EF4-FFF2-40B4-BE49-F238E27FC236}">
                <a16:creationId xmlns:a16="http://schemas.microsoft.com/office/drawing/2014/main" id="{8F7899EE-1EF0-4238-B16C-F0D5B9BA237E}"/>
              </a:ext>
            </a:extLst>
          </p:cNvPr>
          <p:cNvSpPr>
            <a:spLocks xmlns:a="http://schemas.openxmlformats.org/drawingml/2006/main" noGrp="1"/>
          </p:cNvSpPr>
          <p:nvPr/>
        </p:nvSpPr>
        <p:spPr>
          <a:xfrm xmlns:a="http://schemas.openxmlformats.org/drawingml/2006/main">
            <a:off x="7858125" y="30003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9" name="list-item">
            <a:extLst xmlns:a="http://schemas.openxmlformats.org/drawingml/2006/main">
              <a:ext uri="{FF2B5EF4-FFF2-40B4-BE49-F238E27FC236}">
                <a16:creationId xmlns:a16="http://schemas.microsoft.com/office/drawing/2014/main" id="{1F03C5A3-776D-4B77-8A53-4EE986B8783F}"/>
              </a:ext>
            </a:extLst>
          </p:cNvPr>
          <p:cNvSpPr>
            <a:spLocks xmlns:a="http://schemas.openxmlformats.org/drawingml/2006/main" noGrp="1"/>
          </p:cNvSpPr>
          <p:nvPr/>
        </p:nvSpPr>
        <p:spPr>
          <a:xfrm xmlns:a="http://schemas.openxmlformats.org/drawingml/2006/main">
            <a:off x="8258175" y="3000375"/>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Show decision + result or source + document.</a:t>
            </a:r>
          </a:p>
        </p:txBody>
      </p:sp>
      <p:sp>
        <p:nvSpPr>
          <p:cNvPr id="20" name="list-marker">
            <a:extLst xmlns:a="http://schemas.openxmlformats.org/drawingml/2006/main">
              <a:ext uri="{FF2B5EF4-FFF2-40B4-BE49-F238E27FC236}">
                <a16:creationId xmlns:a16="http://schemas.microsoft.com/office/drawing/2014/main" id="{AB30FE1B-77D3-4619-9BCE-D521C158F714}"/>
              </a:ext>
            </a:extLst>
          </p:cNvPr>
          <p:cNvSpPr>
            <a:spLocks xmlns:a="http://schemas.openxmlformats.org/drawingml/2006/main" noGrp="1"/>
          </p:cNvSpPr>
          <p:nvPr/>
        </p:nvSpPr>
        <p:spPr>
          <a:xfrm xmlns:a="http://schemas.openxmlformats.org/drawingml/2006/main">
            <a:off x="7858125" y="36576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1" name="list-item">
            <a:extLst xmlns:a="http://schemas.openxmlformats.org/drawingml/2006/main">
              <a:ext uri="{FF2B5EF4-FFF2-40B4-BE49-F238E27FC236}">
                <a16:creationId xmlns:a16="http://schemas.microsoft.com/office/drawing/2014/main" id="{08B7DA0B-A570-4348-8971-2CF2F3BCC84E}"/>
              </a:ext>
            </a:extLst>
          </p:cNvPr>
          <p:cNvSpPr>
            <a:spLocks xmlns:a="http://schemas.openxmlformats.org/drawingml/2006/main" noGrp="1"/>
          </p:cNvSpPr>
          <p:nvPr/>
        </p:nvSpPr>
        <p:spPr>
          <a:xfrm xmlns:a="http://schemas.openxmlformats.org/drawingml/2006/main">
            <a:off x="8258175" y="3657600"/>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Let users pin one inspector—not every panel.</a:t>
            </a:r>
          </a:p>
        </p:txBody>
      </p:sp>
      <p:sp>
        <p:nvSpPr>
          <p:cNvPr id="22" name="list-marker">
            <a:extLst xmlns:a="http://schemas.openxmlformats.org/drawingml/2006/main">
              <a:ext uri="{FF2B5EF4-FFF2-40B4-BE49-F238E27FC236}">
                <a16:creationId xmlns:a16="http://schemas.microsoft.com/office/drawing/2014/main" id="{76C974A2-39F8-4EC7-94B1-D5BB7EC1A507}"/>
              </a:ext>
            </a:extLst>
          </p:cNvPr>
          <p:cNvSpPr>
            <a:spLocks xmlns:a="http://schemas.openxmlformats.org/drawingml/2006/main" noGrp="1"/>
          </p:cNvSpPr>
          <p:nvPr/>
        </p:nvSpPr>
        <p:spPr>
          <a:xfrm xmlns:a="http://schemas.openxmlformats.org/drawingml/2006/main">
            <a:off x="7858125" y="431482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3" name="list-item">
            <a:extLst xmlns:a="http://schemas.openxmlformats.org/drawingml/2006/main">
              <a:ext uri="{FF2B5EF4-FFF2-40B4-BE49-F238E27FC236}">
                <a16:creationId xmlns:a16="http://schemas.microsoft.com/office/drawing/2014/main" id="{3049D4AA-D0FF-4CA3-B0D8-3AFA9F2CC6ED}"/>
              </a:ext>
            </a:extLst>
          </p:cNvPr>
          <p:cNvSpPr>
            <a:spLocks xmlns:a="http://schemas.openxmlformats.org/drawingml/2006/main" noGrp="1"/>
          </p:cNvSpPr>
          <p:nvPr/>
        </p:nvSpPr>
        <p:spPr>
          <a:xfrm xmlns:a="http://schemas.openxmlformats.org/drawingml/2006/main">
            <a:off x="8258175" y="4314825"/>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Add two-finger pan/zoom and stylus semantics.</a:t>
            </a:r>
          </a:p>
        </p:txBody>
      </p:sp>
      <p:sp>
        <p:nvSpPr>
          <p:cNvPr id="24" name="list-marker">
            <a:extLst xmlns:a="http://schemas.openxmlformats.org/drawingml/2006/main">
              <a:ext uri="{FF2B5EF4-FFF2-40B4-BE49-F238E27FC236}">
                <a16:creationId xmlns:a16="http://schemas.microsoft.com/office/drawing/2014/main" id="{2EE68C77-948E-462D-B359-72BBF771A0EC}"/>
              </a:ext>
            </a:extLst>
          </p:cNvPr>
          <p:cNvSpPr>
            <a:spLocks xmlns:a="http://schemas.openxmlformats.org/drawingml/2006/main" noGrp="1"/>
          </p:cNvSpPr>
          <p:nvPr/>
        </p:nvSpPr>
        <p:spPr>
          <a:xfrm xmlns:a="http://schemas.openxmlformats.org/drawingml/2006/main">
            <a:off x="7858125" y="49720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5" name="list-item">
            <a:extLst xmlns:a="http://schemas.openxmlformats.org/drawingml/2006/main">
              <a:ext uri="{FF2B5EF4-FFF2-40B4-BE49-F238E27FC236}">
                <a16:creationId xmlns:a16="http://schemas.microsoft.com/office/drawing/2014/main" id="{88048DC6-6C1F-4CF3-87E0-D7C70ED9FE46}"/>
              </a:ext>
            </a:extLst>
          </p:cNvPr>
          <p:cNvSpPr>
            <a:spLocks xmlns:a="http://schemas.openxmlformats.org/drawingml/2006/main" noGrp="1"/>
          </p:cNvSpPr>
          <p:nvPr/>
        </p:nvSpPr>
        <p:spPr>
          <a:xfrm xmlns:a="http://schemas.openxmlformats.org/drawingml/2006/main">
            <a:off x="8258175" y="4972050"/>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Make multiselect and reorder work by touch.</a:t>
            </a:r>
          </a:p>
        </p:txBody>
      </p:sp>
      <p:sp>
        <p:nvSpPr>
          <p:cNvPr id="26" name="list-marker">
            <a:extLst xmlns:a="http://schemas.openxmlformats.org/drawingml/2006/main">
              <a:ext uri="{FF2B5EF4-FFF2-40B4-BE49-F238E27FC236}">
                <a16:creationId xmlns:a16="http://schemas.microsoft.com/office/drawing/2014/main" id="{4C37A874-78C9-42CB-98BA-7E37BDF59E0C}"/>
              </a:ext>
            </a:extLst>
          </p:cNvPr>
          <p:cNvSpPr>
            <a:spLocks xmlns:a="http://schemas.openxmlformats.org/drawingml/2006/main" noGrp="1"/>
          </p:cNvSpPr>
          <p:nvPr/>
        </p:nvSpPr>
        <p:spPr>
          <a:xfrm xmlns:a="http://schemas.openxmlformats.org/drawingml/2006/main">
            <a:off x="7858125" y="56292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7" name="list-item">
            <a:extLst xmlns:a="http://schemas.openxmlformats.org/drawingml/2006/main">
              <a:ext uri="{FF2B5EF4-FFF2-40B4-BE49-F238E27FC236}">
                <a16:creationId xmlns:a16="http://schemas.microsoft.com/office/drawing/2014/main" id="{3670801A-3AEC-447F-87DA-CC37DFA5C77C}"/>
              </a:ext>
            </a:extLst>
          </p:cNvPr>
          <p:cNvSpPr>
            <a:spLocks xmlns:a="http://schemas.openxmlformats.org/drawingml/2006/main" noGrp="1"/>
          </p:cNvSpPr>
          <p:nvPr/>
        </p:nvSpPr>
        <p:spPr>
          <a:xfrm xmlns:a="http://schemas.openxmlformats.org/drawingml/2006/main">
            <a:off x="8258175" y="5629275"/>
            <a:ext cx="59340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Retain state through rotation and split view.</a:t>
            </a:r>
          </a:p>
        </p:txBody>
      </p:sp>
      <p:sp>
        <p:nvSpPr>
          <p:cNvPr id="28" name="body-paragraph">
            <a:extLst xmlns:a="http://schemas.openxmlformats.org/drawingml/2006/main">
              <a:ext uri="{FF2B5EF4-FFF2-40B4-BE49-F238E27FC236}">
                <a16:creationId xmlns:a16="http://schemas.microsoft.com/office/drawing/2014/main" id="{B6B8E361-71D6-41F4-97FA-DE8488E70663}"/>
              </a:ext>
            </a:extLst>
          </p:cNvPr>
          <p:cNvSpPr>
            <a:spLocks xmlns:a="http://schemas.openxmlformats.org/drawingml/2006/main" noGrp="1"/>
          </p:cNvSpPr>
          <p:nvPr/>
        </p:nvSpPr>
        <p:spPr>
          <a:xfrm xmlns:a="http://schemas.openxmlformats.org/drawingml/2006/main">
            <a:off x="895350" y="7172325"/>
            <a:ext cx="134493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759BC"/>
                </a:solidFill>
                <a:latin typeface="Helvetica Neue"/>
                <a:ea typeface="Helvetica Neue"/>
                <a:cs typeface="Helvetica Neue"/>
              </a:defRPr>
            </a:pPr>
            <a:r>
              <a:rPr sz="1800" b="1">
                <a:solidFill>
                  <a:srgbClr val="1759BC"/>
                </a:solidFill>
                <a:latin typeface="Helvetica Neue"/>
                <a:ea typeface="Helvetica Neue"/>
                <a:cs typeface="Helvetica Neue"/>
              </a:rPr>
              <a:t>Landscape can be recommended for comparison; portrait must never be blocked.</a:t>
            </a:r>
          </a:p>
        </p:txBody>
      </p:sp>
    </p:spTree>
    <p:extLst>
      <p:ext uri="{BB962C8B-B14F-4D97-AF65-F5344CB8AC3E}">
        <p14:creationId xmlns:p14="http://schemas.microsoft.com/office/powerpoint/2010/main" val="1444748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kicker">
            <a:extLst xmlns:a="http://schemas.openxmlformats.org/drawingml/2006/main">
              <a:ext uri="{FF2B5EF4-FFF2-40B4-BE49-F238E27FC236}">
                <a16:creationId xmlns:a16="http://schemas.microsoft.com/office/drawing/2014/main" id="{C03F513D-99AD-4187-A44B-2BFC2AFB5870}"/>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LAPTOP AND WIDE-SCREEN END-USER BLUEPRINT</a:t>
            </a:r>
          </a:p>
        </p:txBody>
      </p:sp>
      <p:sp>
        <p:nvSpPr>
          <p:cNvPr id="2" name="slide-title">
            <a:extLst xmlns:a="http://schemas.openxmlformats.org/drawingml/2006/main">
              <a:ext uri="{FF2B5EF4-FFF2-40B4-BE49-F238E27FC236}">
                <a16:creationId xmlns:a16="http://schemas.microsoft.com/office/drawing/2014/main" id="{DD2EDD65-A746-4F7B-A9EE-56E4902AC4D6}"/>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On a monitor, reveal breadth as space grows</a:t>
            </a:r>
          </a:p>
        </p:txBody>
      </p:sp>
      <p:sp>
        <p:nvSpPr>
          <p:cNvPr id="3" name="structural-divider">
            <a:extLst xmlns:a="http://schemas.openxmlformats.org/drawingml/2006/main">
              <a:ext uri="{FF2B5EF4-FFF2-40B4-BE49-F238E27FC236}">
                <a16:creationId xmlns:a16="http://schemas.microsoft.com/office/drawing/2014/main" id="{11B06853-0BFC-45A7-AEF4-3B88FA284D5C}"/>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D365F5E-2FD5-4BB1-AE9F-63EA976E69C9}"/>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3A37F689-D8C4-4AEA-95C2-805144A1A568}"/>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12</a:t>
            </a:r>
          </a:p>
        </p:txBody>
      </p:sp>
      <p:sp>
        <p:nvSpPr>
          <p:cNvPr id="6" name="section-heading">
            <a:extLst xmlns:a="http://schemas.openxmlformats.org/drawingml/2006/main">
              <a:ext uri="{FF2B5EF4-FFF2-40B4-BE49-F238E27FC236}">
                <a16:creationId xmlns:a16="http://schemas.microsoft.com/office/drawing/2014/main" id="{B5F2E573-E78F-4111-A4FB-24337A2C43EB}"/>
              </a:ext>
            </a:extLst>
          </p:cNvPr>
          <p:cNvSpPr>
            <a:spLocks xmlns:a="http://schemas.openxmlformats.org/drawingml/2006/main" noGrp="1"/>
          </p:cNvSpPr>
          <p:nvPr/>
        </p:nvSpPr>
        <p:spPr>
          <a:xfrm xmlns:a="http://schemas.openxmlformats.org/drawingml/2006/main">
            <a:off x="895350" y="2352675"/>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Laptop and narrowed windows</a:t>
            </a:r>
          </a:p>
        </p:txBody>
      </p:sp>
      <p:sp>
        <p:nvSpPr>
          <p:cNvPr id="7" name="list-marker">
            <a:extLst xmlns:a="http://schemas.openxmlformats.org/drawingml/2006/main">
              <a:ext uri="{FF2B5EF4-FFF2-40B4-BE49-F238E27FC236}">
                <a16:creationId xmlns:a16="http://schemas.microsoft.com/office/drawing/2014/main" id="{696B9C2E-63BF-4512-B081-248850C2AACF}"/>
              </a:ext>
            </a:extLst>
          </p:cNvPr>
          <p:cNvSpPr>
            <a:spLocks xmlns:a="http://schemas.openxmlformats.org/drawingml/2006/main" noGrp="1"/>
          </p:cNvSpPr>
          <p:nvPr/>
        </p:nvSpPr>
        <p:spPr>
          <a:xfrm xmlns:a="http://schemas.openxmlformats.org/drawingml/2006/main">
            <a:off x="895350" y="30480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8" name="list-item">
            <a:extLst xmlns:a="http://schemas.openxmlformats.org/drawingml/2006/main">
              <a:ext uri="{FF2B5EF4-FFF2-40B4-BE49-F238E27FC236}">
                <a16:creationId xmlns:a16="http://schemas.microsoft.com/office/drawing/2014/main" id="{C99C8ABB-523E-4673-AD92-AD0556D9CAEA}"/>
              </a:ext>
            </a:extLst>
          </p:cNvPr>
          <p:cNvSpPr>
            <a:spLocks xmlns:a="http://schemas.openxmlformats.org/drawingml/2006/main" noGrp="1"/>
          </p:cNvSpPr>
          <p:nvPr/>
        </p:nvSpPr>
        <p:spPr>
          <a:xfrm xmlns:a="http://schemas.openxmlformats.org/drawingml/2006/main">
            <a:off x="1295400" y="30480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Prioritize the current document and next action.</a:t>
            </a:r>
          </a:p>
        </p:txBody>
      </p:sp>
      <p:sp>
        <p:nvSpPr>
          <p:cNvPr id="9" name="list-marker">
            <a:extLst xmlns:a="http://schemas.openxmlformats.org/drawingml/2006/main">
              <a:ext uri="{FF2B5EF4-FFF2-40B4-BE49-F238E27FC236}">
                <a16:creationId xmlns:a16="http://schemas.microsoft.com/office/drawing/2014/main" id="{4BA3502A-04A8-4360-98A3-19CAD1510BDA}"/>
              </a:ext>
            </a:extLst>
          </p:cNvPr>
          <p:cNvSpPr>
            <a:spLocks xmlns:a="http://schemas.openxmlformats.org/drawingml/2006/main" noGrp="1"/>
          </p:cNvSpPr>
          <p:nvPr/>
        </p:nvSpPr>
        <p:spPr>
          <a:xfrm xmlns:a="http://schemas.openxmlformats.org/drawingml/2006/main">
            <a:off x="895350" y="36861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0" name="list-item">
            <a:extLst xmlns:a="http://schemas.openxmlformats.org/drawingml/2006/main">
              <a:ext uri="{FF2B5EF4-FFF2-40B4-BE49-F238E27FC236}">
                <a16:creationId xmlns:a16="http://schemas.microsoft.com/office/drawing/2014/main" id="{9EE92314-85BF-4CDD-B729-CB655711A317}"/>
              </a:ext>
            </a:extLst>
          </p:cNvPr>
          <p:cNvSpPr>
            <a:spLocks xmlns:a="http://schemas.openxmlformats.org/drawingml/2006/main" noGrp="1"/>
          </p:cNvSpPr>
          <p:nvPr/>
        </p:nvSpPr>
        <p:spPr>
          <a:xfrm xmlns:a="http://schemas.openxmlformats.org/drawingml/2006/main">
            <a:off x="1295400" y="3686175"/>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Collapse project rails before shrinking the work.</a:t>
            </a:r>
          </a:p>
        </p:txBody>
      </p:sp>
      <p:sp>
        <p:nvSpPr>
          <p:cNvPr id="11" name="list-marker">
            <a:extLst xmlns:a="http://schemas.openxmlformats.org/drawingml/2006/main">
              <a:ext uri="{FF2B5EF4-FFF2-40B4-BE49-F238E27FC236}">
                <a16:creationId xmlns:a16="http://schemas.microsoft.com/office/drawing/2014/main" id="{CD9B0020-1050-44B8-A8FE-876AC8FFC43C}"/>
              </a:ext>
            </a:extLst>
          </p:cNvPr>
          <p:cNvSpPr>
            <a:spLocks xmlns:a="http://schemas.openxmlformats.org/drawingml/2006/main" noGrp="1"/>
          </p:cNvSpPr>
          <p:nvPr/>
        </p:nvSpPr>
        <p:spPr>
          <a:xfrm xmlns:a="http://schemas.openxmlformats.org/drawingml/2006/main">
            <a:off x="895350" y="43243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2" name="list-item">
            <a:extLst xmlns:a="http://schemas.openxmlformats.org/drawingml/2006/main">
              <a:ext uri="{FF2B5EF4-FFF2-40B4-BE49-F238E27FC236}">
                <a16:creationId xmlns:a16="http://schemas.microsoft.com/office/drawing/2014/main" id="{F94D669B-470D-4468-A102-2AE226735B75}"/>
              </a:ext>
            </a:extLst>
          </p:cNvPr>
          <p:cNvSpPr>
            <a:spLocks xmlns:a="http://schemas.openxmlformats.org/drawingml/2006/main" noGrp="1"/>
          </p:cNvSpPr>
          <p:nvPr/>
        </p:nvSpPr>
        <p:spPr>
          <a:xfrm xmlns:a="http://schemas.openxmlformats.org/drawingml/2006/main">
            <a:off x="1295400" y="432435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Keep search, shortcuts, and review status visible.</a:t>
            </a:r>
          </a:p>
        </p:txBody>
      </p:sp>
      <p:sp>
        <p:nvSpPr>
          <p:cNvPr id="13" name="list-marker">
            <a:extLst xmlns:a="http://schemas.openxmlformats.org/drawingml/2006/main">
              <a:ext uri="{FF2B5EF4-FFF2-40B4-BE49-F238E27FC236}">
                <a16:creationId xmlns:a16="http://schemas.microsoft.com/office/drawing/2014/main" id="{A74B0FCF-6EE6-4B87-AEF0-CCC6CF649F77}"/>
              </a:ext>
            </a:extLst>
          </p:cNvPr>
          <p:cNvSpPr>
            <a:spLocks xmlns:a="http://schemas.openxmlformats.org/drawingml/2006/main" noGrp="1"/>
          </p:cNvSpPr>
          <p:nvPr/>
        </p:nvSpPr>
        <p:spPr>
          <a:xfrm xmlns:a="http://schemas.openxmlformats.org/drawingml/2006/main">
            <a:off x="895350" y="496252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4" name="list-item">
            <a:extLst xmlns:a="http://schemas.openxmlformats.org/drawingml/2006/main">
              <a:ext uri="{FF2B5EF4-FFF2-40B4-BE49-F238E27FC236}">
                <a16:creationId xmlns:a16="http://schemas.microsoft.com/office/drawing/2014/main" id="{0E16C103-E309-4166-AFDF-02194B5BB96D}"/>
              </a:ext>
            </a:extLst>
          </p:cNvPr>
          <p:cNvSpPr>
            <a:spLocks xmlns:a="http://schemas.openxmlformats.org/drawingml/2006/main" noGrp="1"/>
          </p:cNvSpPr>
          <p:nvPr/>
        </p:nvSpPr>
        <p:spPr>
          <a:xfrm xmlns:a="http://schemas.openxmlformats.org/drawingml/2006/main">
            <a:off x="1295400" y="4962525"/>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Respect actual pane width during multitasking.</a:t>
            </a:r>
          </a:p>
        </p:txBody>
      </p:sp>
      <p:sp>
        <p:nvSpPr>
          <p:cNvPr id="15" name="list-marker">
            <a:extLst xmlns:a="http://schemas.openxmlformats.org/drawingml/2006/main">
              <a:ext uri="{FF2B5EF4-FFF2-40B4-BE49-F238E27FC236}">
                <a16:creationId xmlns:a16="http://schemas.microsoft.com/office/drawing/2014/main" id="{68BC6CFD-FE26-49AB-B16F-D252284D5443}"/>
              </a:ext>
            </a:extLst>
          </p:cNvPr>
          <p:cNvSpPr>
            <a:spLocks xmlns:a="http://schemas.openxmlformats.org/drawingml/2006/main" noGrp="1"/>
          </p:cNvSpPr>
          <p:nvPr/>
        </p:nvSpPr>
        <p:spPr>
          <a:xfrm xmlns:a="http://schemas.openxmlformats.org/drawingml/2006/main">
            <a:off x="895350" y="56007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6" name="list-item">
            <a:extLst xmlns:a="http://schemas.openxmlformats.org/drawingml/2006/main">
              <a:ext uri="{FF2B5EF4-FFF2-40B4-BE49-F238E27FC236}">
                <a16:creationId xmlns:a16="http://schemas.microsoft.com/office/drawing/2014/main" id="{9E908553-99D9-4D2B-B136-0D168778CD15}"/>
              </a:ext>
            </a:extLst>
          </p:cNvPr>
          <p:cNvSpPr>
            <a:spLocks xmlns:a="http://schemas.openxmlformats.org/drawingml/2006/main" noGrp="1"/>
          </p:cNvSpPr>
          <p:nvPr/>
        </p:nvSpPr>
        <p:spPr>
          <a:xfrm xmlns:a="http://schemas.openxmlformats.org/drawingml/2006/main">
            <a:off x="1295400" y="56007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Recover gracefully when the window is resized.</a:t>
            </a:r>
          </a:p>
        </p:txBody>
      </p:sp>
      <p:sp>
        <p:nvSpPr>
          <p:cNvPr id="17" name="section-heading">
            <a:extLst xmlns:a="http://schemas.openxmlformats.org/drawingml/2006/main">
              <a:ext uri="{FF2B5EF4-FFF2-40B4-BE49-F238E27FC236}">
                <a16:creationId xmlns:a16="http://schemas.microsoft.com/office/drawing/2014/main" id="{5E445CC9-4AF4-415F-A2BB-E040960CE908}"/>
              </a:ext>
            </a:extLst>
          </p:cNvPr>
          <p:cNvSpPr>
            <a:spLocks xmlns:a="http://schemas.openxmlformats.org/drawingml/2006/main" noGrp="1"/>
          </p:cNvSpPr>
          <p:nvPr/>
        </p:nvSpPr>
        <p:spPr>
          <a:xfrm xmlns:a="http://schemas.openxmlformats.org/drawingml/2006/main">
            <a:off x="7858125" y="2352675"/>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Wide and extra-wide workbenches</a:t>
            </a:r>
          </a:p>
        </p:txBody>
      </p:sp>
      <p:sp>
        <p:nvSpPr>
          <p:cNvPr id="18" name="list-marker">
            <a:extLst xmlns:a="http://schemas.openxmlformats.org/drawingml/2006/main">
              <a:ext uri="{FF2B5EF4-FFF2-40B4-BE49-F238E27FC236}">
                <a16:creationId xmlns:a16="http://schemas.microsoft.com/office/drawing/2014/main" id="{9EDB51FB-C445-4D6E-BDEF-5A8CAE8FCD19}"/>
              </a:ext>
            </a:extLst>
          </p:cNvPr>
          <p:cNvSpPr>
            <a:spLocks xmlns:a="http://schemas.openxmlformats.org/drawingml/2006/main" noGrp="1"/>
          </p:cNvSpPr>
          <p:nvPr/>
        </p:nvSpPr>
        <p:spPr>
          <a:xfrm xmlns:a="http://schemas.openxmlformats.org/drawingml/2006/main">
            <a:off x="7858125" y="30480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9" name="list-item">
            <a:extLst xmlns:a="http://schemas.openxmlformats.org/drawingml/2006/main">
              <a:ext uri="{FF2B5EF4-FFF2-40B4-BE49-F238E27FC236}">
                <a16:creationId xmlns:a16="http://schemas.microsoft.com/office/drawing/2014/main" id="{070211CD-D301-448F-806C-A1EDFEBDF41A}"/>
              </a:ext>
            </a:extLst>
          </p:cNvPr>
          <p:cNvSpPr>
            <a:spLocks xmlns:a="http://schemas.openxmlformats.org/drawingml/2006/main" noGrp="1"/>
          </p:cNvSpPr>
          <p:nvPr/>
        </p:nvSpPr>
        <p:spPr>
          <a:xfrm xmlns:a="http://schemas.openxmlformats.org/drawingml/2006/main">
            <a:off x="8258175" y="30480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Show authored collections + project resources.</a:t>
            </a:r>
          </a:p>
        </p:txBody>
      </p:sp>
      <p:sp>
        <p:nvSpPr>
          <p:cNvPr id="20" name="list-marker">
            <a:extLst xmlns:a="http://schemas.openxmlformats.org/drawingml/2006/main">
              <a:ext uri="{FF2B5EF4-FFF2-40B4-BE49-F238E27FC236}">
                <a16:creationId xmlns:a16="http://schemas.microsoft.com/office/drawing/2014/main" id="{BDFD1AD8-ACC0-49F4-8F54-B293E9094ACD}"/>
              </a:ext>
            </a:extLst>
          </p:cNvPr>
          <p:cNvSpPr>
            <a:spLocks xmlns:a="http://schemas.openxmlformats.org/drawingml/2006/main" noGrp="1"/>
          </p:cNvSpPr>
          <p:nvPr/>
        </p:nvSpPr>
        <p:spPr>
          <a:xfrm xmlns:a="http://schemas.openxmlformats.org/drawingml/2006/main">
            <a:off x="7858125" y="36861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1" name="list-item">
            <a:extLst xmlns:a="http://schemas.openxmlformats.org/drawingml/2006/main">
              <a:ext uri="{FF2B5EF4-FFF2-40B4-BE49-F238E27FC236}">
                <a16:creationId xmlns:a16="http://schemas.microsoft.com/office/drawing/2014/main" id="{087294D7-B4D5-4995-9260-447441362783}"/>
              </a:ext>
            </a:extLst>
          </p:cNvPr>
          <p:cNvSpPr>
            <a:spLocks xmlns:a="http://schemas.openxmlformats.org/drawingml/2006/main" noGrp="1"/>
          </p:cNvSpPr>
          <p:nvPr/>
        </p:nvSpPr>
        <p:spPr>
          <a:xfrm xmlns:a="http://schemas.openxmlformats.org/drawingml/2006/main">
            <a:off x="8258175" y="3686175"/>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Keep decisions, results, and inspector in view.</a:t>
            </a:r>
          </a:p>
        </p:txBody>
      </p:sp>
      <p:sp>
        <p:nvSpPr>
          <p:cNvPr id="22" name="list-marker">
            <a:extLst xmlns:a="http://schemas.openxmlformats.org/drawingml/2006/main">
              <a:ext uri="{FF2B5EF4-FFF2-40B4-BE49-F238E27FC236}">
                <a16:creationId xmlns:a16="http://schemas.microsoft.com/office/drawing/2014/main" id="{AD75BEB9-152A-4A40-995B-92107962B5D2}"/>
              </a:ext>
            </a:extLst>
          </p:cNvPr>
          <p:cNvSpPr>
            <a:spLocks xmlns:a="http://schemas.openxmlformats.org/drawingml/2006/main" noGrp="1"/>
          </p:cNvSpPr>
          <p:nvPr/>
        </p:nvSpPr>
        <p:spPr>
          <a:xfrm xmlns:a="http://schemas.openxmlformats.org/drawingml/2006/main">
            <a:off x="7858125" y="43243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3" name="list-item">
            <a:extLst xmlns:a="http://schemas.openxmlformats.org/drawingml/2006/main">
              <a:ext uri="{FF2B5EF4-FFF2-40B4-BE49-F238E27FC236}">
                <a16:creationId xmlns:a16="http://schemas.microsoft.com/office/drawing/2014/main" id="{E8BC90F2-7B47-459D-937F-281D8FB8C125}"/>
              </a:ext>
            </a:extLst>
          </p:cNvPr>
          <p:cNvSpPr>
            <a:spLocks xmlns:a="http://schemas.openxmlformats.org/drawingml/2006/main" noGrp="1"/>
          </p:cNvSpPr>
          <p:nvPr/>
        </p:nvSpPr>
        <p:spPr>
          <a:xfrm xmlns:a="http://schemas.openxmlformats.org/drawingml/2006/main">
            <a:off x="8258175" y="432435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Expose activity and review without extra menus.</a:t>
            </a:r>
          </a:p>
        </p:txBody>
      </p:sp>
      <p:sp>
        <p:nvSpPr>
          <p:cNvPr id="24" name="list-marker">
            <a:extLst xmlns:a="http://schemas.openxmlformats.org/drawingml/2006/main">
              <a:ext uri="{FF2B5EF4-FFF2-40B4-BE49-F238E27FC236}">
                <a16:creationId xmlns:a16="http://schemas.microsoft.com/office/drawing/2014/main" id="{AAEF6765-F0A5-4810-BCCA-373B822401DB}"/>
              </a:ext>
            </a:extLst>
          </p:cNvPr>
          <p:cNvSpPr>
            <a:spLocks xmlns:a="http://schemas.openxmlformats.org/drawingml/2006/main" noGrp="1"/>
          </p:cNvSpPr>
          <p:nvPr/>
        </p:nvSpPr>
        <p:spPr>
          <a:xfrm xmlns:a="http://schemas.openxmlformats.org/drawingml/2006/main">
            <a:off x="7858125" y="496252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5" name="list-item">
            <a:extLst xmlns:a="http://schemas.openxmlformats.org/drawingml/2006/main">
              <a:ext uri="{FF2B5EF4-FFF2-40B4-BE49-F238E27FC236}">
                <a16:creationId xmlns:a16="http://schemas.microsoft.com/office/drawing/2014/main" id="{99543E10-B8B0-43D6-9D70-B44B48D98C0E}"/>
              </a:ext>
            </a:extLst>
          </p:cNvPr>
          <p:cNvSpPr>
            <a:spLocks xmlns:a="http://schemas.openxmlformats.org/drawingml/2006/main" noGrp="1"/>
          </p:cNvSpPr>
          <p:nvPr/>
        </p:nvSpPr>
        <p:spPr>
          <a:xfrm xmlns:a="http://schemas.openxmlformats.org/drawingml/2006/main">
            <a:off x="8258175" y="4962525"/>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Reveal Scout, precedent, and Taste &amp; time.</a:t>
            </a:r>
          </a:p>
        </p:txBody>
      </p:sp>
      <p:sp>
        <p:nvSpPr>
          <p:cNvPr id="26" name="list-marker">
            <a:extLst xmlns:a="http://schemas.openxmlformats.org/drawingml/2006/main">
              <a:ext uri="{FF2B5EF4-FFF2-40B4-BE49-F238E27FC236}">
                <a16:creationId xmlns:a16="http://schemas.microsoft.com/office/drawing/2014/main" id="{DA4E1352-CACA-4C48-A575-ADAD47413814}"/>
              </a:ext>
            </a:extLst>
          </p:cNvPr>
          <p:cNvSpPr>
            <a:spLocks xmlns:a="http://schemas.openxmlformats.org/drawingml/2006/main" noGrp="1"/>
          </p:cNvSpPr>
          <p:nvPr/>
        </p:nvSpPr>
        <p:spPr>
          <a:xfrm xmlns:a="http://schemas.openxmlformats.org/drawingml/2006/main">
            <a:off x="7858125" y="56007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7" name="list-item">
            <a:extLst xmlns:a="http://schemas.openxmlformats.org/drawingml/2006/main">
              <a:ext uri="{FF2B5EF4-FFF2-40B4-BE49-F238E27FC236}">
                <a16:creationId xmlns:a16="http://schemas.microsoft.com/office/drawing/2014/main" id="{C205AF5F-45AD-42BE-8007-60F9BB9C1B20}"/>
              </a:ext>
            </a:extLst>
          </p:cNvPr>
          <p:cNvSpPr>
            <a:spLocks xmlns:a="http://schemas.openxmlformats.org/drawingml/2006/main" noGrp="1"/>
          </p:cNvSpPr>
          <p:nvPr/>
        </p:nvSpPr>
        <p:spPr>
          <a:xfrm xmlns:a="http://schemas.openxmlformats.org/drawingml/2006/main">
            <a:off x="8258175" y="5600700"/>
            <a:ext cx="59340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Let users close panes; never force a dashboard.</a:t>
            </a:r>
          </a:p>
        </p:txBody>
      </p:sp>
      <p:sp>
        <p:nvSpPr>
          <p:cNvPr id="28" name="body-paragraph">
            <a:extLst xmlns:a="http://schemas.openxmlformats.org/drawingml/2006/main">
              <a:ext uri="{FF2B5EF4-FFF2-40B4-BE49-F238E27FC236}">
                <a16:creationId xmlns:a16="http://schemas.microsoft.com/office/drawing/2014/main" id="{2DF7791F-5F03-4ABC-BC60-AB766DBBA61C}"/>
              </a:ext>
            </a:extLst>
          </p:cNvPr>
          <p:cNvSpPr>
            <a:spLocks xmlns:a="http://schemas.openxmlformats.org/drawingml/2006/main" noGrp="1"/>
          </p:cNvSpPr>
          <p:nvPr/>
        </p:nvSpPr>
        <p:spPr>
          <a:xfrm xmlns:a="http://schemas.openxmlformats.org/drawingml/2006/main">
            <a:off x="895350" y="7124700"/>
            <a:ext cx="1344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1">
                <a:solidFill>
                  <a:srgbClr val="1759BC"/>
                </a:solidFill>
                <a:latin typeface="Helvetica Neue"/>
                <a:ea typeface="Helvetica Neue"/>
                <a:cs typeface="Helvetica Neue"/>
              </a:defRPr>
            </a:pPr>
            <a:r>
              <a:rPr sz="1875" b="1">
                <a:solidFill>
                  <a:srgbClr val="1759BC"/>
                </a:solidFill>
                <a:latin typeface="Helvetica Neue"/>
                <a:ea typeface="Helvetica Neue"/>
                <a:cs typeface="Helvetica Neue"/>
              </a:rPr>
              <a:t>A 620-pixel split window on a 5K monitor is a compact workspace.</a:t>
            </a:r>
          </a:p>
        </p:txBody>
      </p:sp>
    </p:spTree>
    <p:extLst>
      <p:ext uri="{BB962C8B-B14F-4D97-AF65-F5344CB8AC3E}">
        <p14:creationId xmlns:p14="http://schemas.microsoft.com/office/powerpoint/2010/main" val="12251359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ection-kicker">
            <a:extLst xmlns:a="http://schemas.openxmlformats.org/drawingml/2006/main">
              <a:ext uri="{FF2B5EF4-FFF2-40B4-BE49-F238E27FC236}">
                <a16:creationId xmlns:a16="http://schemas.microsoft.com/office/drawing/2014/main" id="{2077EC5A-3997-4061-A5CB-53DA8E78BAE8}"/>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PAGE-LEVEL FEATURE PRIORITIES · CREATE</a:t>
            </a:r>
          </a:p>
        </p:txBody>
      </p:sp>
      <p:sp>
        <p:nvSpPr>
          <p:cNvPr id="2" name="slide-title">
            <a:extLst xmlns:a="http://schemas.openxmlformats.org/drawingml/2006/main">
              <a:ext uri="{FF2B5EF4-FFF2-40B4-BE49-F238E27FC236}">
                <a16:creationId xmlns:a16="http://schemas.microsoft.com/office/drawing/2014/main" id="{9B7F86B5-0EF5-4040-83F3-52EFFFC4A234}"/>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Every core page needs an explicit priority stack</a:t>
            </a:r>
          </a:p>
        </p:txBody>
      </p:sp>
      <p:sp>
        <p:nvSpPr>
          <p:cNvPr id="3" name="structural-divider">
            <a:extLst xmlns:a="http://schemas.openxmlformats.org/drawingml/2006/main">
              <a:ext uri="{FF2B5EF4-FFF2-40B4-BE49-F238E27FC236}">
                <a16:creationId xmlns:a16="http://schemas.microsoft.com/office/drawing/2014/main" id="{70AA3BEE-C4FD-4955-AF43-EEDDEFB3B3EA}"/>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CF7CCBAF-2ADB-40B3-BAE7-4129C20678DD}"/>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3624A8CD-F616-4CC5-9D43-AB136F80EFB9}"/>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13</a:t>
            </a:r>
          </a:p>
        </p:txBody>
      </p:sp>
      <p:sp>
        <p:nvSpPr>
          <p:cNvPr id="6" name="row-number">
            <a:extLst xmlns:a="http://schemas.openxmlformats.org/drawingml/2006/main">
              <a:ext uri="{FF2B5EF4-FFF2-40B4-BE49-F238E27FC236}">
                <a16:creationId xmlns:a16="http://schemas.microsoft.com/office/drawing/2014/main" id="{9F2F2AF1-7D04-419A-9ABD-D0221D25E589}"/>
              </a:ext>
            </a:extLst>
          </p:cNvPr>
          <p:cNvSpPr>
            <a:spLocks xmlns:a="http://schemas.openxmlformats.org/drawingml/2006/main" noGrp="1"/>
          </p:cNvSpPr>
          <p:nvPr/>
        </p:nvSpPr>
        <p:spPr>
          <a:xfrm xmlns:a="http://schemas.openxmlformats.org/drawingml/2006/main">
            <a:off x="895350" y="230505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01</a:t>
            </a:r>
          </a:p>
        </p:txBody>
      </p:sp>
      <p:sp>
        <p:nvSpPr>
          <p:cNvPr id="7" name="row-title">
            <a:extLst xmlns:a="http://schemas.openxmlformats.org/drawingml/2006/main">
              <a:ext uri="{FF2B5EF4-FFF2-40B4-BE49-F238E27FC236}">
                <a16:creationId xmlns:a16="http://schemas.microsoft.com/office/drawing/2014/main" id="{87541CF2-00ED-43E1-8E02-89B21E2F547D}"/>
              </a:ext>
            </a:extLst>
          </p:cNvPr>
          <p:cNvSpPr>
            <a:spLocks xmlns:a="http://schemas.openxmlformats.org/drawingml/2006/main" noGrp="1"/>
          </p:cNvSpPr>
          <p:nvPr/>
        </p:nvSpPr>
        <p:spPr>
          <a:xfrm xmlns:a="http://schemas.openxmlformats.org/drawingml/2006/main">
            <a:off x="1733550" y="229552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Projects</a:t>
            </a:r>
          </a:p>
        </p:txBody>
      </p:sp>
      <p:sp>
        <p:nvSpPr>
          <p:cNvPr id="8" name="row-detail">
            <a:extLst xmlns:a="http://schemas.openxmlformats.org/drawingml/2006/main">
              <a:ext uri="{FF2B5EF4-FFF2-40B4-BE49-F238E27FC236}">
                <a16:creationId xmlns:a16="http://schemas.microsoft.com/office/drawing/2014/main" id="{2794FF39-2379-4FC5-AB45-0051BB1C65AF}"/>
              </a:ext>
            </a:extLst>
          </p:cNvPr>
          <p:cNvSpPr>
            <a:spLocks xmlns:a="http://schemas.openxmlformats.org/drawingml/2006/main" noGrp="1"/>
          </p:cNvSpPr>
          <p:nvPr/>
        </p:nvSpPr>
        <p:spPr>
          <a:xfrm xmlns:a="http://schemas.openxmlformats.org/drawingml/2006/main">
            <a:off x="4610100" y="2324100"/>
            <a:ext cx="9734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Resume → urgency + unread → search/create → recent output → collections.</a:t>
            </a:r>
          </a:p>
        </p:txBody>
      </p:sp>
      <p:sp>
        <p:nvSpPr>
          <p:cNvPr id="9" name="structural-divider">
            <a:extLst xmlns:a="http://schemas.openxmlformats.org/drawingml/2006/main">
              <a:ext uri="{FF2B5EF4-FFF2-40B4-BE49-F238E27FC236}">
                <a16:creationId xmlns:a16="http://schemas.microsoft.com/office/drawing/2014/main" id="{39031555-66AC-4742-9C74-7F15C5E9C78B}"/>
              </a:ext>
            </a:extLst>
          </p:cNvPr>
          <p:cNvSpPr>
            <a:spLocks xmlns:a="http://schemas.openxmlformats.org/drawingml/2006/main" noGrp="1"/>
          </p:cNvSpPr>
          <p:nvPr/>
        </p:nvSpPr>
        <p:spPr>
          <a:xfrm xmlns:a="http://schemas.openxmlformats.org/drawingml/2006/main">
            <a:off x="895350" y="30194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row-number">
            <a:extLst xmlns:a="http://schemas.openxmlformats.org/drawingml/2006/main">
              <a:ext uri="{FF2B5EF4-FFF2-40B4-BE49-F238E27FC236}">
                <a16:creationId xmlns:a16="http://schemas.microsoft.com/office/drawing/2014/main" id="{B951CF5A-2B42-43D1-BA2D-66EF8F92BAB5}"/>
              </a:ext>
            </a:extLst>
          </p:cNvPr>
          <p:cNvSpPr>
            <a:spLocks xmlns:a="http://schemas.openxmlformats.org/drawingml/2006/main" noGrp="1"/>
          </p:cNvSpPr>
          <p:nvPr/>
        </p:nvSpPr>
        <p:spPr>
          <a:xfrm xmlns:a="http://schemas.openxmlformats.org/drawingml/2006/main">
            <a:off x="895350" y="32670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02</a:t>
            </a:r>
          </a:p>
        </p:txBody>
      </p:sp>
      <p:sp>
        <p:nvSpPr>
          <p:cNvPr id="11" name="row-title">
            <a:extLst xmlns:a="http://schemas.openxmlformats.org/drawingml/2006/main">
              <a:ext uri="{FF2B5EF4-FFF2-40B4-BE49-F238E27FC236}">
                <a16:creationId xmlns:a16="http://schemas.microsoft.com/office/drawing/2014/main" id="{20682809-4F4A-4AB6-8DD3-8FB448A84348}"/>
              </a:ext>
            </a:extLst>
          </p:cNvPr>
          <p:cNvSpPr>
            <a:spLocks xmlns:a="http://schemas.openxmlformats.org/drawingml/2006/main" noGrp="1"/>
          </p:cNvSpPr>
          <p:nvPr/>
        </p:nvSpPr>
        <p:spPr>
          <a:xfrm xmlns:a="http://schemas.openxmlformats.org/drawingml/2006/main">
            <a:off x="1733550" y="3257550"/>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Project overview</a:t>
            </a:r>
          </a:p>
        </p:txBody>
      </p:sp>
      <p:sp>
        <p:nvSpPr>
          <p:cNvPr id="12" name="row-detail">
            <a:extLst xmlns:a="http://schemas.openxmlformats.org/drawingml/2006/main">
              <a:ext uri="{FF2B5EF4-FFF2-40B4-BE49-F238E27FC236}">
                <a16:creationId xmlns:a16="http://schemas.microsoft.com/office/drawing/2014/main" id="{C765F1C9-3F3D-4572-B4E6-A45EC78D4F9F}"/>
              </a:ext>
            </a:extLst>
          </p:cNvPr>
          <p:cNvSpPr>
            <a:spLocks xmlns:a="http://schemas.openxmlformats.org/drawingml/2006/main" noGrp="1"/>
          </p:cNvSpPr>
          <p:nvPr/>
        </p:nvSpPr>
        <p:spPr>
          <a:xfrm xmlns:a="http://schemas.openxmlformats.org/drawingml/2006/main">
            <a:off x="4610100" y="3286125"/>
            <a:ext cx="9734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Current document → approval due → documents/results → collections → members.</a:t>
            </a:r>
          </a:p>
        </p:txBody>
      </p:sp>
      <p:sp>
        <p:nvSpPr>
          <p:cNvPr id="13" name="structural-divider">
            <a:extLst xmlns:a="http://schemas.openxmlformats.org/drawingml/2006/main">
              <a:ext uri="{FF2B5EF4-FFF2-40B4-BE49-F238E27FC236}">
                <a16:creationId xmlns:a16="http://schemas.microsoft.com/office/drawing/2014/main" id="{9923861F-2B5B-4CE7-B918-4529C7A09CDF}"/>
              </a:ext>
            </a:extLst>
          </p:cNvPr>
          <p:cNvSpPr>
            <a:spLocks xmlns:a="http://schemas.openxmlformats.org/drawingml/2006/main" noGrp="1"/>
          </p:cNvSpPr>
          <p:nvPr/>
        </p:nvSpPr>
        <p:spPr>
          <a:xfrm xmlns:a="http://schemas.openxmlformats.org/drawingml/2006/main">
            <a:off x="895350" y="39814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4" name="row-number">
            <a:extLst xmlns:a="http://schemas.openxmlformats.org/drawingml/2006/main">
              <a:ext uri="{FF2B5EF4-FFF2-40B4-BE49-F238E27FC236}">
                <a16:creationId xmlns:a16="http://schemas.microsoft.com/office/drawing/2014/main" id="{09B8E0D3-51D1-4330-ADD0-1110A38D2608}"/>
              </a:ext>
            </a:extLst>
          </p:cNvPr>
          <p:cNvSpPr>
            <a:spLocks xmlns:a="http://schemas.openxmlformats.org/drawingml/2006/main" noGrp="1"/>
          </p:cNvSpPr>
          <p:nvPr/>
        </p:nvSpPr>
        <p:spPr>
          <a:xfrm xmlns:a="http://schemas.openxmlformats.org/drawingml/2006/main">
            <a:off x="895350" y="422910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03</a:t>
            </a:r>
          </a:p>
        </p:txBody>
      </p:sp>
      <p:sp>
        <p:nvSpPr>
          <p:cNvPr id="15" name="row-title">
            <a:extLst xmlns:a="http://schemas.openxmlformats.org/drawingml/2006/main">
              <a:ext uri="{FF2B5EF4-FFF2-40B4-BE49-F238E27FC236}">
                <a16:creationId xmlns:a16="http://schemas.microsoft.com/office/drawing/2014/main" id="{1A6F0228-50F9-4411-8506-30E8B27501A8}"/>
              </a:ext>
            </a:extLst>
          </p:cNvPr>
          <p:cNvSpPr>
            <a:spLocks xmlns:a="http://schemas.openxmlformats.org/drawingml/2006/main" noGrp="1"/>
          </p:cNvSpPr>
          <p:nvPr/>
        </p:nvSpPr>
        <p:spPr>
          <a:xfrm xmlns:a="http://schemas.openxmlformats.org/drawingml/2006/main">
            <a:off x="1733550" y="421957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Work / document</a:t>
            </a:r>
          </a:p>
        </p:txBody>
      </p:sp>
      <p:sp>
        <p:nvSpPr>
          <p:cNvPr id="16" name="row-detail">
            <a:extLst xmlns:a="http://schemas.openxmlformats.org/drawingml/2006/main">
              <a:ext uri="{FF2B5EF4-FFF2-40B4-BE49-F238E27FC236}">
                <a16:creationId xmlns:a16="http://schemas.microsoft.com/office/drawing/2014/main" id="{C8AD1FDA-FFB0-4750-8F44-C908131A2076}"/>
              </a:ext>
            </a:extLst>
          </p:cNvPr>
          <p:cNvSpPr>
            <a:spLocks xmlns:a="http://schemas.openxmlformats.org/drawingml/2006/main" noGrp="1"/>
          </p:cNvSpPr>
          <p:nvPr/>
        </p:nvSpPr>
        <p:spPr>
          <a:xfrm xmlns:a="http://schemas.openxmlformats.org/drawingml/2006/main">
            <a:off x="4610100" y="4248150"/>
            <a:ext cx="9734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Active object + result → edit/approve → context → lenses → inspector.</a:t>
            </a:r>
          </a:p>
        </p:txBody>
      </p:sp>
      <p:sp>
        <p:nvSpPr>
          <p:cNvPr id="17" name="structural-divider">
            <a:extLst xmlns:a="http://schemas.openxmlformats.org/drawingml/2006/main">
              <a:ext uri="{FF2B5EF4-FFF2-40B4-BE49-F238E27FC236}">
                <a16:creationId xmlns:a16="http://schemas.microsoft.com/office/drawing/2014/main" id="{C27AD760-8C06-4A2E-A67B-313C61881EC7}"/>
              </a:ext>
            </a:extLst>
          </p:cNvPr>
          <p:cNvSpPr>
            <a:spLocks xmlns:a="http://schemas.openxmlformats.org/drawingml/2006/main" noGrp="1"/>
          </p:cNvSpPr>
          <p:nvPr/>
        </p:nvSpPr>
        <p:spPr>
          <a:xfrm xmlns:a="http://schemas.openxmlformats.org/drawingml/2006/main">
            <a:off x="895350" y="49434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row-number">
            <a:extLst xmlns:a="http://schemas.openxmlformats.org/drawingml/2006/main">
              <a:ext uri="{FF2B5EF4-FFF2-40B4-BE49-F238E27FC236}">
                <a16:creationId xmlns:a16="http://schemas.microsoft.com/office/drawing/2014/main" id="{B98DB1ED-A1A0-4E07-8B1E-556305CDF18B}"/>
              </a:ext>
            </a:extLst>
          </p:cNvPr>
          <p:cNvSpPr>
            <a:spLocks xmlns:a="http://schemas.openxmlformats.org/drawingml/2006/main" noGrp="1"/>
          </p:cNvSpPr>
          <p:nvPr/>
        </p:nvSpPr>
        <p:spPr>
          <a:xfrm xmlns:a="http://schemas.openxmlformats.org/drawingml/2006/main">
            <a:off x="895350" y="51911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04</a:t>
            </a:r>
          </a:p>
        </p:txBody>
      </p:sp>
      <p:sp>
        <p:nvSpPr>
          <p:cNvPr id="19" name="row-title">
            <a:extLst xmlns:a="http://schemas.openxmlformats.org/drawingml/2006/main">
              <a:ext uri="{FF2B5EF4-FFF2-40B4-BE49-F238E27FC236}">
                <a16:creationId xmlns:a16="http://schemas.microsoft.com/office/drawing/2014/main" id="{CB1D9A3C-7A95-4177-A0CE-7662C0F22A04}"/>
              </a:ext>
            </a:extLst>
          </p:cNvPr>
          <p:cNvSpPr>
            <a:spLocks xmlns:a="http://schemas.openxmlformats.org/drawingml/2006/main" noGrp="1"/>
          </p:cNvSpPr>
          <p:nvPr/>
        </p:nvSpPr>
        <p:spPr>
          <a:xfrm xmlns:a="http://schemas.openxmlformats.org/drawingml/2006/main">
            <a:off x="1733550" y="5181600"/>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Chat</a:t>
            </a:r>
          </a:p>
        </p:txBody>
      </p:sp>
      <p:sp>
        <p:nvSpPr>
          <p:cNvPr id="20" name="row-detail">
            <a:extLst xmlns:a="http://schemas.openxmlformats.org/drawingml/2006/main">
              <a:ext uri="{FF2B5EF4-FFF2-40B4-BE49-F238E27FC236}">
                <a16:creationId xmlns:a16="http://schemas.microsoft.com/office/drawing/2014/main" id="{B6B33D96-03F6-40FB-B35A-8DD444D262F3}"/>
              </a:ext>
            </a:extLst>
          </p:cNvPr>
          <p:cNvSpPr>
            <a:spLocks xmlns:a="http://schemas.openxmlformats.org/drawingml/2006/main" noGrp="1"/>
          </p:cNvSpPr>
          <p:nvPr/>
        </p:nvSpPr>
        <p:spPr>
          <a:xfrm xmlns:a="http://schemas.openxmlformats.org/drawingml/2006/main">
            <a:off x="4610100" y="5210175"/>
            <a:ext cx="9734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Conversation + Send → selected result → context → durable job status.</a:t>
            </a:r>
          </a:p>
        </p:txBody>
      </p:sp>
      <p:sp>
        <p:nvSpPr>
          <p:cNvPr id="21" name="structural-divider">
            <a:extLst xmlns:a="http://schemas.openxmlformats.org/drawingml/2006/main">
              <a:ext uri="{FF2B5EF4-FFF2-40B4-BE49-F238E27FC236}">
                <a16:creationId xmlns:a16="http://schemas.microsoft.com/office/drawing/2014/main" id="{03C042B5-1BBD-49D9-A252-C9BDA126A9CF}"/>
              </a:ext>
            </a:extLst>
          </p:cNvPr>
          <p:cNvSpPr>
            <a:spLocks xmlns:a="http://schemas.openxmlformats.org/drawingml/2006/main" noGrp="1"/>
          </p:cNvSpPr>
          <p:nvPr/>
        </p:nvSpPr>
        <p:spPr>
          <a:xfrm xmlns:a="http://schemas.openxmlformats.org/drawingml/2006/main">
            <a:off x="895350" y="59055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2" name="row-number">
            <a:extLst xmlns:a="http://schemas.openxmlformats.org/drawingml/2006/main">
              <a:ext uri="{FF2B5EF4-FFF2-40B4-BE49-F238E27FC236}">
                <a16:creationId xmlns:a16="http://schemas.microsoft.com/office/drawing/2014/main" id="{F483F2DC-7DCC-4C04-8B04-30024483768C}"/>
              </a:ext>
            </a:extLst>
          </p:cNvPr>
          <p:cNvSpPr>
            <a:spLocks xmlns:a="http://schemas.openxmlformats.org/drawingml/2006/main" noGrp="1"/>
          </p:cNvSpPr>
          <p:nvPr/>
        </p:nvSpPr>
        <p:spPr>
          <a:xfrm xmlns:a="http://schemas.openxmlformats.org/drawingml/2006/main">
            <a:off x="895350" y="615315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05</a:t>
            </a:r>
          </a:p>
        </p:txBody>
      </p:sp>
      <p:sp>
        <p:nvSpPr>
          <p:cNvPr id="23" name="row-title">
            <a:extLst xmlns:a="http://schemas.openxmlformats.org/drawingml/2006/main">
              <a:ext uri="{FF2B5EF4-FFF2-40B4-BE49-F238E27FC236}">
                <a16:creationId xmlns:a16="http://schemas.microsoft.com/office/drawing/2014/main" id="{CF6557FA-5998-4ADF-8A16-B3A11A3F1F10}"/>
              </a:ext>
            </a:extLst>
          </p:cNvPr>
          <p:cNvSpPr>
            <a:spLocks xmlns:a="http://schemas.openxmlformats.org/drawingml/2006/main" noGrp="1"/>
          </p:cNvSpPr>
          <p:nvPr/>
        </p:nvSpPr>
        <p:spPr>
          <a:xfrm xmlns:a="http://schemas.openxmlformats.org/drawingml/2006/main">
            <a:off x="1733550" y="614362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Canvas</a:t>
            </a:r>
          </a:p>
        </p:txBody>
      </p:sp>
      <p:sp>
        <p:nvSpPr>
          <p:cNvPr id="24" name="row-detail">
            <a:extLst xmlns:a="http://schemas.openxmlformats.org/drawingml/2006/main">
              <a:ext uri="{FF2B5EF4-FFF2-40B4-BE49-F238E27FC236}">
                <a16:creationId xmlns:a16="http://schemas.microsoft.com/office/drawing/2014/main" id="{A59D896F-CAAB-4B61-9A28-10E3BFAA4E51}"/>
              </a:ext>
            </a:extLst>
          </p:cNvPr>
          <p:cNvSpPr>
            <a:spLocks xmlns:a="http://schemas.openxmlformats.org/drawingml/2006/main" noGrp="1"/>
          </p:cNvSpPr>
          <p:nvPr/>
        </p:nvSpPr>
        <p:spPr>
          <a:xfrm xmlns:a="http://schemas.openxmlformats.org/drawingml/2006/main">
            <a:off x="4610100" y="6172200"/>
            <a:ext cx="9734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Board + selection → touch + sync → selected-object actions → context.</a:t>
            </a:r>
          </a:p>
        </p:txBody>
      </p:sp>
      <p:sp>
        <p:nvSpPr>
          <p:cNvPr id="25" name="structural-divider">
            <a:extLst xmlns:a="http://schemas.openxmlformats.org/drawingml/2006/main">
              <a:ext uri="{FF2B5EF4-FFF2-40B4-BE49-F238E27FC236}">
                <a16:creationId xmlns:a16="http://schemas.microsoft.com/office/drawing/2014/main" id="{08B21D7F-81D4-4264-898D-0E43BB6D6604}"/>
              </a:ext>
            </a:extLst>
          </p:cNvPr>
          <p:cNvSpPr>
            <a:spLocks xmlns:a="http://schemas.openxmlformats.org/drawingml/2006/main" noGrp="1"/>
          </p:cNvSpPr>
          <p:nvPr/>
        </p:nvSpPr>
        <p:spPr>
          <a:xfrm xmlns:a="http://schemas.openxmlformats.org/drawingml/2006/main">
            <a:off x="895350" y="68675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Tree>
    <p:extLst>
      <p:ext uri="{BB962C8B-B14F-4D97-AF65-F5344CB8AC3E}">
        <p14:creationId xmlns:p14="http://schemas.microsoft.com/office/powerpoint/2010/main" val="6074318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kicker">
            <a:extLst xmlns:a="http://schemas.openxmlformats.org/drawingml/2006/main">
              <a:ext uri="{FF2B5EF4-FFF2-40B4-BE49-F238E27FC236}">
                <a16:creationId xmlns:a16="http://schemas.microsoft.com/office/drawing/2014/main" id="{D50D7AE5-6B51-4CDD-94C2-69404DD1EB9E}"/>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PAGE-LEVEL FEATURE PRIORITIES · FOLLOW THROUGH</a:t>
            </a:r>
          </a:p>
        </p:txBody>
      </p:sp>
      <p:sp>
        <p:nvSpPr>
          <p:cNvPr id="2" name="slide-title">
            <a:extLst xmlns:a="http://schemas.openxmlformats.org/drawingml/2006/main">
              <a:ext uri="{FF2B5EF4-FFF2-40B4-BE49-F238E27FC236}">
                <a16:creationId xmlns:a16="http://schemas.microsoft.com/office/drawing/2014/main" id="{E8D98387-16E9-4CB5-9CDC-76B6BF465EB2}"/>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Discovery and delivery must remain first-class</a:t>
            </a:r>
          </a:p>
        </p:txBody>
      </p:sp>
      <p:sp>
        <p:nvSpPr>
          <p:cNvPr id="3" name="structural-divider">
            <a:extLst xmlns:a="http://schemas.openxmlformats.org/drawingml/2006/main">
              <a:ext uri="{FF2B5EF4-FFF2-40B4-BE49-F238E27FC236}">
                <a16:creationId xmlns:a16="http://schemas.microsoft.com/office/drawing/2014/main" id="{9E6123FB-F759-4129-A163-087B555DA8D2}"/>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DBCCF581-8016-42D8-A9AD-141667FC9AF5}"/>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0D173653-7F86-4510-B63B-0022CB13285A}"/>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14</a:t>
            </a:r>
          </a:p>
        </p:txBody>
      </p:sp>
      <p:sp>
        <p:nvSpPr>
          <p:cNvPr id="6" name="row-number">
            <a:extLst xmlns:a="http://schemas.openxmlformats.org/drawingml/2006/main">
              <a:ext uri="{FF2B5EF4-FFF2-40B4-BE49-F238E27FC236}">
                <a16:creationId xmlns:a16="http://schemas.microsoft.com/office/drawing/2014/main" id="{8CF1A9C6-F6BE-4BE7-97CB-E7D200F45CAB}"/>
              </a:ext>
            </a:extLst>
          </p:cNvPr>
          <p:cNvSpPr>
            <a:spLocks xmlns:a="http://schemas.openxmlformats.org/drawingml/2006/main" noGrp="1"/>
          </p:cNvSpPr>
          <p:nvPr/>
        </p:nvSpPr>
        <p:spPr>
          <a:xfrm xmlns:a="http://schemas.openxmlformats.org/drawingml/2006/main">
            <a:off x="895350" y="23907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01</a:t>
            </a:r>
          </a:p>
        </p:txBody>
      </p:sp>
      <p:sp>
        <p:nvSpPr>
          <p:cNvPr id="7" name="row-title">
            <a:extLst xmlns:a="http://schemas.openxmlformats.org/drawingml/2006/main">
              <a:ext uri="{FF2B5EF4-FFF2-40B4-BE49-F238E27FC236}">
                <a16:creationId xmlns:a16="http://schemas.microsoft.com/office/drawing/2014/main" id="{71722F6E-9B1E-4A86-9F46-C73FD5BD8F03}"/>
              </a:ext>
            </a:extLst>
          </p:cNvPr>
          <p:cNvSpPr>
            <a:spLocks xmlns:a="http://schemas.openxmlformats.org/drawingml/2006/main" noGrp="1"/>
          </p:cNvSpPr>
          <p:nvPr/>
        </p:nvSpPr>
        <p:spPr>
          <a:xfrm xmlns:a="http://schemas.openxmlformats.org/drawingml/2006/main">
            <a:off x="1733550" y="2381250"/>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Explore / Library</a:t>
            </a:r>
          </a:p>
        </p:txBody>
      </p:sp>
      <p:sp>
        <p:nvSpPr>
          <p:cNvPr id="8" name="row-detail">
            <a:extLst xmlns:a="http://schemas.openxmlformats.org/drawingml/2006/main">
              <a:ext uri="{FF2B5EF4-FFF2-40B4-BE49-F238E27FC236}">
                <a16:creationId xmlns:a16="http://schemas.microsoft.com/office/drawing/2014/main" id="{305FCA3D-DCBB-4B4D-8ED4-37AB504C3652}"/>
              </a:ext>
            </a:extLst>
          </p:cNvPr>
          <p:cNvSpPr>
            <a:spLocks xmlns:a="http://schemas.openxmlformats.org/drawingml/2006/main" noGrp="1"/>
          </p:cNvSpPr>
          <p:nvPr/>
        </p:nvSpPr>
        <p:spPr>
          <a:xfrm xmlns:a="http://schemas.openxmlformats.org/drawingml/2006/main">
            <a:off x="4229100" y="2409825"/>
            <a:ext cx="10115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Search → current-project source + output → relevance/rights → reuse → collections.</a:t>
            </a:r>
          </a:p>
        </p:txBody>
      </p:sp>
      <p:sp>
        <p:nvSpPr>
          <p:cNvPr id="9" name="structural-divider">
            <a:extLst xmlns:a="http://schemas.openxmlformats.org/drawingml/2006/main">
              <a:ext uri="{FF2B5EF4-FFF2-40B4-BE49-F238E27FC236}">
                <a16:creationId xmlns:a16="http://schemas.microsoft.com/office/drawing/2014/main" id="{AE1DB1FB-321D-40D1-938E-5A949E241061}"/>
              </a:ext>
            </a:extLst>
          </p:cNvPr>
          <p:cNvSpPr>
            <a:spLocks xmlns:a="http://schemas.openxmlformats.org/drawingml/2006/main" noGrp="1"/>
          </p:cNvSpPr>
          <p:nvPr/>
        </p:nvSpPr>
        <p:spPr>
          <a:xfrm xmlns:a="http://schemas.openxmlformats.org/drawingml/2006/main">
            <a:off x="895350" y="31051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row-number">
            <a:extLst xmlns:a="http://schemas.openxmlformats.org/drawingml/2006/main">
              <a:ext uri="{FF2B5EF4-FFF2-40B4-BE49-F238E27FC236}">
                <a16:creationId xmlns:a16="http://schemas.microsoft.com/office/drawing/2014/main" id="{F5D54DF2-2747-44FE-9C45-1F09223B230E}"/>
              </a:ext>
            </a:extLst>
          </p:cNvPr>
          <p:cNvSpPr>
            <a:spLocks xmlns:a="http://schemas.openxmlformats.org/drawingml/2006/main" noGrp="1"/>
          </p:cNvSpPr>
          <p:nvPr/>
        </p:nvSpPr>
        <p:spPr>
          <a:xfrm xmlns:a="http://schemas.openxmlformats.org/drawingml/2006/main">
            <a:off x="895350" y="344805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02</a:t>
            </a:r>
          </a:p>
        </p:txBody>
      </p:sp>
      <p:sp>
        <p:nvSpPr>
          <p:cNvPr id="11" name="row-title">
            <a:extLst xmlns:a="http://schemas.openxmlformats.org/drawingml/2006/main">
              <a:ext uri="{FF2B5EF4-FFF2-40B4-BE49-F238E27FC236}">
                <a16:creationId xmlns:a16="http://schemas.microsoft.com/office/drawing/2014/main" id="{C345D11E-0368-4D0E-836D-A2225845E642}"/>
              </a:ext>
            </a:extLst>
          </p:cNvPr>
          <p:cNvSpPr>
            <a:spLocks xmlns:a="http://schemas.openxmlformats.org/drawingml/2006/main" noGrp="1"/>
          </p:cNvSpPr>
          <p:nvPr/>
        </p:nvSpPr>
        <p:spPr>
          <a:xfrm xmlns:a="http://schemas.openxmlformats.org/drawingml/2006/main">
            <a:off x="1733550" y="3438525"/>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Deliver</a:t>
            </a:r>
          </a:p>
        </p:txBody>
      </p:sp>
      <p:sp>
        <p:nvSpPr>
          <p:cNvPr id="12" name="row-detail">
            <a:extLst xmlns:a="http://schemas.openxmlformats.org/drawingml/2006/main">
              <a:ext uri="{FF2B5EF4-FFF2-40B4-BE49-F238E27FC236}">
                <a16:creationId xmlns:a16="http://schemas.microsoft.com/office/drawing/2014/main" id="{B4F28169-3F27-46DA-883E-34E19FD513A0}"/>
              </a:ext>
            </a:extLst>
          </p:cNvPr>
          <p:cNvSpPr>
            <a:spLocks xmlns:a="http://schemas.openxmlformats.org/drawingml/2006/main" noGrp="1"/>
          </p:cNvSpPr>
          <p:nvPr/>
        </p:nvSpPr>
        <p:spPr>
          <a:xfrm xmlns:a="http://schemas.openxmlformats.org/drawingml/2006/main">
            <a:off x="4229100" y="3467100"/>
            <a:ext cx="10115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Selected artifact → exact revision → approval state → editable Office/PDF handoff.</a:t>
            </a:r>
          </a:p>
        </p:txBody>
      </p:sp>
      <p:sp>
        <p:nvSpPr>
          <p:cNvPr id="13" name="structural-divider">
            <a:extLst xmlns:a="http://schemas.openxmlformats.org/drawingml/2006/main">
              <a:ext uri="{FF2B5EF4-FFF2-40B4-BE49-F238E27FC236}">
                <a16:creationId xmlns:a16="http://schemas.microsoft.com/office/drawing/2014/main" id="{3F9AE889-E4D3-4D21-87D2-F4FD010FC4A0}"/>
              </a:ext>
            </a:extLst>
          </p:cNvPr>
          <p:cNvSpPr>
            <a:spLocks xmlns:a="http://schemas.openxmlformats.org/drawingml/2006/main" noGrp="1"/>
          </p:cNvSpPr>
          <p:nvPr/>
        </p:nvSpPr>
        <p:spPr>
          <a:xfrm xmlns:a="http://schemas.openxmlformats.org/drawingml/2006/main">
            <a:off x="895350" y="41624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4" name="row-number">
            <a:extLst xmlns:a="http://schemas.openxmlformats.org/drawingml/2006/main">
              <a:ext uri="{FF2B5EF4-FFF2-40B4-BE49-F238E27FC236}">
                <a16:creationId xmlns:a16="http://schemas.microsoft.com/office/drawing/2014/main" id="{43425B05-6670-41FD-A440-A97157083814}"/>
              </a:ext>
            </a:extLst>
          </p:cNvPr>
          <p:cNvSpPr>
            <a:spLocks xmlns:a="http://schemas.openxmlformats.org/drawingml/2006/main" noGrp="1"/>
          </p:cNvSpPr>
          <p:nvPr/>
        </p:nvSpPr>
        <p:spPr>
          <a:xfrm xmlns:a="http://schemas.openxmlformats.org/drawingml/2006/main">
            <a:off x="895350" y="45053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03</a:t>
            </a:r>
          </a:p>
        </p:txBody>
      </p:sp>
      <p:sp>
        <p:nvSpPr>
          <p:cNvPr id="15" name="row-title">
            <a:extLst xmlns:a="http://schemas.openxmlformats.org/drawingml/2006/main">
              <a:ext uri="{FF2B5EF4-FFF2-40B4-BE49-F238E27FC236}">
                <a16:creationId xmlns:a16="http://schemas.microsoft.com/office/drawing/2014/main" id="{0E6795E7-9C60-4D75-94D5-E6FD6477C501}"/>
              </a:ext>
            </a:extLst>
          </p:cNvPr>
          <p:cNvSpPr>
            <a:spLocks xmlns:a="http://schemas.openxmlformats.org/drawingml/2006/main" noGrp="1"/>
          </p:cNvSpPr>
          <p:nvPr/>
        </p:nvSpPr>
        <p:spPr>
          <a:xfrm xmlns:a="http://schemas.openxmlformats.org/drawingml/2006/main">
            <a:off x="1733550" y="4495800"/>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Activity</a:t>
            </a:r>
          </a:p>
        </p:txBody>
      </p:sp>
      <p:sp>
        <p:nvSpPr>
          <p:cNvPr id="16" name="row-detail">
            <a:extLst xmlns:a="http://schemas.openxmlformats.org/drawingml/2006/main">
              <a:ext uri="{FF2B5EF4-FFF2-40B4-BE49-F238E27FC236}">
                <a16:creationId xmlns:a16="http://schemas.microsoft.com/office/drawing/2014/main" id="{4BE8E50B-010B-4E9E-A010-6DCD5F12C4DE}"/>
              </a:ext>
            </a:extLst>
          </p:cNvPr>
          <p:cNvSpPr>
            <a:spLocks xmlns:a="http://schemas.openxmlformats.org/drawingml/2006/main" noGrp="1"/>
          </p:cNvSpPr>
          <p:nvPr/>
        </p:nvSpPr>
        <p:spPr>
          <a:xfrm xmlns:a="http://schemas.openxmlformats.org/drawingml/2006/main">
            <a:off x="4229100" y="4524375"/>
            <a:ext cx="10115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Needs action → ready/failed → document/project scope → exact-resource navigation.</a:t>
            </a:r>
          </a:p>
        </p:txBody>
      </p:sp>
      <p:sp>
        <p:nvSpPr>
          <p:cNvPr id="17" name="structural-divider">
            <a:extLst xmlns:a="http://schemas.openxmlformats.org/drawingml/2006/main">
              <a:ext uri="{FF2B5EF4-FFF2-40B4-BE49-F238E27FC236}">
                <a16:creationId xmlns:a16="http://schemas.microsoft.com/office/drawing/2014/main" id="{4839D454-70DB-4E01-98EC-3551FC1244EB}"/>
              </a:ext>
            </a:extLst>
          </p:cNvPr>
          <p:cNvSpPr>
            <a:spLocks xmlns:a="http://schemas.openxmlformats.org/drawingml/2006/main" noGrp="1"/>
          </p:cNvSpPr>
          <p:nvPr/>
        </p:nvSpPr>
        <p:spPr>
          <a:xfrm xmlns:a="http://schemas.openxmlformats.org/drawingml/2006/main">
            <a:off x="895350" y="52197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row-number">
            <a:extLst xmlns:a="http://schemas.openxmlformats.org/drawingml/2006/main">
              <a:ext uri="{FF2B5EF4-FFF2-40B4-BE49-F238E27FC236}">
                <a16:creationId xmlns:a16="http://schemas.microsoft.com/office/drawing/2014/main" id="{E9D5EAA6-C5B8-4FA7-8F75-EB6A282C9E55}"/>
              </a:ext>
            </a:extLst>
          </p:cNvPr>
          <p:cNvSpPr>
            <a:spLocks xmlns:a="http://schemas.openxmlformats.org/drawingml/2006/main" noGrp="1"/>
          </p:cNvSpPr>
          <p:nvPr/>
        </p:nvSpPr>
        <p:spPr>
          <a:xfrm xmlns:a="http://schemas.openxmlformats.org/drawingml/2006/main">
            <a:off x="895350" y="556260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04</a:t>
            </a:r>
          </a:p>
        </p:txBody>
      </p:sp>
      <p:sp>
        <p:nvSpPr>
          <p:cNvPr id="19" name="row-title">
            <a:extLst xmlns:a="http://schemas.openxmlformats.org/drawingml/2006/main">
              <a:ext uri="{FF2B5EF4-FFF2-40B4-BE49-F238E27FC236}">
                <a16:creationId xmlns:a16="http://schemas.microsoft.com/office/drawing/2014/main" id="{CB884FB7-5EC1-4BDC-BD09-314E31813583}"/>
              </a:ext>
            </a:extLst>
          </p:cNvPr>
          <p:cNvSpPr>
            <a:spLocks xmlns:a="http://schemas.openxmlformats.org/drawingml/2006/main" noGrp="1"/>
          </p:cNvSpPr>
          <p:nvPr/>
        </p:nvSpPr>
        <p:spPr>
          <a:xfrm xmlns:a="http://schemas.openxmlformats.org/drawingml/2006/main">
            <a:off x="1733550" y="5553075"/>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Reviewer</a:t>
            </a:r>
          </a:p>
        </p:txBody>
      </p:sp>
      <p:sp>
        <p:nvSpPr>
          <p:cNvPr id="20" name="row-detail">
            <a:extLst xmlns:a="http://schemas.openxmlformats.org/drawingml/2006/main">
              <a:ext uri="{FF2B5EF4-FFF2-40B4-BE49-F238E27FC236}">
                <a16:creationId xmlns:a16="http://schemas.microsoft.com/office/drawing/2014/main" id="{28F72A47-3A32-4CEF-A7BE-1261F301585C}"/>
              </a:ext>
            </a:extLst>
          </p:cNvPr>
          <p:cNvSpPr>
            <a:spLocks xmlns:a="http://schemas.openxmlformats.org/drawingml/2006/main" noGrp="1"/>
          </p:cNvSpPr>
          <p:nvPr/>
        </p:nvSpPr>
        <p:spPr>
          <a:xfrm xmlns:a="http://schemas.openxmlformats.org/drawingml/2006/main">
            <a:off x="4229100" y="5581650"/>
            <a:ext cx="10115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Read complete work → understand evidence → approve/request change → audit.</a:t>
            </a:r>
          </a:p>
        </p:txBody>
      </p:sp>
      <p:sp>
        <p:nvSpPr>
          <p:cNvPr id="21" name="structural-divider">
            <a:extLst xmlns:a="http://schemas.openxmlformats.org/drawingml/2006/main">
              <a:ext uri="{FF2B5EF4-FFF2-40B4-BE49-F238E27FC236}">
                <a16:creationId xmlns:a16="http://schemas.microsoft.com/office/drawing/2014/main" id="{3E511465-BC57-4AA7-91A1-4DC94E5CEB50}"/>
              </a:ext>
            </a:extLst>
          </p:cNvPr>
          <p:cNvSpPr>
            <a:spLocks xmlns:a="http://schemas.openxmlformats.org/drawingml/2006/main" noGrp="1"/>
          </p:cNvSpPr>
          <p:nvPr/>
        </p:nvSpPr>
        <p:spPr>
          <a:xfrm xmlns:a="http://schemas.openxmlformats.org/drawingml/2006/main">
            <a:off x="895350" y="62769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2" name="body-paragraph">
            <a:extLst xmlns:a="http://schemas.openxmlformats.org/drawingml/2006/main">
              <a:ext uri="{FF2B5EF4-FFF2-40B4-BE49-F238E27FC236}">
                <a16:creationId xmlns:a16="http://schemas.microsoft.com/office/drawing/2014/main" id="{3D69E4AA-C887-4770-B6C5-32705442C212}"/>
              </a:ext>
            </a:extLst>
          </p:cNvPr>
          <p:cNvSpPr>
            <a:spLocks xmlns:a="http://schemas.openxmlformats.org/drawingml/2006/main" noGrp="1"/>
          </p:cNvSpPr>
          <p:nvPr/>
        </p:nvSpPr>
        <p:spPr>
          <a:xfrm xmlns:a="http://schemas.openxmlformats.org/drawingml/2006/main">
            <a:off x="895350" y="7086600"/>
            <a:ext cx="13449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759BC"/>
                </a:solidFill>
                <a:latin typeface="Helvetica Neue"/>
                <a:ea typeface="Helvetica Neue"/>
                <a:cs typeface="Helvetica Neue"/>
              </a:defRPr>
            </a:pPr>
            <a:r>
              <a:rPr sz="1800" b="1">
                <a:solidFill>
                  <a:srgbClr val="1759BC"/>
                </a:solidFill>
                <a:latin typeface="Helvetica Neue"/>
                <a:ea typeface="Helvetica Neue"/>
                <a:cs typeface="Helvetica Neue"/>
              </a:rPr>
              <a:t>Responsive presentation can move supporting detail into a pane or sheet; it cannot remove the job.</a:t>
            </a:r>
          </a:p>
        </p:txBody>
      </p:sp>
    </p:spTree>
    <p:extLst>
      <p:ext uri="{BB962C8B-B14F-4D97-AF65-F5344CB8AC3E}">
        <p14:creationId xmlns:p14="http://schemas.microsoft.com/office/powerpoint/2010/main" val="13832026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kicker">
            <a:extLst xmlns:a="http://schemas.openxmlformats.org/drawingml/2006/main">
              <a:ext uri="{FF2B5EF4-FFF2-40B4-BE49-F238E27FC236}">
                <a16:creationId xmlns:a16="http://schemas.microsoft.com/office/drawing/2014/main" id="{EB1AAEB0-E388-4187-A66C-72191F73516D}"/>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SCOPED ACTIVITY AND NOTIFICATIONS</a:t>
            </a:r>
          </a:p>
        </p:txBody>
      </p:sp>
      <p:sp>
        <p:nvSpPr>
          <p:cNvPr id="2" name="slide-title">
            <a:extLst xmlns:a="http://schemas.openxmlformats.org/drawingml/2006/main">
              <a:ext uri="{FF2B5EF4-FFF2-40B4-BE49-F238E27FC236}">
                <a16:creationId xmlns:a16="http://schemas.microsoft.com/office/drawing/2014/main" id="{810688AB-920D-4DC0-8FFA-B7930C5E5BE9}"/>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One inbox connects work, review, and recovery</a:t>
            </a:r>
          </a:p>
        </p:txBody>
      </p:sp>
      <p:sp>
        <p:nvSpPr>
          <p:cNvPr id="3" name="structural-divider">
            <a:extLst xmlns:a="http://schemas.openxmlformats.org/drawingml/2006/main">
              <a:ext uri="{FF2B5EF4-FFF2-40B4-BE49-F238E27FC236}">
                <a16:creationId xmlns:a16="http://schemas.microsoft.com/office/drawing/2014/main" id="{ACDCF690-EB9E-446E-8680-27F1B506E02D}"/>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D1BE79D3-7922-4F90-A30A-567C8AA8EE98}"/>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F14365BA-E4F0-40DD-9A4F-0B19ADF6D5A5}"/>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15</a:t>
            </a:r>
          </a:p>
        </p:txBody>
      </p:sp>
      <p:sp>
        <p:nvSpPr>
          <p:cNvPr id="6" name="section-heading">
            <a:extLst xmlns:a="http://schemas.openxmlformats.org/drawingml/2006/main">
              <a:ext uri="{FF2B5EF4-FFF2-40B4-BE49-F238E27FC236}">
                <a16:creationId xmlns:a16="http://schemas.microsoft.com/office/drawing/2014/main" id="{3EF96B8C-8BDD-40B5-A959-46856C0EB4FE}"/>
              </a:ext>
            </a:extLst>
          </p:cNvPr>
          <p:cNvSpPr>
            <a:spLocks xmlns:a="http://schemas.openxmlformats.org/drawingml/2006/main" noGrp="1"/>
          </p:cNvSpPr>
          <p:nvPr/>
        </p:nvSpPr>
        <p:spPr>
          <a:xfrm xmlns:a="http://schemas.openxmlformats.org/drawingml/2006/main">
            <a:off x="895350" y="2447925"/>
            <a:ext cx="607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Show what needs a human</a:t>
            </a:r>
          </a:p>
        </p:txBody>
      </p:sp>
      <p:sp>
        <p:nvSpPr>
          <p:cNvPr id="7" name="list-marker">
            <a:extLst xmlns:a="http://schemas.openxmlformats.org/drawingml/2006/main">
              <a:ext uri="{FF2B5EF4-FFF2-40B4-BE49-F238E27FC236}">
                <a16:creationId xmlns:a16="http://schemas.microsoft.com/office/drawing/2014/main" id="{663F4237-F834-4F56-8E62-F478D250C1A7}"/>
              </a:ext>
            </a:extLst>
          </p:cNvPr>
          <p:cNvSpPr>
            <a:spLocks xmlns:a="http://schemas.openxmlformats.org/drawingml/2006/main" noGrp="1"/>
          </p:cNvSpPr>
          <p:nvPr/>
        </p:nvSpPr>
        <p:spPr>
          <a:xfrm xmlns:a="http://schemas.openxmlformats.org/drawingml/2006/main">
            <a:off x="895350" y="31432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8" name="list-item">
            <a:extLst xmlns:a="http://schemas.openxmlformats.org/drawingml/2006/main">
              <a:ext uri="{FF2B5EF4-FFF2-40B4-BE49-F238E27FC236}">
                <a16:creationId xmlns:a16="http://schemas.microsoft.com/office/drawing/2014/main" id="{CE168067-3ABB-4C71-AD06-48D97EE4C1DE}"/>
              </a:ext>
            </a:extLst>
          </p:cNvPr>
          <p:cNvSpPr>
            <a:spLocks xmlns:a="http://schemas.openxmlformats.org/drawingml/2006/main" noGrp="1"/>
          </p:cNvSpPr>
          <p:nvPr/>
        </p:nvSpPr>
        <p:spPr>
          <a:xfrm xmlns:a="http://schemas.openxmlformats.org/drawingml/2006/main">
            <a:off x="1295400" y="3143250"/>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Approval or independent review requested.</a:t>
            </a:r>
          </a:p>
        </p:txBody>
      </p:sp>
      <p:sp>
        <p:nvSpPr>
          <p:cNvPr id="9" name="list-marker">
            <a:extLst xmlns:a="http://schemas.openxmlformats.org/drawingml/2006/main">
              <a:ext uri="{FF2B5EF4-FFF2-40B4-BE49-F238E27FC236}">
                <a16:creationId xmlns:a16="http://schemas.microsoft.com/office/drawing/2014/main" id="{A59DB856-F49D-4CDA-A1BC-E94881C35659}"/>
              </a:ext>
            </a:extLst>
          </p:cNvPr>
          <p:cNvSpPr>
            <a:spLocks xmlns:a="http://schemas.openxmlformats.org/drawingml/2006/main" noGrp="1"/>
          </p:cNvSpPr>
          <p:nvPr/>
        </p:nvSpPr>
        <p:spPr>
          <a:xfrm xmlns:a="http://schemas.openxmlformats.org/drawingml/2006/main">
            <a:off x="895350" y="38004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0" name="list-item">
            <a:extLst xmlns:a="http://schemas.openxmlformats.org/drawingml/2006/main">
              <a:ext uri="{FF2B5EF4-FFF2-40B4-BE49-F238E27FC236}">
                <a16:creationId xmlns:a16="http://schemas.microsoft.com/office/drawing/2014/main" id="{FC77AF34-24D1-4729-A069-1F813E07592F}"/>
              </a:ext>
            </a:extLst>
          </p:cNvPr>
          <p:cNvSpPr>
            <a:spLocks xmlns:a="http://schemas.openxmlformats.org/drawingml/2006/main" noGrp="1"/>
          </p:cNvSpPr>
          <p:nvPr/>
        </p:nvSpPr>
        <p:spPr>
          <a:xfrm xmlns:a="http://schemas.openxmlformats.org/drawingml/2006/main">
            <a:off x="1295400" y="3800475"/>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Requested changes or approval invalidated.</a:t>
            </a:r>
          </a:p>
        </p:txBody>
      </p:sp>
      <p:sp>
        <p:nvSpPr>
          <p:cNvPr id="11" name="list-marker">
            <a:extLst xmlns:a="http://schemas.openxmlformats.org/drawingml/2006/main">
              <a:ext uri="{FF2B5EF4-FFF2-40B4-BE49-F238E27FC236}">
                <a16:creationId xmlns:a16="http://schemas.microsoft.com/office/drawing/2014/main" id="{10979482-FA9A-4FE8-AFE7-35A6054FD72D}"/>
              </a:ext>
            </a:extLst>
          </p:cNvPr>
          <p:cNvSpPr>
            <a:spLocks xmlns:a="http://schemas.openxmlformats.org/drawingml/2006/main" noGrp="1"/>
          </p:cNvSpPr>
          <p:nvPr/>
        </p:nvSpPr>
        <p:spPr>
          <a:xfrm xmlns:a="http://schemas.openxmlformats.org/drawingml/2006/main">
            <a:off x="895350" y="44577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2" name="list-item">
            <a:extLst xmlns:a="http://schemas.openxmlformats.org/drawingml/2006/main">
              <a:ext uri="{FF2B5EF4-FFF2-40B4-BE49-F238E27FC236}">
                <a16:creationId xmlns:a16="http://schemas.microsoft.com/office/drawing/2014/main" id="{484A6DFA-DF7B-4CB5-8E9C-64356B46E806}"/>
              </a:ext>
            </a:extLst>
          </p:cNvPr>
          <p:cNvSpPr>
            <a:spLocks xmlns:a="http://schemas.openxmlformats.org/drawingml/2006/main" noGrp="1"/>
          </p:cNvSpPr>
          <p:nvPr/>
        </p:nvSpPr>
        <p:spPr>
          <a:xfrm xmlns:a="http://schemas.openxmlformats.org/drawingml/2006/main">
            <a:off x="1295400" y="4457700"/>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Output ready, failed, blocked, or recovered.</a:t>
            </a:r>
          </a:p>
        </p:txBody>
      </p:sp>
      <p:sp>
        <p:nvSpPr>
          <p:cNvPr id="13" name="list-marker">
            <a:extLst xmlns:a="http://schemas.openxmlformats.org/drawingml/2006/main">
              <a:ext uri="{FF2B5EF4-FFF2-40B4-BE49-F238E27FC236}">
                <a16:creationId xmlns:a16="http://schemas.microsoft.com/office/drawing/2014/main" id="{D4A617E5-7773-4F96-A2E7-35881E0FD017}"/>
              </a:ext>
            </a:extLst>
          </p:cNvPr>
          <p:cNvSpPr>
            <a:spLocks xmlns:a="http://schemas.openxmlformats.org/drawingml/2006/main" noGrp="1"/>
          </p:cNvSpPr>
          <p:nvPr/>
        </p:nvSpPr>
        <p:spPr>
          <a:xfrm xmlns:a="http://schemas.openxmlformats.org/drawingml/2006/main">
            <a:off x="895350" y="511492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4" name="list-item">
            <a:extLst xmlns:a="http://schemas.openxmlformats.org/drawingml/2006/main">
              <a:ext uri="{FF2B5EF4-FFF2-40B4-BE49-F238E27FC236}">
                <a16:creationId xmlns:a16="http://schemas.microsoft.com/office/drawing/2014/main" id="{68CB823B-6894-4552-9EFA-F36B3F8B6AA3}"/>
              </a:ext>
            </a:extLst>
          </p:cNvPr>
          <p:cNvSpPr>
            <a:spLocks xmlns:a="http://schemas.openxmlformats.org/drawingml/2006/main" noGrp="1"/>
          </p:cNvSpPr>
          <p:nvPr/>
        </p:nvSpPr>
        <p:spPr>
          <a:xfrm xmlns:a="http://schemas.openxmlformats.org/drawingml/2006/main">
            <a:off x="1295400" y="5114925"/>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Source changed or board synchronization failed.</a:t>
            </a:r>
          </a:p>
        </p:txBody>
      </p:sp>
      <p:sp>
        <p:nvSpPr>
          <p:cNvPr id="15" name="list-marker">
            <a:extLst xmlns:a="http://schemas.openxmlformats.org/drawingml/2006/main">
              <a:ext uri="{FF2B5EF4-FFF2-40B4-BE49-F238E27FC236}">
                <a16:creationId xmlns:a16="http://schemas.microsoft.com/office/drawing/2014/main" id="{E89508EC-DD3C-43FE-86B4-687266CC78F5}"/>
              </a:ext>
            </a:extLst>
          </p:cNvPr>
          <p:cNvSpPr>
            <a:spLocks xmlns:a="http://schemas.openxmlformats.org/drawingml/2006/main" noGrp="1"/>
          </p:cNvSpPr>
          <p:nvPr/>
        </p:nvSpPr>
        <p:spPr>
          <a:xfrm xmlns:a="http://schemas.openxmlformats.org/drawingml/2006/main">
            <a:off x="895350" y="57721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6" name="list-item">
            <a:extLst xmlns:a="http://schemas.openxmlformats.org/drawingml/2006/main">
              <a:ext uri="{FF2B5EF4-FFF2-40B4-BE49-F238E27FC236}">
                <a16:creationId xmlns:a16="http://schemas.microsoft.com/office/drawing/2014/main" id="{34933815-AAE1-44AA-9C35-E2135C989846}"/>
              </a:ext>
            </a:extLst>
          </p:cNvPr>
          <p:cNvSpPr>
            <a:spLocks xmlns:a="http://schemas.openxmlformats.org/drawingml/2006/main" noGrp="1"/>
          </p:cNvSpPr>
          <p:nvPr/>
        </p:nvSpPr>
        <p:spPr>
          <a:xfrm xmlns:a="http://schemas.openxmlformats.org/drawingml/2006/main">
            <a:off x="1295400" y="5772150"/>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Exact destination, reason, and actor-safe action.</a:t>
            </a:r>
          </a:p>
        </p:txBody>
      </p:sp>
      <p:sp>
        <p:nvSpPr>
          <p:cNvPr id="17" name="section-heading">
            <a:extLst xmlns:a="http://schemas.openxmlformats.org/drawingml/2006/main">
              <a:ext uri="{FF2B5EF4-FFF2-40B4-BE49-F238E27FC236}">
                <a16:creationId xmlns:a16="http://schemas.microsoft.com/office/drawing/2014/main" id="{DE6E72BC-4C02-4A8C-ABBB-ED5759BFF533}"/>
              </a:ext>
            </a:extLst>
          </p:cNvPr>
          <p:cNvSpPr>
            <a:spLocks xmlns:a="http://schemas.openxmlformats.org/drawingml/2006/main" noGrp="1"/>
          </p:cNvSpPr>
          <p:nvPr/>
        </p:nvSpPr>
        <p:spPr>
          <a:xfrm xmlns:a="http://schemas.openxmlformats.org/drawingml/2006/main">
            <a:off x="8096250" y="2447925"/>
            <a:ext cx="607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Keep the boundary explicit</a:t>
            </a:r>
          </a:p>
        </p:txBody>
      </p:sp>
      <p:sp>
        <p:nvSpPr>
          <p:cNvPr id="18" name="list-marker">
            <a:extLst xmlns:a="http://schemas.openxmlformats.org/drawingml/2006/main">
              <a:ext uri="{FF2B5EF4-FFF2-40B4-BE49-F238E27FC236}">
                <a16:creationId xmlns:a16="http://schemas.microsoft.com/office/drawing/2014/main" id="{F17556DC-776E-496E-A3DD-82D0A3713E3F}"/>
              </a:ext>
            </a:extLst>
          </p:cNvPr>
          <p:cNvSpPr>
            <a:spLocks xmlns:a="http://schemas.openxmlformats.org/drawingml/2006/main" noGrp="1"/>
          </p:cNvSpPr>
          <p:nvPr/>
        </p:nvSpPr>
        <p:spPr>
          <a:xfrm xmlns:a="http://schemas.openxmlformats.org/drawingml/2006/main">
            <a:off x="8096250" y="31432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19" name="list-item">
            <a:extLst xmlns:a="http://schemas.openxmlformats.org/drawingml/2006/main">
              <a:ext uri="{FF2B5EF4-FFF2-40B4-BE49-F238E27FC236}">
                <a16:creationId xmlns:a16="http://schemas.microsoft.com/office/drawing/2014/main" id="{2EB1EA26-D4F4-4358-B952-2D5C2EF9DAFF}"/>
              </a:ext>
            </a:extLst>
          </p:cNvPr>
          <p:cNvSpPr>
            <a:spLocks xmlns:a="http://schemas.openxmlformats.org/drawingml/2006/main" noGrp="1"/>
          </p:cNvSpPr>
          <p:nvPr/>
        </p:nvSpPr>
        <p:spPr>
          <a:xfrm xmlns:a="http://schemas.openxmlformats.org/drawingml/2006/main">
            <a:off x="8496300" y="3143250"/>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Scope by organization, project, and recipient.</a:t>
            </a:r>
          </a:p>
        </p:txBody>
      </p:sp>
      <p:sp>
        <p:nvSpPr>
          <p:cNvPr id="20" name="list-marker">
            <a:extLst xmlns:a="http://schemas.openxmlformats.org/drawingml/2006/main">
              <a:ext uri="{FF2B5EF4-FFF2-40B4-BE49-F238E27FC236}">
                <a16:creationId xmlns:a16="http://schemas.microsoft.com/office/drawing/2014/main" id="{191DD601-93E6-417B-AA8F-4B67D51B25FE}"/>
              </a:ext>
            </a:extLst>
          </p:cNvPr>
          <p:cNvSpPr>
            <a:spLocks xmlns:a="http://schemas.openxmlformats.org/drawingml/2006/main" noGrp="1"/>
          </p:cNvSpPr>
          <p:nvPr/>
        </p:nvSpPr>
        <p:spPr>
          <a:xfrm xmlns:a="http://schemas.openxmlformats.org/drawingml/2006/main">
            <a:off x="8096250" y="38004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1" name="list-item">
            <a:extLst xmlns:a="http://schemas.openxmlformats.org/drawingml/2006/main">
              <a:ext uri="{FF2B5EF4-FFF2-40B4-BE49-F238E27FC236}">
                <a16:creationId xmlns:a16="http://schemas.microsoft.com/office/drawing/2014/main" id="{478461E8-3789-4272-9996-F5BB7D17EFF3}"/>
              </a:ext>
            </a:extLst>
          </p:cNvPr>
          <p:cNvSpPr>
            <a:spLocks xmlns:a="http://schemas.openxmlformats.org/drawingml/2006/main" noGrp="1"/>
          </p:cNvSpPr>
          <p:nvPr/>
        </p:nvSpPr>
        <p:spPr>
          <a:xfrm xmlns:a="http://schemas.openxmlformats.org/drawingml/2006/main">
            <a:off x="8496300" y="3800475"/>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Separate shared activity from actor-private jobs.</a:t>
            </a:r>
          </a:p>
        </p:txBody>
      </p:sp>
      <p:sp>
        <p:nvSpPr>
          <p:cNvPr id="22" name="list-marker">
            <a:extLst xmlns:a="http://schemas.openxmlformats.org/drawingml/2006/main">
              <a:ext uri="{FF2B5EF4-FFF2-40B4-BE49-F238E27FC236}">
                <a16:creationId xmlns:a16="http://schemas.microsoft.com/office/drawing/2014/main" id="{8FA2658C-38AA-45E7-AE68-E890EFB7216A}"/>
              </a:ext>
            </a:extLst>
          </p:cNvPr>
          <p:cNvSpPr>
            <a:spLocks xmlns:a="http://schemas.openxmlformats.org/drawingml/2006/main" noGrp="1"/>
          </p:cNvSpPr>
          <p:nvPr/>
        </p:nvSpPr>
        <p:spPr>
          <a:xfrm xmlns:a="http://schemas.openxmlformats.org/drawingml/2006/main">
            <a:off x="8096250" y="44577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3" name="list-item">
            <a:extLst xmlns:a="http://schemas.openxmlformats.org/drawingml/2006/main">
              <a:ext uri="{FF2B5EF4-FFF2-40B4-BE49-F238E27FC236}">
                <a16:creationId xmlns:a16="http://schemas.microsoft.com/office/drawing/2014/main" id="{D07F8FE2-11AC-4C2F-8956-08AD0AC9CBFE}"/>
              </a:ext>
            </a:extLst>
          </p:cNvPr>
          <p:cNvSpPr>
            <a:spLocks xmlns:a="http://schemas.openxmlformats.org/drawingml/2006/main" noGrp="1"/>
          </p:cNvSpPr>
          <p:nvPr/>
        </p:nvSpPr>
        <p:spPr>
          <a:xfrm xmlns:a="http://schemas.openxmlformats.org/drawingml/2006/main">
            <a:off x="8496300" y="4457700"/>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Recheck membership and review permissions.</a:t>
            </a:r>
          </a:p>
        </p:txBody>
      </p:sp>
      <p:sp>
        <p:nvSpPr>
          <p:cNvPr id="24" name="list-marker">
            <a:extLst xmlns:a="http://schemas.openxmlformats.org/drawingml/2006/main">
              <a:ext uri="{FF2B5EF4-FFF2-40B4-BE49-F238E27FC236}">
                <a16:creationId xmlns:a16="http://schemas.microsoft.com/office/drawing/2014/main" id="{4274C1BD-CE9C-41B3-843C-B0EA14665D04}"/>
              </a:ext>
            </a:extLst>
          </p:cNvPr>
          <p:cNvSpPr>
            <a:spLocks xmlns:a="http://schemas.openxmlformats.org/drawingml/2006/main" noGrp="1"/>
          </p:cNvSpPr>
          <p:nvPr/>
        </p:nvSpPr>
        <p:spPr>
          <a:xfrm xmlns:a="http://schemas.openxmlformats.org/drawingml/2006/main">
            <a:off x="8096250" y="511492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5" name="list-item">
            <a:extLst xmlns:a="http://schemas.openxmlformats.org/drawingml/2006/main">
              <a:ext uri="{FF2B5EF4-FFF2-40B4-BE49-F238E27FC236}">
                <a16:creationId xmlns:a16="http://schemas.microsoft.com/office/drawing/2014/main" id="{FF5AAF4C-A792-4F8A-8C27-34359F14502B}"/>
              </a:ext>
            </a:extLst>
          </p:cNvPr>
          <p:cNvSpPr>
            <a:spLocks xmlns:a="http://schemas.openxmlformats.org/drawingml/2006/main" noGrp="1"/>
          </p:cNvSpPr>
          <p:nvPr/>
        </p:nvSpPr>
        <p:spPr>
          <a:xfrm xmlns:a="http://schemas.openxmlformats.org/drawingml/2006/main">
            <a:off x="8496300" y="5114925"/>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A tap navigates; it does not imply completion.</a:t>
            </a:r>
          </a:p>
        </p:txBody>
      </p:sp>
      <p:sp>
        <p:nvSpPr>
          <p:cNvPr id="26" name="list-marker">
            <a:extLst xmlns:a="http://schemas.openxmlformats.org/drawingml/2006/main">
              <a:ext uri="{FF2B5EF4-FFF2-40B4-BE49-F238E27FC236}">
                <a16:creationId xmlns:a16="http://schemas.microsoft.com/office/drawing/2014/main" id="{E0C2824B-76AE-4416-939A-76216C9D9496}"/>
              </a:ext>
            </a:extLst>
          </p:cNvPr>
          <p:cNvSpPr>
            <a:spLocks xmlns:a="http://schemas.openxmlformats.org/drawingml/2006/main" noGrp="1"/>
          </p:cNvSpPr>
          <p:nvPr/>
        </p:nvSpPr>
        <p:spPr>
          <a:xfrm xmlns:a="http://schemas.openxmlformats.org/drawingml/2006/main">
            <a:off x="8096250" y="57721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2875E7"/>
                </a:solidFill>
                <a:latin typeface="Helvetica Neue"/>
                <a:ea typeface="Helvetica Neue"/>
                <a:cs typeface="Helvetica Neue"/>
              </a:defRPr>
            </a:pPr>
            <a:r>
              <a:rPr sz="1725" b="1">
                <a:solidFill>
                  <a:srgbClr val="2875E7"/>
                </a:solidFill>
                <a:latin typeface="Helvetica Neue"/>
                <a:ea typeface="Helvetica Neue"/>
                <a:cs typeface="Helvetica Neue"/>
              </a:rPr>
              <a:t>—</a:t>
            </a:r>
          </a:p>
        </p:txBody>
      </p:sp>
      <p:sp>
        <p:nvSpPr>
          <p:cNvPr id="27" name="list-item">
            <a:extLst xmlns:a="http://schemas.openxmlformats.org/drawingml/2006/main">
              <a:ext uri="{FF2B5EF4-FFF2-40B4-BE49-F238E27FC236}">
                <a16:creationId xmlns:a16="http://schemas.microsoft.com/office/drawing/2014/main" id="{F45ACBE7-A5B6-448B-A5E0-27D8140BB335}"/>
              </a:ext>
            </a:extLst>
          </p:cNvPr>
          <p:cNvSpPr>
            <a:spLocks xmlns:a="http://schemas.openxmlformats.org/drawingml/2006/main" noGrp="1"/>
          </p:cNvSpPr>
          <p:nvPr/>
        </p:nvSpPr>
        <p:spPr>
          <a:xfrm xmlns:a="http://schemas.openxmlformats.org/drawingml/2006/main">
            <a:off x="8496300" y="5772150"/>
            <a:ext cx="567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17191C"/>
                </a:solidFill>
                <a:latin typeface="Helvetica Neue"/>
                <a:ea typeface="Helvetica Neue"/>
                <a:cs typeface="Helvetica Neue"/>
              </a:defRPr>
            </a:pPr>
            <a:r>
              <a:rPr sz="1725" b="0">
                <a:solidFill>
                  <a:srgbClr val="17191C"/>
                </a:solidFill>
                <a:latin typeface="Helvetica Neue"/>
                <a:ea typeface="Helvetica Neue"/>
                <a:cs typeface="Helvetica Neue"/>
              </a:rPr>
              <a:t>Do not expose private chat, prompts, or inputs.</a:t>
            </a:r>
          </a:p>
        </p:txBody>
      </p:sp>
      <p:sp>
        <p:nvSpPr>
          <p:cNvPr id="28" name="body-paragraph">
            <a:extLst xmlns:a="http://schemas.openxmlformats.org/drawingml/2006/main">
              <a:ext uri="{FF2B5EF4-FFF2-40B4-BE49-F238E27FC236}">
                <a16:creationId xmlns:a16="http://schemas.microsoft.com/office/drawing/2014/main" id="{9076DE49-B645-43E6-82C9-C18FE82DD288}"/>
              </a:ext>
            </a:extLst>
          </p:cNvPr>
          <p:cNvSpPr>
            <a:spLocks xmlns:a="http://schemas.openxmlformats.org/drawingml/2006/main" noGrp="1"/>
          </p:cNvSpPr>
          <p:nvPr/>
        </p:nvSpPr>
        <p:spPr>
          <a:xfrm xmlns:a="http://schemas.openxmlformats.org/drawingml/2006/main">
            <a:off x="895350" y="7172325"/>
            <a:ext cx="134493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1759BC"/>
                </a:solidFill>
                <a:latin typeface="Helvetica Neue"/>
                <a:ea typeface="Helvetica Neue"/>
                <a:cs typeface="Helvetica Neue"/>
              </a:defRPr>
            </a:pPr>
            <a:r>
              <a:rPr sz="1725" b="1">
                <a:solidFill>
                  <a:srgbClr val="1759BC"/>
                </a:solidFill>
                <a:latin typeface="Helvetica Neue"/>
                <a:ea typeface="Helvetica Neue"/>
                <a:cs typeface="Helvetica Neue"/>
              </a:rPr>
              <a:t>Extend the existing safe notification contract; do not build an unscoped global feed.</a:t>
            </a:r>
          </a:p>
        </p:txBody>
      </p:sp>
    </p:spTree>
    <p:extLst>
      <p:ext uri="{BB962C8B-B14F-4D97-AF65-F5344CB8AC3E}">
        <p14:creationId xmlns:p14="http://schemas.microsoft.com/office/powerpoint/2010/main" val="13834394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kicker">
            <a:extLst xmlns:a="http://schemas.openxmlformats.org/drawingml/2006/main">
              <a:ext uri="{FF2B5EF4-FFF2-40B4-BE49-F238E27FC236}">
                <a16:creationId xmlns:a16="http://schemas.microsoft.com/office/drawing/2014/main" id="{8AC6AD0B-E857-47CE-86A5-A68F2F767805}"/>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RESPONSIVE ENGINEERING ARCHITECTURE</a:t>
            </a:r>
          </a:p>
        </p:txBody>
      </p:sp>
      <p:sp>
        <p:nvSpPr>
          <p:cNvPr id="2" name="slide-title">
            <a:extLst xmlns:a="http://schemas.openxmlformats.org/drawingml/2006/main">
              <a:ext uri="{FF2B5EF4-FFF2-40B4-BE49-F238E27FC236}">
                <a16:creationId xmlns:a16="http://schemas.microsoft.com/office/drawing/2014/main" id="{F6E084B8-55E2-41D5-9E01-3AB9E7E56474}"/>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Four independent inputs govern adaptation</a:t>
            </a:r>
          </a:p>
        </p:txBody>
      </p:sp>
      <p:sp>
        <p:nvSpPr>
          <p:cNvPr id="3" name="structural-divider">
            <a:extLst xmlns:a="http://schemas.openxmlformats.org/drawingml/2006/main">
              <a:ext uri="{FF2B5EF4-FFF2-40B4-BE49-F238E27FC236}">
                <a16:creationId xmlns:a16="http://schemas.microsoft.com/office/drawing/2014/main" id="{95F5088E-0B2F-496C-92F2-EE5BE78D62F2}"/>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0EE6A6E-24EA-4809-80B9-E1802007B7C3}"/>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602B1004-740E-49EB-B5AE-225D65EF7E7A}"/>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16</a:t>
            </a:r>
          </a:p>
        </p:txBody>
      </p:sp>
      <p:sp>
        <p:nvSpPr>
          <p:cNvPr id="6" name="row-number">
            <a:extLst xmlns:a="http://schemas.openxmlformats.org/drawingml/2006/main">
              <a:ext uri="{FF2B5EF4-FFF2-40B4-BE49-F238E27FC236}">
                <a16:creationId xmlns:a16="http://schemas.microsoft.com/office/drawing/2014/main" id="{9CFEB986-2435-49BD-804B-E5D9C937C966}"/>
              </a:ext>
            </a:extLst>
          </p:cNvPr>
          <p:cNvSpPr>
            <a:spLocks xmlns:a="http://schemas.openxmlformats.org/drawingml/2006/main" noGrp="1"/>
          </p:cNvSpPr>
          <p:nvPr/>
        </p:nvSpPr>
        <p:spPr>
          <a:xfrm xmlns:a="http://schemas.openxmlformats.org/drawingml/2006/main">
            <a:off x="895350" y="23526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01</a:t>
            </a:r>
          </a:p>
        </p:txBody>
      </p:sp>
      <p:sp>
        <p:nvSpPr>
          <p:cNvPr id="7" name="row-title">
            <a:extLst xmlns:a="http://schemas.openxmlformats.org/drawingml/2006/main">
              <a:ext uri="{FF2B5EF4-FFF2-40B4-BE49-F238E27FC236}">
                <a16:creationId xmlns:a16="http://schemas.microsoft.com/office/drawing/2014/main" id="{18D4A56B-0362-4E62-97B5-FAF9550DE74F}"/>
              </a:ext>
            </a:extLst>
          </p:cNvPr>
          <p:cNvSpPr>
            <a:spLocks xmlns:a="http://schemas.openxmlformats.org/drawingml/2006/main" noGrp="1"/>
          </p:cNvSpPr>
          <p:nvPr/>
        </p:nvSpPr>
        <p:spPr>
          <a:xfrm xmlns:a="http://schemas.openxmlformats.org/drawingml/2006/main">
            <a:off x="1733550" y="2343150"/>
            <a:ext cx="2781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Viewport width</a:t>
            </a:r>
          </a:p>
        </p:txBody>
      </p:sp>
      <p:sp>
        <p:nvSpPr>
          <p:cNvPr id="8" name="row-detail">
            <a:extLst xmlns:a="http://schemas.openxmlformats.org/drawingml/2006/main">
              <a:ext uri="{FF2B5EF4-FFF2-40B4-BE49-F238E27FC236}">
                <a16:creationId xmlns:a16="http://schemas.microsoft.com/office/drawing/2014/main" id="{198D1BB5-5CA7-497E-A483-C994F4E9F8BF}"/>
              </a:ext>
            </a:extLst>
          </p:cNvPr>
          <p:cNvSpPr>
            <a:spLocks xmlns:a="http://schemas.openxmlformats.org/drawingml/2006/main" noGrp="1"/>
          </p:cNvSpPr>
          <p:nvPr/>
        </p:nvSpPr>
        <p:spPr>
          <a:xfrm xmlns:a="http://schemas.openxmlformats.org/drawingml/2006/main">
            <a:off x="4676775" y="2371725"/>
            <a:ext cx="9667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Owns global navigation and shell: compact, medium, expanded, wide, extra-wide.</a:t>
            </a:r>
          </a:p>
        </p:txBody>
      </p:sp>
      <p:sp>
        <p:nvSpPr>
          <p:cNvPr id="9" name="structural-divider">
            <a:extLst xmlns:a="http://schemas.openxmlformats.org/drawingml/2006/main">
              <a:ext uri="{FF2B5EF4-FFF2-40B4-BE49-F238E27FC236}">
                <a16:creationId xmlns:a16="http://schemas.microsoft.com/office/drawing/2014/main" id="{2F860D65-FAE1-42C3-924D-C9A50ACFC146}"/>
              </a:ext>
            </a:extLst>
          </p:cNvPr>
          <p:cNvSpPr>
            <a:spLocks xmlns:a="http://schemas.openxmlformats.org/drawingml/2006/main" noGrp="1"/>
          </p:cNvSpPr>
          <p:nvPr/>
        </p:nvSpPr>
        <p:spPr>
          <a:xfrm xmlns:a="http://schemas.openxmlformats.org/drawingml/2006/main">
            <a:off x="895350" y="30670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row-number">
            <a:extLst xmlns:a="http://schemas.openxmlformats.org/drawingml/2006/main">
              <a:ext uri="{FF2B5EF4-FFF2-40B4-BE49-F238E27FC236}">
                <a16:creationId xmlns:a16="http://schemas.microsoft.com/office/drawing/2014/main" id="{EF25D081-B032-42D6-8464-B90CEA8B101B}"/>
              </a:ext>
            </a:extLst>
          </p:cNvPr>
          <p:cNvSpPr>
            <a:spLocks xmlns:a="http://schemas.openxmlformats.org/drawingml/2006/main" noGrp="1"/>
          </p:cNvSpPr>
          <p:nvPr/>
        </p:nvSpPr>
        <p:spPr>
          <a:xfrm xmlns:a="http://schemas.openxmlformats.org/drawingml/2006/main">
            <a:off x="895350" y="342900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02</a:t>
            </a:r>
          </a:p>
        </p:txBody>
      </p:sp>
      <p:sp>
        <p:nvSpPr>
          <p:cNvPr id="11" name="row-title">
            <a:extLst xmlns:a="http://schemas.openxmlformats.org/drawingml/2006/main">
              <a:ext uri="{FF2B5EF4-FFF2-40B4-BE49-F238E27FC236}">
                <a16:creationId xmlns:a16="http://schemas.microsoft.com/office/drawing/2014/main" id="{242F6069-F032-4E9D-959F-447F603E5CAB}"/>
              </a:ext>
            </a:extLst>
          </p:cNvPr>
          <p:cNvSpPr>
            <a:spLocks xmlns:a="http://schemas.openxmlformats.org/drawingml/2006/main" noGrp="1"/>
          </p:cNvSpPr>
          <p:nvPr/>
        </p:nvSpPr>
        <p:spPr>
          <a:xfrm xmlns:a="http://schemas.openxmlformats.org/drawingml/2006/main">
            <a:off x="1733550" y="3419475"/>
            <a:ext cx="2781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Container width</a:t>
            </a:r>
          </a:p>
        </p:txBody>
      </p:sp>
      <p:sp>
        <p:nvSpPr>
          <p:cNvPr id="12" name="row-detail">
            <a:extLst xmlns:a="http://schemas.openxmlformats.org/drawingml/2006/main">
              <a:ext uri="{FF2B5EF4-FFF2-40B4-BE49-F238E27FC236}">
                <a16:creationId xmlns:a16="http://schemas.microsoft.com/office/drawing/2014/main" id="{DC03C6D0-DFAF-4877-956F-1B042F1FAE4F}"/>
              </a:ext>
            </a:extLst>
          </p:cNvPr>
          <p:cNvSpPr>
            <a:spLocks xmlns:a="http://schemas.openxmlformats.org/drawingml/2006/main" noGrp="1"/>
          </p:cNvSpPr>
          <p:nvPr/>
        </p:nvSpPr>
        <p:spPr>
          <a:xfrm xmlns:a="http://schemas.openxmlformats.org/drawingml/2006/main">
            <a:off x="4676775" y="3448050"/>
            <a:ext cx="9667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Owns each actual working region: micro, compact, medium, expanded, full.</a:t>
            </a:r>
          </a:p>
        </p:txBody>
      </p:sp>
      <p:sp>
        <p:nvSpPr>
          <p:cNvPr id="13" name="structural-divider">
            <a:extLst xmlns:a="http://schemas.openxmlformats.org/drawingml/2006/main">
              <a:ext uri="{FF2B5EF4-FFF2-40B4-BE49-F238E27FC236}">
                <a16:creationId xmlns:a16="http://schemas.microsoft.com/office/drawing/2014/main" id="{D5F2EA77-9A23-430F-916E-0BBA849B5CB2}"/>
              </a:ext>
            </a:extLst>
          </p:cNvPr>
          <p:cNvSpPr>
            <a:spLocks xmlns:a="http://schemas.openxmlformats.org/drawingml/2006/main" noGrp="1"/>
          </p:cNvSpPr>
          <p:nvPr/>
        </p:nvSpPr>
        <p:spPr>
          <a:xfrm xmlns:a="http://schemas.openxmlformats.org/drawingml/2006/main">
            <a:off x="895350" y="4143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4" name="row-number">
            <a:extLst xmlns:a="http://schemas.openxmlformats.org/drawingml/2006/main">
              <a:ext uri="{FF2B5EF4-FFF2-40B4-BE49-F238E27FC236}">
                <a16:creationId xmlns:a16="http://schemas.microsoft.com/office/drawing/2014/main" id="{1BBBD386-419A-469D-B5F6-C4CE2608BF46}"/>
              </a:ext>
            </a:extLst>
          </p:cNvPr>
          <p:cNvSpPr>
            <a:spLocks xmlns:a="http://schemas.openxmlformats.org/drawingml/2006/main" noGrp="1"/>
          </p:cNvSpPr>
          <p:nvPr/>
        </p:nvSpPr>
        <p:spPr>
          <a:xfrm xmlns:a="http://schemas.openxmlformats.org/drawingml/2006/main">
            <a:off x="895350" y="45053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03</a:t>
            </a:r>
          </a:p>
        </p:txBody>
      </p:sp>
      <p:sp>
        <p:nvSpPr>
          <p:cNvPr id="15" name="row-title">
            <a:extLst xmlns:a="http://schemas.openxmlformats.org/drawingml/2006/main">
              <a:ext uri="{FF2B5EF4-FFF2-40B4-BE49-F238E27FC236}">
                <a16:creationId xmlns:a16="http://schemas.microsoft.com/office/drawing/2014/main" id="{A89BE2F7-EF0E-4B22-B621-A25386C7D49D}"/>
              </a:ext>
            </a:extLst>
          </p:cNvPr>
          <p:cNvSpPr>
            <a:spLocks xmlns:a="http://schemas.openxmlformats.org/drawingml/2006/main" noGrp="1"/>
          </p:cNvSpPr>
          <p:nvPr/>
        </p:nvSpPr>
        <p:spPr>
          <a:xfrm xmlns:a="http://schemas.openxmlformats.org/drawingml/2006/main">
            <a:off x="1733550" y="4495800"/>
            <a:ext cx="2781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Available height</a:t>
            </a:r>
          </a:p>
        </p:txBody>
      </p:sp>
      <p:sp>
        <p:nvSpPr>
          <p:cNvPr id="16" name="row-detail">
            <a:extLst xmlns:a="http://schemas.openxmlformats.org/drawingml/2006/main">
              <a:ext uri="{FF2B5EF4-FFF2-40B4-BE49-F238E27FC236}">
                <a16:creationId xmlns:a16="http://schemas.microsoft.com/office/drawing/2014/main" id="{CBBDBF9A-AF75-4790-A60F-944FAF22EC81}"/>
              </a:ext>
            </a:extLst>
          </p:cNvPr>
          <p:cNvSpPr>
            <a:spLocks xmlns:a="http://schemas.openxmlformats.org/drawingml/2006/main" noGrp="1"/>
          </p:cNvSpPr>
          <p:nvPr/>
        </p:nvSpPr>
        <p:spPr>
          <a:xfrm xmlns:a="http://schemas.openxmlformats.org/drawingml/2006/main">
            <a:off x="4676775" y="4524375"/>
            <a:ext cx="9667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Accounts for short windows, landscape, keyboard, fixed chrome, and safe areas.</a:t>
            </a:r>
          </a:p>
        </p:txBody>
      </p:sp>
      <p:sp>
        <p:nvSpPr>
          <p:cNvPr id="17" name="structural-divider">
            <a:extLst xmlns:a="http://schemas.openxmlformats.org/drawingml/2006/main">
              <a:ext uri="{FF2B5EF4-FFF2-40B4-BE49-F238E27FC236}">
                <a16:creationId xmlns:a16="http://schemas.microsoft.com/office/drawing/2014/main" id="{AD402512-BC93-4E9D-80DB-C665244E4842}"/>
              </a:ext>
            </a:extLst>
          </p:cNvPr>
          <p:cNvSpPr>
            <a:spLocks xmlns:a="http://schemas.openxmlformats.org/drawingml/2006/main" noGrp="1"/>
          </p:cNvSpPr>
          <p:nvPr/>
        </p:nvSpPr>
        <p:spPr>
          <a:xfrm xmlns:a="http://schemas.openxmlformats.org/drawingml/2006/main">
            <a:off x="895350" y="52197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row-number">
            <a:extLst xmlns:a="http://schemas.openxmlformats.org/drawingml/2006/main">
              <a:ext uri="{FF2B5EF4-FFF2-40B4-BE49-F238E27FC236}">
                <a16:creationId xmlns:a16="http://schemas.microsoft.com/office/drawing/2014/main" id="{B7B60624-2EEB-46EA-BC34-C772F11155EB}"/>
              </a:ext>
            </a:extLst>
          </p:cNvPr>
          <p:cNvSpPr>
            <a:spLocks xmlns:a="http://schemas.openxmlformats.org/drawingml/2006/main" noGrp="1"/>
          </p:cNvSpPr>
          <p:nvPr/>
        </p:nvSpPr>
        <p:spPr>
          <a:xfrm xmlns:a="http://schemas.openxmlformats.org/drawingml/2006/main">
            <a:off x="895350" y="558165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04</a:t>
            </a:r>
          </a:p>
        </p:txBody>
      </p:sp>
      <p:sp>
        <p:nvSpPr>
          <p:cNvPr id="19" name="row-title">
            <a:extLst xmlns:a="http://schemas.openxmlformats.org/drawingml/2006/main">
              <a:ext uri="{FF2B5EF4-FFF2-40B4-BE49-F238E27FC236}">
                <a16:creationId xmlns:a16="http://schemas.microsoft.com/office/drawing/2014/main" id="{B682E9A6-6C0C-445F-A293-1F44D6AC7C0B}"/>
              </a:ext>
            </a:extLst>
          </p:cNvPr>
          <p:cNvSpPr>
            <a:spLocks xmlns:a="http://schemas.openxmlformats.org/drawingml/2006/main" noGrp="1"/>
          </p:cNvSpPr>
          <p:nvPr/>
        </p:nvSpPr>
        <p:spPr>
          <a:xfrm xmlns:a="http://schemas.openxmlformats.org/drawingml/2006/main">
            <a:off x="1733550" y="5572125"/>
            <a:ext cx="2781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Input + preference</a:t>
            </a:r>
          </a:p>
        </p:txBody>
      </p:sp>
      <p:sp>
        <p:nvSpPr>
          <p:cNvPr id="20" name="row-detail">
            <a:extLst xmlns:a="http://schemas.openxmlformats.org/drawingml/2006/main">
              <a:ext uri="{FF2B5EF4-FFF2-40B4-BE49-F238E27FC236}">
                <a16:creationId xmlns:a16="http://schemas.microsoft.com/office/drawing/2014/main" id="{AD863205-489B-4054-BA3B-690319B00CB2}"/>
              </a:ext>
            </a:extLst>
          </p:cNvPr>
          <p:cNvSpPr>
            <a:spLocks xmlns:a="http://schemas.openxmlformats.org/drawingml/2006/main" noGrp="1"/>
          </p:cNvSpPr>
          <p:nvPr/>
        </p:nvSpPr>
        <p:spPr>
          <a:xfrm xmlns:a="http://schemas.openxmlformats.org/drawingml/2006/main">
            <a:off x="4676775" y="5600700"/>
            <a:ext cx="9667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Responds to coarse/fine pointer, touch, pen, hover, motion, contrast, locale.</a:t>
            </a:r>
          </a:p>
        </p:txBody>
      </p:sp>
      <p:sp>
        <p:nvSpPr>
          <p:cNvPr id="21" name="structural-divider">
            <a:extLst xmlns:a="http://schemas.openxmlformats.org/drawingml/2006/main">
              <a:ext uri="{FF2B5EF4-FFF2-40B4-BE49-F238E27FC236}">
                <a16:creationId xmlns:a16="http://schemas.microsoft.com/office/drawing/2014/main" id="{FBE526EB-0C72-4781-93F1-FABDA90B9B5B}"/>
              </a:ext>
            </a:extLst>
          </p:cNvPr>
          <p:cNvSpPr>
            <a:spLocks xmlns:a="http://schemas.openxmlformats.org/drawingml/2006/main" noGrp="1"/>
          </p:cNvSpPr>
          <p:nvPr/>
        </p:nvSpPr>
        <p:spPr>
          <a:xfrm xmlns:a="http://schemas.openxmlformats.org/drawingml/2006/main">
            <a:off x="895350" y="62960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2" name="body-paragraph">
            <a:extLst xmlns:a="http://schemas.openxmlformats.org/drawingml/2006/main">
              <a:ext uri="{FF2B5EF4-FFF2-40B4-BE49-F238E27FC236}">
                <a16:creationId xmlns:a16="http://schemas.microsoft.com/office/drawing/2014/main" id="{6FBCF6A2-AFFB-44DA-8C0E-EAA0011089F1}"/>
              </a:ext>
            </a:extLst>
          </p:cNvPr>
          <p:cNvSpPr>
            <a:spLocks xmlns:a="http://schemas.openxmlformats.org/drawingml/2006/main" noGrp="1"/>
          </p:cNvSpPr>
          <p:nvPr/>
        </p:nvSpPr>
        <p:spPr>
          <a:xfrm xmlns:a="http://schemas.openxmlformats.org/drawingml/2006/main">
            <a:off x="895350" y="7229475"/>
            <a:ext cx="13449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1759BC"/>
                </a:solidFill>
                <a:latin typeface="Helvetica Neue"/>
                <a:ea typeface="Helvetica Neue"/>
                <a:cs typeface="Helvetica Neue"/>
              </a:defRPr>
            </a:pPr>
            <a:r>
              <a:rPr sz="1725" b="1">
                <a:solidFill>
                  <a:srgbClr val="1759BC"/>
                </a:solidFill>
                <a:latin typeface="Helvetica Neue"/>
                <a:ea typeface="Helvetica Neue"/>
                <a:cs typeface="Helvetica Neue"/>
              </a:rPr>
              <a:t>Layout chooses presentation only. Existing route identity, consent, and authorization stay invariant.</a:t>
            </a:r>
          </a:p>
        </p:txBody>
      </p:sp>
    </p:spTree>
    <p:extLst>
      <p:ext uri="{BB962C8B-B14F-4D97-AF65-F5344CB8AC3E}">
        <p14:creationId xmlns:p14="http://schemas.microsoft.com/office/powerpoint/2010/main" val="11107360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kicker">
            <a:extLst xmlns:a="http://schemas.openxmlformats.org/drawingml/2006/main">
              <a:ext uri="{FF2B5EF4-FFF2-40B4-BE49-F238E27FC236}">
                <a16:creationId xmlns:a16="http://schemas.microsoft.com/office/drawing/2014/main" id="{EF17BC0E-A8D5-4199-BF5A-45BB2974055E}"/>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COLLABORATION, PRIVACY, AND AUTHORIZATION</a:t>
            </a:r>
          </a:p>
        </p:txBody>
      </p:sp>
      <p:sp>
        <p:nvSpPr>
          <p:cNvPr id="2" name="slide-title">
            <a:extLst xmlns:a="http://schemas.openxmlformats.org/drawingml/2006/main">
              <a:ext uri="{FF2B5EF4-FFF2-40B4-BE49-F238E27FC236}">
                <a16:creationId xmlns:a16="http://schemas.microsoft.com/office/drawing/2014/main" id="{3214D3C5-ADEE-4052-B050-D3059A86F79F}"/>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Adaptive UI must never cross a trust boundary</a:t>
            </a:r>
          </a:p>
        </p:txBody>
      </p:sp>
      <p:sp>
        <p:nvSpPr>
          <p:cNvPr id="3" name="structural-divider">
            <a:extLst xmlns:a="http://schemas.openxmlformats.org/drawingml/2006/main">
              <a:ext uri="{FF2B5EF4-FFF2-40B4-BE49-F238E27FC236}">
                <a16:creationId xmlns:a16="http://schemas.microsoft.com/office/drawing/2014/main" id="{DAD50E61-EB12-4074-AEB3-2B18B8B2D73C}"/>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9D785042-F454-466A-AC70-FC38ACF58730}"/>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169F6F68-AD5D-4A07-8D6F-1AC11416D45D}"/>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17</a:t>
            </a:r>
          </a:p>
        </p:txBody>
      </p:sp>
      <p:sp>
        <p:nvSpPr>
          <p:cNvPr id="6" name="body-paragraph">
            <a:extLst xmlns:a="http://schemas.openxmlformats.org/drawingml/2006/main">
              <a:ext uri="{FF2B5EF4-FFF2-40B4-BE49-F238E27FC236}">
                <a16:creationId xmlns:a16="http://schemas.microsoft.com/office/drawing/2014/main" id="{7428791E-FB87-4C1D-936D-71FDF328B055}"/>
              </a:ext>
            </a:extLst>
          </p:cNvPr>
          <p:cNvSpPr>
            <a:spLocks xmlns:a="http://schemas.openxmlformats.org/drawingml/2006/main" noGrp="1"/>
          </p:cNvSpPr>
          <p:nvPr/>
        </p:nvSpPr>
        <p:spPr>
          <a:xfrm xmlns:a="http://schemas.openxmlformats.org/drawingml/2006/main">
            <a:off x="895350" y="2305050"/>
            <a:ext cx="1344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17191C"/>
                </a:solidFill>
                <a:latin typeface="Helvetica Neue"/>
                <a:ea typeface="Helvetica Neue"/>
                <a:cs typeface="Helvetica Neue"/>
              </a:defRPr>
            </a:pPr>
            <a:r>
              <a:rPr sz="2100" b="1">
                <a:solidFill>
                  <a:srgbClr val="17191C"/>
                </a:solidFill>
                <a:latin typeface="Helvetica Neue"/>
                <a:ea typeface="Helvetica Neue"/>
                <a:cs typeface="Helvetica Neue"/>
              </a:rPr>
              <a:t>Preserve all six independently authorized application surfaces:</a:t>
            </a:r>
          </a:p>
        </p:txBody>
      </p:sp>
      <p:sp>
        <p:nvSpPr>
          <p:cNvPr id="7" name="boundary-line-one">
            <a:extLst xmlns:a="http://schemas.openxmlformats.org/drawingml/2006/main">
              <a:ext uri="{FF2B5EF4-FFF2-40B4-BE49-F238E27FC236}">
                <a16:creationId xmlns:a16="http://schemas.microsoft.com/office/drawing/2014/main" id="{57718551-5DD2-469A-BDE0-FC8AAB7F529C}"/>
              </a:ext>
            </a:extLst>
          </p:cNvPr>
          <p:cNvSpPr>
            <a:spLocks xmlns:a="http://schemas.openxmlformats.org/drawingml/2006/main" noGrp="1"/>
          </p:cNvSpPr>
          <p:nvPr/>
        </p:nvSpPr>
        <p:spPr>
          <a:xfrm xmlns:a="http://schemas.openxmlformats.org/drawingml/2006/main">
            <a:off x="895350" y="3019425"/>
            <a:ext cx="1344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75" b="1">
                <a:solidFill>
                  <a:srgbClr val="1759BC"/>
                </a:solidFill>
                <a:latin typeface="Helvetica Neue"/>
                <a:ea typeface="Helvetica Neue"/>
                <a:cs typeface="Helvetica Neue"/>
              </a:defRPr>
            </a:pPr>
            <a:r>
              <a:rPr sz="1875" b="1">
                <a:solidFill>
                  <a:srgbClr val="1759BC"/>
                </a:solidFill>
                <a:latin typeface="Helvetica Neue"/>
                <a:ea typeface="Helvetica Neue"/>
                <a:cs typeface="Helvetica Neue"/>
              </a:rPr>
              <a:t>CREATOR WORKSPACE     CANVAS     PLATFORM OPERATIONS</a:t>
            </a:r>
          </a:p>
        </p:txBody>
      </p:sp>
      <p:sp>
        <p:nvSpPr>
          <p:cNvPr id="8" name="boundary-line-two">
            <a:extLst xmlns:a="http://schemas.openxmlformats.org/drawingml/2006/main">
              <a:ext uri="{FF2B5EF4-FFF2-40B4-BE49-F238E27FC236}">
                <a16:creationId xmlns:a16="http://schemas.microsoft.com/office/drawing/2014/main" id="{DFF7DC65-3EDC-41C3-A476-BD418C241B29}"/>
              </a:ext>
            </a:extLst>
          </p:cNvPr>
          <p:cNvSpPr>
            <a:spLocks xmlns:a="http://schemas.openxmlformats.org/drawingml/2006/main" noGrp="1"/>
          </p:cNvSpPr>
          <p:nvPr/>
        </p:nvSpPr>
        <p:spPr>
          <a:xfrm xmlns:a="http://schemas.openxmlformats.org/drawingml/2006/main">
            <a:off x="895350" y="3476625"/>
            <a:ext cx="134493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1">
                <a:solidFill>
                  <a:srgbClr val="1759BC"/>
                </a:solidFill>
                <a:latin typeface="Helvetica Neue"/>
                <a:ea typeface="Helvetica Neue"/>
                <a:cs typeface="Helvetica Neue"/>
              </a:defRPr>
            </a:pPr>
            <a:r>
              <a:rPr sz="1800" b="1">
                <a:solidFill>
                  <a:srgbClr val="1759BC"/>
                </a:solidFill>
                <a:latin typeface="Helvetica Neue"/>
                <a:ea typeface="Helvetica Neue"/>
                <a:cs typeface="Helvetica Neue"/>
              </a:rPr>
              <a:t>PRODUCT &amp; QUALITY     DESIGN &amp; KNOWLEDGE     ENGINEERING DIAGNOSTICS</a:t>
            </a:r>
          </a:p>
        </p:txBody>
      </p:sp>
      <p:sp>
        <p:nvSpPr>
          <p:cNvPr id="9" name="structural-divider">
            <a:extLst xmlns:a="http://schemas.openxmlformats.org/drawingml/2006/main">
              <a:ext uri="{FF2B5EF4-FFF2-40B4-BE49-F238E27FC236}">
                <a16:creationId xmlns:a16="http://schemas.microsoft.com/office/drawing/2014/main" id="{9A4B2E21-E694-49B9-9BAC-AAF5681C2309}"/>
              </a:ext>
            </a:extLst>
          </p:cNvPr>
          <p:cNvSpPr>
            <a:spLocks xmlns:a="http://schemas.openxmlformats.org/drawingml/2006/main" noGrp="1"/>
          </p:cNvSpPr>
          <p:nvPr/>
        </p:nvSpPr>
        <p:spPr>
          <a:xfrm xmlns:a="http://schemas.openxmlformats.org/drawingml/2006/main">
            <a:off x="895350" y="42291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section-heading">
            <a:extLst xmlns:a="http://schemas.openxmlformats.org/drawingml/2006/main">
              <a:ext uri="{FF2B5EF4-FFF2-40B4-BE49-F238E27FC236}">
                <a16:creationId xmlns:a16="http://schemas.microsoft.com/office/drawing/2014/main" id="{A172496C-6537-4620-B2A0-0C82D4893AE3}"/>
              </a:ext>
            </a:extLst>
          </p:cNvPr>
          <p:cNvSpPr>
            <a:spLocks xmlns:a="http://schemas.openxmlformats.org/drawingml/2006/main" noGrp="1"/>
          </p:cNvSpPr>
          <p:nvPr/>
        </p:nvSpPr>
        <p:spPr>
          <a:xfrm xmlns:a="http://schemas.openxmlformats.org/drawingml/2006/main">
            <a:off x="895350" y="4629150"/>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Non-negotiable invariants</a:t>
            </a:r>
          </a:p>
        </p:txBody>
      </p:sp>
      <p:sp>
        <p:nvSpPr>
          <p:cNvPr id="11" name="list-marker">
            <a:extLst xmlns:a="http://schemas.openxmlformats.org/drawingml/2006/main">
              <a:ext uri="{FF2B5EF4-FFF2-40B4-BE49-F238E27FC236}">
                <a16:creationId xmlns:a16="http://schemas.microsoft.com/office/drawing/2014/main" id="{F65843BD-ABA4-44B3-BAA3-034A2B7BE479}"/>
              </a:ext>
            </a:extLst>
          </p:cNvPr>
          <p:cNvSpPr>
            <a:spLocks xmlns:a="http://schemas.openxmlformats.org/drawingml/2006/main" noGrp="1"/>
          </p:cNvSpPr>
          <p:nvPr/>
        </p:nvSpPr>
        <p:spPr>
          <a:xfrm xmlns:a="http://schemas.openxmlformats.org/drawingml/2006/main">
            <a:off x="895350" y="52387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2" name="list-item">
            <a:extLst xmlns:a="http://schemas.openxmlformats.org/drawingml/2006/main">
              <a:ext uri="{FF2B5EF4-FFF2-40B4-BE49-F238E27FC236}">
                <a16:creationId xmlns:a16="http://schemas.microsoft.com/office/drawing/2014/main" id="{D8587246-45B4-4DB2-8C6C-FA42403F50A9}"/>
              </a:ext>
            </a:extLst>
          </p:cNvPr>
          <p:cNvSpPr>
            <a:spLocks xmlns:a="http://schemas.openxmlformats.org/drawingml/2006/main" noGrp="1"/>
          </p:cNvSpPr>
          <p:nvPr/>
        </p:nvSpPr>
        <p:spPr>
          <a:xfrm xmlns:a="http://schemas.openxmlformats.org/drawingml/2006/main">
            <a:off x="1295400" y="5238750"/>
            <a:ext cx="5934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Exact project and organization entitlement.</a:t>
            </a:r>
          </a:p>
        </p:txBody>
      </p:sp>
      <p:sp>
        <p:nvSpPr>
          <p:cNvPr id="13" name="list-marker">
            <a:extLst xmlns:a="http://schemas.openxmlformats.org/drawingml/2006/main">
              <a:ext uri="{FF2B5EF4-FFF2-40B4-BE49-F238E27FC236}">
                <a16:creationId xmlns:a16="http://schemas.microsoft.com/office/drawing/2014/main" id="{A8F39125-8985-4669-AB30-1D9BF506C9CA}"/>
              </a:ext>
            </a:extLst>
          </p:cNvPr>
          <p:cNvSpPr>
            <a:spLocks xmlns:a="http://schemas.openxmlformats.org/drawingml/2006/main" noGrp="1"/>
          </p:cNvSpPr>
          <p:nvPr/>
        </p:nvSpPr>
        <p:spPr>
          <a:xfrm xmlns:a="http://schemas.openxmlformats.org/drawingml/2006/main">
            <a:off x="895350" y="57816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4" name="list-item">
            <a:extLst xmlns:a="http://schemas.openxmlformats.org/drawingml/2006/main">
              <a:ext uri="{FF2B5EF4-FFF2-40B4-BE49-F238E27FC236}">
                <a16:creationId xmlns:a16="http://schemas.microsoft.com/office/drawing/2014/main" id="{FD6158F3-A4E8-4221-A630-3232E318C81A}"/>
              </a:ext>
            </a:extLst>
          </p:cNvPr>
          <p:cNvSpPr>
            <a:spLocks xmlns:a="http://schemas.openxmlformats.org/drawingml/2006/main" noGrp="1"/>
          </p:cNvSpPr>
          <p:nvPr/>
        </p:nvSpPr>
        <p:spPr>
          <a:xfrm xmlns:a="http://schemas.openxmlformats.org/drawingml/2006/main">
            <a:off x="1295400" y="5781675"/>
            <a:ext cx="5934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Separate reviewer, author, and release authority.</a:t>
            </a:r>
          </a:p>
        </p:txBody>
      </p:sp>
      <p:sp>
        <p:nvSpPr>
          <p:cNvPr id="15" name="list-marker">
            <a:extLst xmlns:a="http://schemas.openxmlformats.org/drawingml/2006/main">
              <a:ext uri="{FF2B5EF4-FFF2-40B4-BE49-F238E27FC236}">
                <a16:creationId xmlns:a16="http://schemas.microsoft.com/office/drawing/2014/main" id="{791A3C04-A93C-4F3F-A6F8-3F3BCBDF20A9}"/>
              </a:ext>
            </a:extLst>
          </p:cNvPr>
          <p:cNvSpPr>
            <a:spLocks xmlns:a="http://schemas.openxmlformats.org/drawingml/2006/main" noGrp="1"/>
          </p:cNvSpPr>
          <p:nvPr/>
        </p:nvSpPr>
        <p:spPr>
          <a:xfrm xmlns:a="http://schemas.openxmlformats.org/drawingml/2006/main">
            <a:off x="895350" y="63246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6" name="list-item">
            <a:extLst xmlns:a="http://schemas.openxmlformats.org/drawingml/2006/main">
              <a:ext uri="{FF2B5EF4-FFF2-40B4-BE49-F238E27FC236}">
                <a16:creationId xmlns:a16="http://schemas.microsoft.com/office/drawing/2014/main" id="{3EEBE50B-7B79-4D61-B91C-3373799E5DEA}"/>
              </a:ext>
            </a:extLst>
          </p:cNvPr>
          <p:cNvSpPr>
            <a:spLocks xmlns:a="http://schemas.openxmlformats.org/drawingml/2006/main" noGrp="1"/>
          </p:cNvSpPr>
          <p:nvPr/>
        </p:nvSpPr>
        <p:spPr>
          <a:xfrm xmlns:a="http://schemas.openxmlformats.org/drawingml/2006/main">
            <a:off x="1295400" y="6324600"/>
            <a:ext cx="5934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Actor-private conversations and source evidence.</a:t>
            </a:r>
          </a:p>
        </p:txBody>
      </p:sp>
      <p:sp>
        <p:nvSpPr>
          <p:cNvPr id="17" name="section-heading">
            <a:extLst xmlns:a="http://schemas.openxmlformats.org/drawingml/2006/main">
              <a:ext uri="{FF2B5EF4-FFF2-40B4-BE49-F238E27FC236}">
                <a16:creationId xmlns:a16="http://schemas.microsoft.com/office/drawing/2014/main" id="{B143B10C-4EBE-43E2-87BA-451C53CB4946}"/>
              </a:ext>
            </a:extLst>
          </p:cNvPr>
          <p:cNvSpPr>
            <a:spLocks xmlns:a="http://schemas.openxmlformats.org/drawingml/2006/main" noGrp="1"/>
          </p:cNvSpPr>
          <p:nvPr/>
        </p:nvSpPr>
        <p:spPr>
          <a:xfrm xmlns:a="http://schemas.openxmlformats.org/drawingml/2006/main">
            <a:off x="7877175" y="4629150"/>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Claims the product cannot make</a:t>
            </a:r>
          </a:p>
        </p:txBody>
      </p:sp>
      <p:sp>
        <p:nvSpPr>
          <p:cNvPr id="18" name="list-marker">
            <a:extLst xmlns:a="http://schemas.openxmlformats.org/drawingml/2006/main">
              <a:ext uri="{FF2B5EF4-FFF2-40B4-BE49-F238E27FC236}">
                <a16:creationId xmlns:a16="http://schemas.microsoft.com/office/drawing/2014/main" id="{3FBAC54A-3F32-41C8-89E9-0049BE9F164A}"/>
              </a:ext>
            </a:extLst>
          </p:cNvPr>
          <p:cNvSpPr>
            <a:spLocks xmlns:a="http://schemas.openxmlformats.org/drawingml/2006/main" noGrp="1"/>
          </p:cNvSpPr>
          <p:nvPr/>
        </p:nvSpPr>
        <p:spPr>
          <a:xfrm xmlns:a="http://schemas.openxmlformats.org/drawingml/2006/main">
            <a:off x="7877175" y="52387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9" name="list-item">
            <a:extLst xmlns:a="http://schemas.openxmlformats.org/drawingml/2006/main">
              <a:ext uri="{FF2B5EF4-FFF2-40B4-BE49-F238E27FC236}">
                <a16:creationId xmlns:a16="http://schemas.microsoft.com/office/drawing/2014/main" id="{63C4526F-8345-4628-992B-4199EE981860}"/>
              </a:ext>
            </a:extLst>
          </p:cNvPr>
          <p:cNvSpPr>
            <a:spLocks xmlns:a="http://schemas.openxmlformats.org/drawingml/2006/main" noGrp="1"/>
          </p:cNvSpPr>
          <p:nvPr/>
        </p:nvSpPr>
        <p:spPr>
          <a:xfrm xmlns:a="http://schemas.openxmlformats.org/drawingml/2006/main">
            <a:off x="8277225" y="5238750"/>
            <a:ext cx="5934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Cross-account live cursors without real transport.</a:t>
            </a:r>
          </a:p>
        </p:txBody>
      </p:sp>
      <p:sp>
        <p:nvSpPr>
          <p:cNvPr id="20" name="list-marker">
            <a:extLst xmlns:a="http://schemas.openxmlformats.org/drawingml/2006/main">
              <a:ext uri="{FF2B5EF4-FFF2-40B4-BE49-F238E27FC236}">
                <a16:creationId xmlns:a16="http://schemas.microsoft.com/office/drawing/2014/main" id="{10F55033-7DB8-4E6D-BA0D-86E52605D16F}"/>
              </a:ext>
            </a:extLst>
          </p:cNvPr>
          <p:cNvSpPr>
            <a:spLocks xmlns:a="http://schemas.openxmlformats.org/drawingml/2006/main" noGrp="1"/>
          </p:cNvSpPr>
          <p:nvPr/>
        </p:nvSpPr>
        <p:spPr>
          <a:xfrm xmlns:a="http://schemas.openxmlformats.org/drawingml/2006/main">
            <a:off x="7877175" y="5781675"/>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21" name="list-item">
            <a:extLst xmlns:a="http://schemas.openxmlformats.org/drawingml/2006/main">
              <a:ext uri="{FF2B5EF4-FFF2-40B4-BE49-F238E27FC236}">
                <a16:creationId xmlns:a16="http://schemas.microsoft.com/office/drawing/2014/main" id="{931F34C8-0A35-40B3-A346-863FC076FC28}"/>
              </a:ext>
            </a:extLst>
          </p:cNvPr>
          <p:cNvSpPr>
            <a:spLocks xmlns:a="http://schemas.openxmlformats.org/drawingml/2006/main" noGrp="1"/>
          </p:cNvSpPr>
          <p:nvPr/>
        </p:nvSpPr>
        <p:spPr>
          <a:xfrm xmlns:a="http://schemas.openxmlformats.org/drawingml/2006/main">
            <a:off x="8277225" y="5781675"/>
            <a:ext cx="5934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Push, email, or Slack delivery without delivery.</a:t>
            </a:r>
          </a:p>
        </p:txBody>
      </p:sp>
      <p:sp>
        <p:nvSpPr>
          <p:cNvPr id="22" name="list-marker">
            <a:extLst xmlns:a="http://schemas.openxmlformats.org/drawingml/2006/main">
              <a:ext uri="{FF2B5EF4-FFF2-40B4-BE49-F238E27FC236}">
                <a16:creationId xmlns:a16="http://schemas.microsoft.com/office/drawing/2014/main" id="{51C11A29-DEBB-419D-8944-A91BA1EACDF8}"/>
              </a:ext>
            </a:extLst>
          </p:cNvPr>
          <p:cNvSpPr>
            <a:spLocks xmlns:a="http://schemas.openxmlformats.org/drawingml/2006/main" noGrp="1"/>
          </p:cNvSpPr>
          <p:nvPr/>
        </p:nvSpPr>
        <p:spPr>
          <a:xfrm xmlns:a="http://schemas.openxmlformats.org/drawingml/2006/main">
            <a:off x="7877175" y="63246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23" name="list-item">
            <a:extLst xmlns:a="http://schemas.openxmlformats.org/drawingml/2006/main">
              <a:ext uri="{FF2B5EF4-FFF2-40B4-BE49-F238E27FC236}">
                <a16:creationId xmlns:a16="http://schemas.microsoft.com/office/drawing/2014/main" id="{8268ED5A-33CA-4F18-A805-E3F237519B8C}"/>
              </a:ext>
            </a:extLst>
          </p:cNvPr>
          <p:cNvSpPr>
            <a:spLocks xmlns:a="http://schemas.openxmlformats.org/drawingml/2006/main" noGrp="1"/>
          </p:cNvSpPr>
          <p:nvPr/>
        </p:nvSpPr>
        <p:spPr>
          <a:xfrm xmlns:a="http://schemas.openxmlformats.org/drawingml/2006/main">
            <a:off x="8277225" y="6324600"/>
            <a:ext cx="5934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Regulated readiness without independent assurance.</a:t>
            </a:r>
          </a:p>
        </p:txBody>
      </p:sp>
    </p:spTree>
    <p:extLst>
      <p:ext uri="{BB962C8B-B14F-4D97-AF65-F5344CB8AC3E}">
        <p14:creationId xmlns:p14="http://schemas.microsoft.com/office/powerpoint/2010/main" val="9073009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ection-kicker">
            <a:extLst xmlns:a="http://schemas.openxmlformats.org/drawingml/2006/main">
              <a:ext uri="{FF2B5EF4-FFF2-40B4-BE49-F238E27FC236}">
                <a16:creationId xmlns:a16="http://schemas.microsoft.com/office/drawing/2014/main" id="{714E3502-E660-4A81-A52D-CB70A3195EB3}"/>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OFFICIAL-SOURCE MARKET BENCHMARKS</a:t>
            </a:r>
          </a:p>
        </p:txBody>
      </p:sp>
      <p:sp>
        <p:nvSpPr>
          <p:cNvPr id="2" name="slide-title">
            <a:extLst xmlns:a="http://schemas.openxmlformats.org/drawingml/2006/main">
              <a:ext uri="{FF2B5EF4-FFF2-40B4-BE49-F238E27FC236}">
                <a16:creationId xmlns:a16="http://schemas.microsoft.com/office/drawing/2014/main" id="{A02813C8-B88E-40AB-A8F6-CF6B4B92A257}"/>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Win on exact context, not generic AI breadth</a:t>
            </a:r>
          </a:p>
        </p:txBody>
      </p:sp>
      <p:sp>
        <p:nvSpPr>
          <p:cNvPr id="3" name="structural-divider">
            <a:extLst xmlns:a="http://schemas.openxmlformats.org/drawingml/2006/main">
              <a:ext uri="{FF2B5EF4-FFF2-40B4-BE49-F238E27FC236}">
                <a16:creationId xmlns:a16="http://schemas.microsoft.com/office/drawing/2014/main" id="{046C5515-FAA2-4C4D-B087-08171F92B6AC}"/>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538E58FC-44D1-4BE1-9045-01EBBD50173F}"/>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86F217D8-8DAE-4351-B977-010F5F6F6703}"/>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18</a:t>
            </a:r>
          </a:p>
        </p:txBody>
      </p:sp>
      <p:sp>
        <p:nvSpPr>
          <p:cNvPr id="6" name="row-number">
            <a:extLst xmlns:a="http://schemas.openxmlformats.org/drawingml/2006/main">
              <a:ext uri="{FF2B5EF4-FFF2-40B4-BE49-F238E27FC236}">
                <a16:creationId xmlns:a16="http://schemas.microsoft.com/office/drawing/2014/main" id="{2A744412-0CAD-431B-9925-8AB3371B5D79}"/>
              </a:ext>
            </a:extLst>
          </p:cNvPr>
          <p:cNvSpPr>
            <a:spLocks xmlns:a="http://schemas.openxmlformats.org/drawingml/2006/main" noGrp="1"/>
          </p:cNvSpPr>
          <p:nvPr/>
        </p:nvSpPr>
        <p:spPr>
          <a:xfrm xmlns:a="http://schemas.openxmlformats.org/drawingml/2006/main">
            <a:off x="895350" y="220980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01</a:t>
            </a:r>
          </a:p>
        </p:txBody>
      </p:sp>
      <p:sp>
        <p:nvSpPr>
          <p:cNvPr id="7" name="row-title">
            <a:extLst xmlns:a="http://schemas.openxmlformats.org/drawingml/2006/main">
              <a:ext uri="{FF2B5EF4-FFF2-40B4-BE49-F238E27FC236}">
                <a16:creationId xmlns:a16="http://schemas.microsoft.com/office/drawing/2014/main" id="{D7980E5A-F946-44F6-9605-2E0974E0443B}"/>
              </a:ext>
            </a:extLst>
          </p:cNvPr>
          <p:cNvSpPr>
            <a:spLocks xmlns:a="http://schemas.openxmlformats.org/drawingml/2006/main" noGrp="1"/>
          </p:cNvSpPr>
          <p:nvPr/>
        </p:nvSpPr>
        <p:spPr>
          <a:xfrm xmlns:a="http://schemas.openxmlformats.org/drawingml/2006/main">
            <a:off x="1733550" y="2200275"/>
            <a:ext cx="238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Notion</a:t>
            </a:r>
          </a:p>
        </p:txBody>
      </p:sp>
      <p:sp>
        <p:nvSpPr>
          <p:cNvPr id="8" name="row-detail">
            <a:extLst xmlns:a="http://schemas.openxmlformats.org/drawingml/2006/main">
              <a:ext uri="{FF2B5EF4-FFF2-40B4-BE49-F238E27FC236}">
                <a16:creationId xmlns:a16="http://schemas.microsoft.com/office/drawing/2014/main" id="{82F4721D-05CF-4F28-8A52-1770E52CDF2C}"/>
              </a:ext>
            </a:extLst>
          </p:cNvPr>
          <p:cNvSpPr>
            <a:spLocks xmlns:a="http://schemas.openxmlformats.org/drawingml/2006/main" noGrp="1"/>
          </p:cNvSpPr>
          <p:nvPr/>
        </p:nvSpPr>
        <p:spPr>
          <a:xfrm xmlns:a="http://schemas.openxmlformats.org/drawingml/2006/main">
            <a:off x="4276725" y="2228850"/>
            <a:ext cx="10067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Mobile Search + Inbox; localized prices—not verified in USD.</a:t>
            </a:r>
          </a:p>
        </p:txBody>
      </p:sp>
      <p:sp>
        <p:nvSpPr>
          <p:cNvPr id="9" name="structural-divider">
            <a:extLst xmlns:a="http://schemas.openxmlformats.org/drawingml/2006/main">
              <a:ext uri="{FF2B5EF4-FFF2-40B4-BE49-F238E27FC236}">
                <a16:creationId xmlns:a16="http://schemas.microsoft.com/office/drawing/2014/main" id="{D0077835-987B-417B-BCF7-50B4AE52C5C0}"/>
              </a:ext>
            </a:extLst>
          </p:cNvPr>
          <p:cNvSpPr>
            <a:spLocks xmlns:a="http://schemas.openxmlformats.org/drawingml/2006/main" noGrp="1"/>
          </p:cNvSpPr>
          <p:nvPr/>
        </p:nvSpPr>
        <p:spPr>
          <a:xfrm xmlns:a="http://schemas.openxmlformats.org/drawingml/2006/main">
            <a:off x="895350" y="29241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row-number">
            <a:extLst xmlns:a="http://schemas.openxmlformats.org/drawingml/2006/main">
              <a:ext uri="{FF2B5EF4-FFF2-40B4-BE49-F238E27FC236}">
                <a16:creationId xmlns:a16="http://schemas.microsoft.com/office/drawing/2014/main" id="{7CC0748F-26CE-4B1B-9F7B-18CB2A753954}"/>
              </a:ext>
            </a:extLst>
          </p:cNvPr>
          <p:cNvSpPr>
            <a:spLocks xmlns:a="http://schemas.openxmlformats.org/drawingml/2006/main" noGrp="1"/>
          </p:cNvSpPr>
          <p:nvPr/>
        </p:nvSpPr>
        <p:spPr>
          <a:xfrm xmlns:a="http://schemas.openxmlformats.org/drawingml/2006/main">
            <a:off x="895350" y="30765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02</a:t>
            </a:r>
          </a:p>
        </p:txBody>
      </p:sp>
      <p:sp>
        <p:nvSpPr>
          <p:cNvPr id="11" name="row-title">
            <a:extLst xmlns:a="http://schemas.openxmlformats.org/drawingml/2006/main">
              <a:ext uri="{FF2B5EF4-FFF2-40B4-BE49-F238E27FC236}">
                <a16:creationId xmlns:a16="http://schemas.microsoft.com/office/drawing/2014/main" id="{8927C94E-6CDB-4A01-9EA9-6BD58008E0BE}"/>
              </a:ext>
            </a:extLst>
          </p:cNvPr>
          <p:cNvSpPr>
            <a:spLocks xmlns:a="http://schemas.openxmlformats.org/drawingml/2006/main" noGrp="1"/>
          </p:cNvSpPr>
          <p:nvPr/>
        </p:nvSpPr>
        <p:spPr>
          <a:xfrm xmlns:a="http://schemas.openxmlformats.org/drawingml/2006/main">
            <a:off x="1733550" y="3067050"/>
            <a:ext cx="238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Miro</a:t>
            </a:r>
          </a:p>
        </p:txBody>
      </p:sp>
      <p:sp>
        <p:nvSpPr>
          <p:cNvPr id="12" name="row-detail">
            <a:extLst xmlns:a="http://schemas.openxmlformats.org/drawingml/2006/main">
              <a:ext uri="{FF2B5EF4-FFF2-40B4-BE49-F238E27FC236}">
                <a16:creationId xmlns:a16="http://schemas.microsoft.com/office/drawing/2014/main" id="{CA6203FE-968E-4FB3-968E-479FE2C8E6D3}"/>
              </a:ext>
            </a:extLst>
          </p:cNvPr>
          <p:cNvSpPr>
            <a:spLocks xmlns:a="http://schemas.openxmlformats.org/drawingml/2006/main" noGrp="1"/>
          </p:cNvSpPr>
          <p:nvPr/>
        </p:nvSpPr>
        <p:spPr>
          <a:xfrm xmlns:a="http://schemas.openxmlformats.org/drawingml/2006/main">
            <a:off x="4276725" y="3095625"/>
            <a:ext cx="10067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Real pinch, pen, and touch; Business $20/mo annual or $25 monthly.</a:t>
            </a:r>
          </a:p>
        </p:txBody>
      </p:sp>
      <p:sp>
        <p:nvSpPr>
          <p:cNvPr id="13" name="structural-divider">
            <a:extLst xmlns:a="http://schemas.openxmlformats.org/drawingml/2006/main">
              <a:ext uri="{FF2B5EF4-FFF2-40B4-BE49-F238E27FC236}">
                <a16:creationId xmlns:a16="http://schemas.microsoft.com/office/drawing/2014/main" id="{6185C47B-46FE-436C-A0BB-458B70DB89E2}"/>
              </a:ext>
            </a:extLst>
          </p:cNvPr>
          <p:cNvSpPr>
            <a:spLocks xmlns:a="http://schemas.openxmlformats.org/drawingml/2006/main" noGrp="1"/>
          </p:cNvSpPr>
          <p:nvPr/>
        </p:nvSpPr>
        <p:spPr>
          <a:xfrm xmlns:a="http://schemas.openxmlformats.org/drawingml/2006/main">
            <a:off x="895350" y="37909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4" name="row-number">
            <a:extLst xmlns:a="http://schemas.openxmlformats.org/drawingml/2006/main">
              <a:ext uri="{FF2B5EF4-FFF2-40B4-BE49-F238E27FC236}">
                <a16:creationId xmlns:a16="http://schemas.microsoft.com/office/drawing/2014/main" id="{CC3ED5C5-7A5D-4CE9-8F2C-264A496291C0}"/>
              </a:ext>
            </a:extLst>
          </p:cNvPr>
          <p:cNvSpPr>
            <a:spLocks xmlns:a="http://schemas.openxmlformats.org/drawingml/2006/main" noGrp="1"/>
          </p:cNvSpPr>
          <p:nvPr/>
        </p:nvSpPr>
        <p:spPr>
          <a:xfrm xmlns:a="http://schemas.openxmlformats.org/drawingml/2006/main">
            <a:off x="895350" y="394335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03</a:t>
            </a:r>
          </a:p>
        </p:txBody>
      </p:sp>
      <p:sp>
        <p:nvSpPr>
          <p:cNvPr id="15" name="row-title">
            <a:extLst xmlns:a="http://schemas.openxmlformats.org/drawingml/2006/main">
              <a:ext uri="{FF2B5EF4-FFF2-40B4-BE49-F238E27FC236}">
                <a16:creationId xmlns:a16="http://schemas.microsoft.com/office/drawing/2014/main" id="{96E7AB40-107A-40DA-BA44-827DAC8AD5E0}"/>
              </a:ext>
            </a:extLst>
          </p:cNvPr>
          <p:cNvSpPr>
            <a:spLocks xmlns:a="http://schemas.openxmlformats.org/drawingml/2006/main" noGrp="1"/>
          </p:cNvSpPr>
          <p:nvPr/>
        </p:nvSpPr>
        <p:spPr>
          <a:xfrm xmlns:a="http://schemas.openxmlformats.org/drawingml/2006/main">
            <a:off x="1733550" y="3933825"/>
            <a:ext cx="238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Figma / FigJam</a:t>
            </a:r>
          </a:p>
        </p:txBody>
      </p:sp>
      <p:sp>
        <p:nvSpPr>
          <p:cNvPr id="16" name="row-detail">
            <a:extLst xmlns:a="http://schemas.openxmlformats.org/drawingml/2006/main">
              <a:ext uri="{FF2B5EF4-FFF2-40B4-BE49-F238E27FC236}">
                <a16:creationId xmlns:a16="http://schemas.microsoft.com/office/drawing/2014/main" id="{64A3FFCA-9919-4B12-980B-C4A8BBCADF71}"/>
              </a:ext>
            </a:extLst>
          </p:cNvPr>
          <p:cNvSpPr>
            <a:spLocks xmlns:a="http://schemas.openxmlformats.org/drawingml/2006/main" noGrp="1"/>
          </p:cNvSpPr>
          <p:nvPr/>
        </p:nvSpPr>
        <p:spPr>
          <a:xfrm xmlns:a="http://schemas.openxmlformats.org/drawingml/2006/main">
            <a:off x="4276725" y="3962400"/>
            <a:ext cx="10067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Integrated iPad + slides; standalone app retired; seat tiers differ.</a:t>
            </a:r>
          </a:p>
        </p:txBody>
      </p:sp>
      <p:sp>
        <p:nvSpPr>
          <p:cNvPr id="17" name="structural-divider">
            <a:extLst xmlns:a="http://schemas.openxmlformats.org/drawingml/2006/main">
              <a:ext uri="{FF2B5EF4-FFF2-40B4-BE49-F238E27FC236}">
                <a16:creationId xmlns:a16="http://schemas.microsoft.com/office/drawing/2014/main" id="{46DB165B-2C71-491A-AB27-9DEDAAB978CB}"/>
              </a:ext>
            </a:extLst>
          </p:cNvPr>
          <p:cNvSpPr>
            <a:spLocks xmlns:a="http://schemas.openxmlformats.org/drawingml/2006/main" noGrp="1"/>
          </p:cNvSpPr>
          <p:nvPr/>
        </p:nvSpPr>
        <p:spPr>
          <a:xfrm xmlns:a="http://schemas.openxmlformats.org/drawingml/2006/main">
            <a:off x="895350" y="46577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row-number">
            <a:extLst xmlns:a="http://schemas.openxmlformats.org/drawingml/2006/main">
              <a:ext uri="{FF2B5EF4-FFF2-40B4-BE49-F238E27FC236}">
                <a16:creationId xmlns:a16="http://schemas.microsoft.com/office/drawing/2014/main" id="{53E7AC46-E3CC-4507-AA50-90F35C5EDD9B}"/>
              </a:ext>
            </a:extLst>
          </p:cNvPr>
          <p:cNvSpPr>
            <a:spLocks xmlns:a="http://schemas.openxmlformats.org/drawingml/2006/main" noGrp="1"/>
          </p:cNvSpPr>
          <p:nvPr/>
        </p:nvSpPr>
        <p:spPr>
          <a:xfrm xmlns:a="http://schemas.openxmlformats.org/drawingml/2006/main">
            <a:off x="895350" y="48101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04</a:t>
            </a:r>
          </a:p>
        </p:txBody>
      </p:sp>
      <p:sp>
        <p:nvSpPr>
          <p:cNvPr id="19" name="row-title">
            <a:extLst xmlns:a="http://schemas.openxmlformats.org/drawingml/2006/main">
              <a:ext uri="{FF2B5EF4-FFF2-40B4-BE49-F238E27FC236}">
                <a16:creationId xmlns:a16="http://schemas.microsoft.com/office/drawing/2014/main" id="{5E4B2584-EEC9-4691-8B07-67A172A8E6B3}"/>
              </a:ext>
            </a:extLst>
          </p:cNvPr>
          <p:cNvSpPr>
            <a:spLocks xmlns:a="http://schemas.openxmlformats.org/drawingml/2006/main" noGrp="1"/>
          </p:cNvSpPr>
          <p:nvPr/>
        </p:nvSpPr>
        <p:spPr>
          <a:xfrm xmlns:a="http://schemas.openxmlformats.org/drawingml/2006/main">
            <a:off x="1733550" y="4800600"/>
            <a:ext cx="238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Canva</a:t>
            </a:r>
          </a:p>
        </p:txBody>
      </p:sp>
      <p:sp>
        <p:nvSpPr>
          <p:cNvPr id="20" name="row-detail">
            <a:extLst xmlns:a="http://schemas.openxmlformats.org/drawingml/2006/main">
              <a:ext uri="{FF2B5EF4-FFF2-40B4-BE49-F238E27FC236}">
                <a16:creationId xmlns:a16="http://schemas.microsoft.com/office/drawing/2014/main" id="{C74EA8E4-BA06-45E1-AA31-B453544F77BC}"/>
              </a:ext>
            </a:extLst>
          </p:cNvPr>
          <p:cNvSpPr>
            <a:spLocks xmlns:a="http://schemas.openxmlformats.org/drawingml/2006/main" noGrp="1"/>
          </p:cNvSpPr>
          <p:nvPr/>
        </p:nvSpPr>
        <p:spPr>
          <a:xfrm xmlns:a="http://schemas.openxmlformats.org/drawingml/2006/main">
            <a:off x="4276725" y="4829175"/>
            <a:ext cx="10067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Creative suite; Business $250/year, conflicting with older $20/mo launch.</a:t>
            </a:r>
          </a:p>
        </p:txBody>
      </p:sp>
      <p:sp>
        <p:nvSpPr>
          <p:cNvPr id="21" name="structural-divider">
            <a:extLst xmlns:a="http://schemas.openxmlformats.org/drawingml/2006/main">
              <a:ext uri="{FF2B5EF4-FFF2-40B4-BE49-F238E27FC236}">
                <a16:creationId xmlns:a16="http://schemas.microsoft.com/office/drawing/2014/main" id="{8A49E86A-E83D-4BB4-9820-79E4F3259961}"/>
              </a:ext>
            </a:extLst>
          </p:cNvPr>
          <p:cNvSpPr>
            <a:spLocks xmlns:a="http://schemas.openxmlformats.org/drawingml/2006/main" noGrp="1"/>
          </p:cNvSpPr>
          <p:nvPr/>
        </p:nvSpPr>
        <p:spPr>
          <a:xfrm xmlns:a="http://schemas.openxmlformats.org/drawingml/2006/main">
            <a:off x="895350" y="55245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2" name="row-number">
            <a:extLst xmlns:a="http://schemas.openxmlformats.org/drawingml/2006/main">
              <a:ext uri="{FF2B5EF4-FFF2-40B4-BE49-F238E27FC236}">
                <a16:creationId xmlns:a16="http://schemas.microsoft.com/office/drawing/2014/main" id="{CFA9512B-26DF-42B2-BEBC-BA67876BC1E6}"/>
              </a:ext>
            </a:extLst>
          </p:cNvPr>
          <p:cNvSpPr>
            <a:spLocks xmlns:a="http://schemas.openxmlformats.org/drawingml/2006/main" noGrp="1"/>
          </p:cNvSpPr>
          <p:nvPr/>
        </p:nvSpPr>
        <p:spPr>
          <a:xfrm xmlns:a="http://schemas.openxmlformats.org/drawingml/2006/main">
            <a:off x="895350" y="567690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05</a:t>
            </a:r>
          </a:p>
        </p:txBody>
      </p:sp>
      <p:sp>
        <p:nvSpPr>
          <p:cNvPr id="23" name="row-title">
            <a:extLst xmlns:a="http://schemas.openxmlformats.org/drawingml/2006/main">
              <a:ext uri="{FF2B5EF4-FFF2-40B4-BE49-F238E27FC236}">
                <a16:creationId xmlns:a16="http://schemas.microsoft.com/office/drawing/2014/main" id="{464CDC8C-C888-44F8-BD96-47EEF972388D}"/>
              </a:ext>
            </a:extLst>
          </p:cNvPr>
          <p:cNvSpPr>
            <a:spLocks xmlns:a="http://schemas.openxmlformats.org/drawingml/2006/main" noGrp="1"/>
          </p:cNvSpPr>
          <p:nvPr/>
        </p:nvSpPr>
        <p:spPr>
          <a:xfrm xmlns:a="http://schemas.openxmlformats.org/drawingml/2006/main">
            <a:off x="1733550" y="5667375"/>
            <a:ext cx="2381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Gamma</a:t>
            </a:r>
          </a:p>
        </p:txBody>
      </p:sp>
      <p:sp>
        <p:nvSpPr>
          <p:cNvPr id="24" name="row-detail">
            <a:extLst xmlns:a="http://schemas.openxmlformats.org/drawingml/2006/main">
              <a:ext uri="{FF2B5EF4-FFF2-40B4-BE49-F238E27FC236}">
                <a16:creationId xmlns:a16="http://schemas.microsoft.com/office/drawing/2014/main" id="{72DAB31D-7884-4599-BC2D-E352D15EDE2A}"/>
              </a:ext>
            </a:extLst>
          </p:cNvPr>
          <p:cNvSpPr>
            <a:spLocks xmlns:a="http://schemas.openxmlformats.org/drawingml/2006/main" noGrp="1"/>
          </p:cNvSpPr>
          <p:nvPr/>
        </p:nvSpPr>
        <p:spPr>
          <a:xfrm xmlns:a="http://schemas.openxmlformats.org/drawingml/2006/main">
            <a:off x="4276725" y="5695950"/>
            <a:ext cx="10067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Free-tier PPTX/PDF export; no verified numeric paid price.</a:t>
            </a:r>
          </a:p>
        </p:txBody>
      </p:sp>
      <p:sp>
        <p:nvSpPr>
          <p:cNvPr id="25" name="structural-divider">
            <a:extLst xmlns:a="http://schemas.openxmlformats.org/drawingml/2006/main">
              <a:ext uri="{FF2B5EF4-FFF2-40B4-BE49-F238E27FC236}">
                <a16:creationId xmlns:a16="http://schemas.microsoft.com/office/drawing/2014/main" id="{48EAAF39-3C28-4E06-8200-48C7C23F9432}"/>
              </a:ext>
            </a:extLst>
          </p:cNvPr>
          <p:cNvSpPr>
            <a:spLocks xmlns:a="http://schemas.openxmlformats.org/drawingml/2006/main" noGrp="1"/>
          </p:cNvSpPr>
          <p:nvPr/>
        </p:nvSpPr>
        <p:spPr>
          <a:xfrm xmlns:a="http://schemas.openxmlformats.org/drawingml/2006/main">
            <a:off x="895350" y="63912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6" name="body-paragraph">
            <a:extLst xmlns:a="http://schemas.openxmlformats.org/drawingml/2006/main">
              <a:ext uri="{FF2B5EF4-FFF2-40B4-BE49-F238E27FC236}">
                <a16:creationId xmlns:a16="http://schemas.microsoft.com/office/drawing/2014/main" id="{2C5A5761-B6AF-4576-977D-A997EC10F1AE}"/>
              </a:ext>
            </a:extLst>
          </p:cNvPr>
          <p:cNvSpPr>
            <a:spLocks xmlns:a="http://schemas.openxmlformats.org/drawingml/2006/main" noGrp="1"/>
          </p:cNvSpPr>
          <p:nvPr/>
        </p:nvSpPr>
        <p:spPr>
          <a:xfrm xmlns:a="http://schemas.openxmlformats.org/drawingml/2006/main">
            <a:off x="895350" y="6934200"/>
            <a:ext cx="134493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759BC"/>
                </a:solidFill>
                <a:latin typeface="Helvetica Neue"/>
                <a:ea typeface="Helvetica Neue"/>
                <a:cs typeface="Helvetica Neue"/>
              </a:defRPr>
            </a:pPr>
            <a:r>
              <a:rPr sz="1800" b="1">
                <a:solidFill>
                  <a:srgbClr val="1759BC"/>
                </a:solidFill>
                <a:latin typeface="Helvetica Neue"/>
                <a:ea typeface="Helvetica Neue"/>
                <a:cs typeface="Helvetica Neue"/>
              </a:rPr>
              <a:t>Differentiate on verified context + editable outcomes + independent approval + cross-device continuity.</a:t>
            </a:r>
          </a:p>
        </p:txBody>
      </p:sp>
    </p:spTree>
    <p:extLst>
      <p:ext uri="{BB962C8B-B14F-4D97-AF65-F5344CB8AC3E}">
        <p14:creationId xmlns:p14="http://schemas.microsoft.com/office/powerpoint/2010/main" val="12884519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ection-kicker">
            <a:extLst xmlns:a="http://schemas.openxmlformats.org/drawingml/2006/main">
              <a:ext uri="{FF2B5EF4-FFF2-40B4-BE49-F238E27FC236}">
                <a16:creationId xmlns:a16="http://schemas.microsoft.com/office/drawing/2014/main" id="{CAD27D9C-1AF2-461B-9071-5895BFB31299}"/>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PROPOSED RELEASE ACCEPTANCE METRICS</a:t>
            </a:r>
          </a:p>
        </p:txBody>
      </p:sp>
      <p:sp>
        <p:nvSpPr>
          <p:cNvPr id="2" name="slide-title">
            <a:extLst xmlns:a="http://schemas.openxmlformats.org/drawingml/2006/main">
              <a:ext uri="{FF2B5EF4-FFF2-40B4-BE49-F238E27FC236}">
                <a16:creationId xmlns:a16="http://schemas.microsoft.com/office/drawing/2014/main" id="{1DC00DBE-85B3-486E-B80D-FF5662E92207}"/>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Ship against observable user outcomes</a:t>
            </a:r>
          </a:p>
        </p:txBody>
      </p:sp>
      <p:sp>
        <p:nvSpPr>
          <p:cNvPr id="3" name="structural-divider">
            <a:extLst xmlns:a="http://schemas.openxmlformats.org/drawingml/2006/main">
              <a:ext uri="{FF2B5EF4-FFF2-40B4-BE49-F238E27FC236}">
                <a16:creationId xmlns:a16="http://schemas.microsoft.com/office/drawing/2014/main" id="{1BE11BA7-CCDC-4B4B-A44C-1D1EC05ADEA4}"/>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444BE76A-B22A-4438-B17E-48CBEDD3EBBE}"/>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A6B50C62-E429-4B0E-85D2-0A5DB9AFAD41}"/>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19</a:t>
            </a:r>
          </a:p>
        </p:txBody>
      </p:sp>
      <p:sp>
        <p:nvSpPr>
          <p:cNvPr id="6" name="row-number">
            <a:extLst xmlns:a="http://schemas.openxmlformats.org/drawingml/2006/main">
              <a:ext uri="{FF2B5EF4-FFF2-40B4-BE49-F238E27FC236}">
                <a16:creationId xmlns:a16="http://schemas.microsoft.com/office/drawing/2014/main" id="{DA75B790-7A0F-4742-BDBE-0A121D76876C}"/>
              </a:ext>
            </a:extLst>
          </p:cNvPr>
          <p:cNvSpPr>
            <a:spLocks xmlns:a="http://schemas.openxmlformats.org/drawingml/2006/main" noGrp="1"/>
          </p:cNvSpPr>
          <p:nvPr/>
        </p:nvSpPr>
        <p:spPr>
          <a:xfrm xmlns:a="http://schemas.openxmlformats.org/drawingml/2006/main">
            <a:off x="895350" y="22002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01</a:t>
            </a:r>
          </a:p>
        </p:txBody>
      </p:sp>
      <p:sp>
        <p:nvSpPr>
          <p:cNvPr id="7" name="row-title">
            <a:extLst xmlns:a="http://schemas.openxmlformats.org/drawingml/2006/main">
              <a:ext uri="{FF2B5EF4-FFF2-40B4-BE49-F238E27FC236}">
                <a16:creationId xmlns:a16="http://schemas.microsoft.com/office/drawing/2014/main" id="{A129FB62-BA72-47BE-8FDE-1454ECE231E1}"/>
              </a:ext>
            </a:extLst>
          </p:cNvPr>
          <p:cNvSpPr>
            <a:spLocks xmlns:a="http://schemas.openxmlformats.org/drawingml/2006/main" noGrp="1"/>
          </p:cNvSpPr>
          <p:nvPr/>
        </p:nvSpPr>
        <p:spPr>
          <a:xfrm xmlns:a="http://schemas.openxmlformats.org/drawingml/2006/main">
            <a:off x="1733550" y="2190750"/>
            <a:ext cx="23145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390–1440+ px</a:t>
            </a:r>
          </a:p>
        </p:txBody>
      </p:sp>
      <p:sp>
        <p:nvSpPr>
          <p:cNvPr id="8" name="row-detail">
            <a:extLst xmlns:a="http://schemas.openxmlformats.org/drawingml/2006/main">
              <a:ext uri="{FF2B5EF4-FFF2-40B4-BE49-F238E27FC236}">
                <a16:creationId xmlns:a16="http://schemas.microsoft.com/office/drawing/2014/main" id="{4ABB5808-BEB5-4CD3-8CB3-42E768F5D3E8}"/>
              </a:ext>
            </a:extLst>
          </p:cNvPr>
          <p:cNvSpPr>
            <a:spLocks xmlns:a="http://schemas.openxmlformats.org/drawingml/2006/main" noGrp="1"/>
          </p:cNvSpPr>
          <p:nvPr/>
        </p:nvSpPr>
        <p:spPr>
          <a:xfrm xmlns:a="http://schemas.openxmlformats.org/drawingml/2006/main">
            <a:off x="4210050" y="2219325"/>
            <a:ext cx="10134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Every P0 authorized action reachable; zero document-level horizontal overflow.</a:t>
            </a:r>
          </a:p>
        </p:txBody>
      </p:sp>
      <p:sp>
        <p:nvSpPr>
          <p:cNvPr id="9" name="structural-divider">
            <a:extLst xmlns:a="http://schemas.openxmlformats.org/drawingml/2006/main">
              <a:ext uri="{FF2B5EF4-FFF2-40B4-BE49-F238E27FC236}">
                <a16:creationId xmlns:a16="http://schemas.microsoft.com/office/drawing/2014/main" id="{A29CFA67-96D3-450F-8905-BFDA50259721}"/>
              </a:ext>
            </a:extLst>
          </p:cNvPr>
          <p:cNvSpPr>
            <a:spLocks xmlns:a="http://schemas.openxmlformats.org/drawingml/2006/main" noGrp="1"/>
          </p:cNvSpPr>
          <p:nvPr/>
        </p:nvSpPr>
        <p:spPr>
          <a:xfrm xmlns:a="http://schemas.openxmlformats.org/drawingml/2006/main">
            <a:off x="895350" y="29146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row-number">
            <a:extLst xmlns:a="http://schemas.openxmlformats.org/drawingml/2006/main">
              <a:ext uri="{FF2B5EF4-FFF2-40B4-BE49-F238E27FC236}">
                <a16:creationId xmlns:a16="http://schemas.microsoft.com/office/drawing/2014/main" id="{CDD25A11-F771-43C1-89B8-3034596D5CC5}"/>
              </a:ext>
            </a:extLst>
          </p:cNvPr>
          <p:cNvSpPr>
            <a:spLocks xmlns:a="http://schemas.openxmlformats.org/drawingml/2006/main" noGrp="1"/>
          </p:cNvSpPr>
          <p:nvPr/>
        </p:nvSpPr>
        <p:spPr>
          <a:xfrm xmlns:a="http://schemas.openxmlformats.org/drawingml/2006/main">
            <a:off x="895350" y="30765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02</a:t>
            </a:r>
          </a:p>
        </p:txBody>
      </p:sp>
      <p:sp>
        <p:nvSpPr>
          <p:cNvPr id="11" name="row-title">
            <a:extLst xmlns:a="http://schemas.openxmlformats.org/drawingml/2006/main">
              <a:ext uri="{FF2B5EF4-FFF2-40B4-BE49-F238E27FC236}">
                <a16:creationId xmlns:a16="http://schemas.microsoft.com/office/drawing/2014/main" id="{510010B0-F32A-4006-89DF-5012CA991578}"/>
              </a:ext>
            </a:extLst>
          </p:cNvPr>
          <p:cNvSpPr>
            <a:spLocks xmlns:a="http://schemas.openxmlformats.org/drawingml/2006/main" noGrp="1"/>
          </p:cNvSpPr>
          <p:nvPr/>
        </p:nvSpPr>
        <p:spPr>
          <a:xfrm xmlns:a="http://schemas.openxmlformats.org/drawingml/2006/main">
            <a:off x="1733550" y="3067050"/>
            <a:ext cx="23145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44 × 44 px</a:t>
            </a:r>
          </a:p>
        </p:txBody>
      </p:sp>
      <p:sp>
        <p:nvSpPr>
          <p:cNvPr id="12" name="row-detail">
            <a:extLst xmlns:a="http://schemas.openxmlformats.org/drawingml/2006/main">
              <a:ext uri="{FF2B5EF4-FFF2-40B4-BE49-F238E27FC236}">
                <a16:creationId xmlns:a16="http://schemas.microsoft.com/office/drawing/2014/main" id="{A7CF6BA3-1156-4625-A51F-FDC37878D4C8}"/>
              </a:ext>
            </a:extLst>
          </p:cNvPr>
          <p:cNvSpPr>
            <a:spLocks xmlns:a="http://schemas.openxmlformats.org/drawingml/2006/main" noGrp="1"/>
          </p:cNvSpPr>
          <p:nvPr/>
        </p:nvSpPr>
        <p:spPr>
          <a:xfrm xmlns:a="http://schemas.openxmlformats.org/drawingml/2006/main">
            <a:off x="4210050" y="3095625"/>
            <a:ext cx="10134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Minimum interactive target across touch controls and selected Canvas handles.</a:t>
            </a:r>
          </a:p>
        </p:txBody>
      </p:sp>
      <p:sp>
        <p:nvSpPr>
          <p:cNvPr id="13" name="structural-divider">
            <a:extLst xmlns:a="http://schemas.openxmlformats.org/drawingml/2006/main">
              <a:ext uri="{FF2B5EF4-FFF2-40B4-BE49-F238E27FC236}">
                <a16:creationId xmlns:a16="http://schemas.microsoft.com/office/drawing/2014/main" id="{0D808BA1-51A6-4E27-8345-A2962D4EEF4C}"/>
              </a:ext>
            </a:extLst>
          </p:cNvPr>
          <p:cNvSpPr>
            <a:spLocks xmlns:a="http://schemas.openxmlformats.org/drawingml/2006/main" noGrp="1"/>
          </p:cNvSpPr>
          <p:nvPr/>
        </p:nvSpPr>
        <p:spPr>
          <a:xfrm xmlns:a="http://schemas.openxmlformats.org/drawingml/2006/main">
            <a:off x="895350" y="37909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4" name="row-number">
            <a:extLst xmlns:a="http://schemas.openxmlformats.org/drawingml/2006/main">
              <a:ext uri="{FF2B5EF4-FFF2-40B4-BE49-F238E27FC236}">
                <a16:creationId xmlns:a16="http://schemas.microsoft.com/office/drawing/2014/main" id="{48661E46-091A-48C5-9A03-AA0B5096A5D6}"/>
              </a:ext>
            </a:extLst>
          </p:cNvPr>
          <p:cNvSpPr>
            <a:spLocks xmlns:a="http://schemas.openxmlformats.org/drawingml/2006/main" noGrp="1"/>
          </p:cNvSpPr>
          <p:nvPr/>
        </p:nvSpPr>
        <p:spPr>
          <a:xfrm xmlns:a="http://schemas.openxmlformats.org/drawingml/2006/main">
            <a:off x="895350" y="39528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03</a:t>
            </a:r>
          </a:p>
        </p:txBody>
      </p:sp>
      <p:sp>
        <p:nvSpPr>
          <p:cNvPr id="15" name="row-title">
            <a:extLst xmlns:a="http://schemas.openxmlformats.org/drawingml/2006/main">
              <a:ext uri="{FF2B5EF4-FFF2-40B4-BE49-F238E27FC236}">
                <a16:creationId xmlns:a16="http://schemas.microsoft.com/office/drawing/2014/main" id="{198C1BC7-CC4E-4DB1-B5DA-C16863773055}"/>
              </a:ext>
            </a:extLst>
          </p:cNvPr>
          <p:cNvSpPr>
            <a:spLocks xmlns:a="http://schemas.openxmlformats.org/drawingml/2006/main" noGrp="1"/>
          </p:cNvSpPr>
          <p:nvPr/>
        </p:nvSpPr>
        <p:spPr>
          <a:xfrm xmlns:a="http://schemas.openxmlformats.org/drawingml/2006/main">
            <a:off x="1733550" y="3943350"/>
            <a:ext cx="23145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 1 action</a:t>
            </a:r>
          </a:p>
        </p:txBody>
      </p:sp>
      <p:sp>
        <p:nvSpPr>
          <p:cNvPr id="16" name="row-detail">
            <a:extLst xmlns:a="http://schemas.openxmlformats.org/drawingml/2006/main">
              <a:ext uri="{FF2B5EF4-FFF2-40B4-BE49-F238E27FC236}">
                <a16:creationId xmlns:a16="http://schemas.microsoft.com/office/drawing/2014/main" id="{0BC28390-52B7-4DF0-A4BE-9C2CF13E401E}"/>
              </a:ext>
            </a:extLst>
          </p:cNvPr>
          <p:cNvSpPr>
            <a:spLocks xmlns:a="http://schemas.openxmlformats.org/drawingml/2006/main" noGrp="1"/>
          </p:cNvSpPr>
          <p:nvPr/>
        </p:nvSpPr>
        <p:spPr>
          <a:xfrm xmlns:a="http://schemas.openxmlformats.org/drawingml/2006/main">
            <a:off x="4210050" y="3971925"/>
            <a:ext cx="10134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Search, Ask, current result, collections, and urgent review are always accessible.</a:t>
            </a:r>
          </a:p>
        </p:txBody>
      </p:sp>
      <p:sp>
        <p:nvSpPr>
          <p:cNvPr id="17" name="structural-divider">
            <a:extLst xmlns:a="http://schemas.openxmlformats.org/drawingml/2006/main">
              <a:ext uri="{FF2B5EF4-FFF2-40B4-BE49-F238E27FC236}">
                <a16:creationId xmlns:a16="http://schemas.microsoft.com/office/drawing/2014/main" id="{0A8A34CC-4247-4602-930A-1A45AA30F370}"/>
              </a:ext>
            </a:extLst>
          </p:cNvPr>
          <p:cNvSpPr>
            <a:spLocks xmlns:a="http://schemas.openxmlformats.org/drawingml/2006/main" noGrp="1"/>
          </p:cNvSpPr>
          <p:nvPr/>
        </p:nvSpPr>
        <p:spPr>
          <a:xfrm xmlns:a="http://schemas.openxmlformats.org/drawingml/2006/main">
            <a:off x="895350" y="46672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row-number">
            <a:extLst xmlns:a="http://schemas.openxmlformats.org/drawingml/2006/main">
              <a:ext uri="{FF2B5EF4-FFF2-40B4-BE49-F238E27FC236}">
                <a16:creationId xmlns:a16="http://schemas.microsoft.com/office/drawing/2014/main" id="{5B8EBCD2-8BA8-41E6-B34F-C6463F9769BF}"/>
              </a:ext>
            </a:extLst>
          </p:cNvPr>
          <p:cNvSpPr>
            <a:spLocks xmlns:a="http://schemas.openxmlformats.org/drawingml/2006/main" noGrp="1"/>
          </p:cNvSpPr>
          <p:nvPr/>
        </p:nvSpPr>
        <p:spPr>
          <a:xfrm xmlns:a="http://schemas.openxmlformats.org/drawingml/2006/main">
            <a:off x="895350" y="48291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04</a:t>
            </a:r>
          </a:p>
        </p:txBody>
      </p:sp>
      <p:sp>
        <p:nvSpPr>
          <p:cNvPr id="19" name="row-title">
            <a:extLst xmlns:a="http://schemas.openxmlformats.org/drawingml/2006/main">
              <a:ext uri="{FF2B5EF4-FFF2-40B4-BE49-F238E27FC236}">
                <a16:creationId xmlns:a16="http://schemas.microsoft.com/office/drawing/2014/main" id="{5C49D7D4-7AE9-40DD-A727-620E244DC0DD}"/>
              </a:ext>
            </a:extLst>
          </p:cNvPr>
          <p:cNvSpPr>
            <a:spLocks xmlns:a="http://schemas.openxmlformats.org/drawingml/2006/main" noGrp="1"/>
          </p:cNvSpPr>
          <p:nvPr/>
        </p:nvSpPr>
        <p:spPr>
          <a:xfrm xmlns:a="http://schemas.openxmlformats.org/drawingml/2006/main">
            <a:off x="1733550" y="4819650"/>
            <a:ext cx="23145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0 lost state</a:t>
            </a:r>
          </a:p>
        </p:txBody>
      </p:sp>
      <p:sp>
        <p:nvSpPr>
          <p:cNvPr id="20" name="row-detail">
            <a:extLst xmlns:a="http://schemas.openxmlformats.org/drawingml/2006/main">
              <a:ext uri="{FF2B5EF4-FFF2-40B4-BE49-F238E27FC236}">
                <a16:creationId xmlns:a16="http://schemas.microsoft.com/office/drawing/2014/main" id="{18256B22-23DC-41DE-A3C5-60C1070903A9}"/>
              </a:ext>
            </a:extLst>
          </p:cNvPr>
          <p:cNvSpPr>
            <a:spLocks xmlns:a="http://schemas.openxmlformats.org/drawingml/2006/main" noGrp="1"/>
          </p:cNvSpPr>
          <p:nvPr/>
        </p:nvSpPr>
        <p:spPr>
          <a:xfrm xmlns:a="http://schemas.openxmlformats.org/drawingml/2006/main">
            <a:off x="4210050" y="4848225"/>
            <a:ext cx="10134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Rotation, resize, keyboard, and split view retain route, draft, selection, and zoom.</a:t>
            </a:r>
          </a:p>
        </p:txBody>
      </p:sp>
      <p:sp>
        <p:nvSpPr>
          <p:cNvPr id="21" name="structural-divider">
            <a:extLst xmlns:a="http://schemas.openxmlformats.org/drawingml/2006/main">
              <a:ext uri="{FF2B5EF4-FFF2-40B4-BE49-F238E27FC236}">
                <a16:creationId xmlns:a16="http://schemas.microsoft.com/office/drawing/2014/main" id="{B713D762-FB4F-4BF3-A753-DBACA441FEAF}"/>
              </a:ext>
            </a:extLst>
          </p:cNvPr>
          <p:cNvSpPr>
            <a:spLocks xmlns:a="http://schemas.openxmlformats.org/drawingml/2006/main" noGrp="1"/>
          </p:cNvSpPr>
          <p:nvPr/>
        </p:nvSpPr>
        <p:spPr>
          <a:xfrm xmlns:a="http://schemas.openxmlformats.org/drawingml/2006/main">
            <a:off x="895350" y="55435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2" name="row-number">
            <a:extLst xmlns:a="http://schemas.openxmlformats.org/drawingml/2006/main">
              <a:ext uri="{FF2B5EF4-FFF2-40B4-BE49-F238E27FC236}">
                <a16:creationId xmlns:a16="http://schemas.microsoft.com/office/drawing/2014/main" id="{BF498529-567E-4B2F-A584-A3AC9F5C728F}"/>
              </a:ext>
            </a:extLst>
          </p:cNvPr>
          <p:cNvSpPr>
            <a:spLocks xmlns:a="http://schemas.openxmlformats.org/drawingml/2006/main" noGrp="1"/>
          </p:cNvSpPr>
          <p:nvPr/>
        </p:nvSpPr>
        <p:spPr>
          <a:xfrm xmlns:a="http://schemas.openxmlformats.org/drawingml/2006/main">
            <a:off x="895350" y="57054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05</a:t>
            </a:r>
          </a:p>
        </p:txBody>
      </p:sp>
      <p:sp>
        <p:nvSpPr>
          <p:cNvPr id="23" name="row-title">
            <a:extLst xmlns:a="http://schemas.openxmlformats.org/drawingml/2006/main">
              <a:ext uri="{FF2B5EF4-FFF2-40B4-BE49-F238E27FC236}">
                <a16:creationId xmlns:a16="http://schemas.microsoft.com/office/drawing/2014/main" id="{12153A29-4FEE-4EA7-AC7F-F968ADBC5056}"/>
              </a:ext>
            </a:extLst>
          </p:cNvPr>
          <p:cNvSpPr>
            <a:spLocks xmlns:a="http://schemas.openxmlformats.org/drawingml/2006/main" noGrp="1"/>
          </p:cNvSpPr>
          <p:nvPr/>
        </p:nvSpPr>
        <p:spPr>
          <a:xfrm xmlns:a="http://schemas.openxmlformats.org/drawingml/2006/main">
            <a:off x="1733550" y="5695950"/>
            <a:ext cx="23145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100% scoped</a:t>
            </a:r>
          </a:p>
        </p:txBody>
      </p:sp>
      <p:sp>
        <p:nvSpPr>
          <p:cNvPr id="24" name="row-detail">
            <a:extLst xmlns:a="http://schemas.openxmlformats.org/drawingml/2006/main">
              <a:ext uri="{FF2B5EF4-FFF2-40B4-BE49-F238E27FC236}">
                <a16:creationId xmlns:a16="http://schemas.microsoft.com/office/drawing/2014/main" id="{58E31B65-5E4B-468D-BD3D-AFD6D208C5FF}"/>
              </a:ext>
            </a:extLst>
          </p:cNvPr>
          <p:cNvSpPr>
            <a:spLocks xmlns:a="http://schemas.openxmlformats.org/drawingml/2006/main" noGrp="1"/>
          </p:cNvSpPr>
          <p:nvPr/>
        </p:nvSpPr>
        <p:spPr>
          <a:xfrm xmlns:a="http://schemas.openxmlformats.org/drawingml/2006/main">
            <a:off x="4210050" y="5724525"/>
            <a:ext cx="10134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606771"/>
                </a:solidFill>
                <a:latin typeface="Helvetica Neue"/>
                <a:ea typeface="Helvetica Neue"/>
                <a:cs typeface="Helvetica Neue"/>
              </a:defRPr>
            </a:pPr>
            <a:r>
              <a:rPr sz="1725" b="0">
                <a:solidFill>
                  <a:srgbClr val="606771"/>
                </a:solidFill>
                <a:latin typeface="Helvetica Neue"/>
                <a:ea typeface="Helvetica Neue"/>
                <a:cs typeface="Helvetica Neue"/>
              </a:rPr>
              <a:t>Activity and delivery recheck recipient, project, membership, role, and revision.</a:t>
            </a:r>
          </a:p>
        </p:txBody>
      </p:sp>
      <p:sp>
        <p:nvSpPr>
          <p:cNvPr id="25" name="structural-divider">
            <a:extLst xmlns:a="http://schemas.openxmlformats.org/drawingml/2006/main">
              <a:ext uri="{FF2B5EF4-FFF2-40B4-BE49-F238E27FC236}">
                <a16:creationId xmlns:a16="http://schemas.microsoft.com/office/drawing/2014/main" id="{0DE87F87-5765-4D80-AE8C-276D542CCB2F}"/>
              </a:ext>
            </a:extLst>
          </p:cNvPr>
          <p:cNvSpPr>
            <a:spLocks xmlns:a="http://schemas.openxmlformats.org/drawingml/2006/main" noGrp="1"/>
          </p:cNvSpPr>
          <p:nvPr/>
        </p:nvSpPr>
        <p:spPr>
          <a:xfrm xmlns:a="http://schemas.openxmlformats.org/drawingml/2006/main">
            <a:off x="895350" y="64198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6" name="body-paragraph">
            <a:extLst xmlns:a="http://schemas.openxmlformats.org/drawingml/2006/main">
              <a:ext uri="{FF2B5EF4-FFF2-40B4-BE49-F238E27FC236}">
                <a16:creationId xmlns:a16="http://schemas.microsoft.com/office/drawing/2014/main" id="{1C86DDBE-D10A-4718-9B93-E877680EDF08}"/>
              </a:ext>
            </a:extLst>
          </p:cNvPr>
          <p:cNvSpPr>
            <a:spLocks xmlns:a="http://schemas.openxmlformats.org/drawingml/2006/main" noGrp="1"/>
          </p:cNvSpPr>
          <p:nvPr/>
        </p:nvSpPr>
        <p:spPr>
          <a:xfrm xmlns:a="http://schemas.openxmlformats.org/drawingml/2006/main">
            <a:off x="895350" y="7010400"/>
            <a:ext cx="134493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Target p75 LCP ≤2.5s · INP ≤200ms · CLS ≤0.1; validate touch, RTL, zoom, offline, and role safety.</a:t>
            </a:r>
          </a:p>
        </p:txBody>
      </p:sp>
    </p:spTree>
    <p:extLst>
      <p:ext uri="{BB962C8B-B14F-4D97-AF65-F5344CB8AC3E}">
        <p14:creationId xmlns:p14="http://schemas.microsoft.com/office/powerpoint/2010/main" val="15378045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ection-kicker">
            <a:extLst xmlns:a="http://schemas.openxmlformats.org/drawingml/2006/main">
              <a:ext uri="{FF2B5EF4-FFF2-40B4-BE49-F238E27FC236}">
                <a16:creationId xmlns:a16="http://schemas.microsoft.com/office/drawing/2014/main" id="{BD990585-A5D7-4490-A0C2-4774CFA2BE88}"/>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DELIVERY ROADMAP</a:t>
            </a:r>
          </a:p>
        </p:txBody>
      </p:sp>
      <p:sp>
        <p:nvSpPr>
          <p:cNvPr id="2" name="slide-title">
            <a:extLst xmlns:a="http://schemas.openxmlformats.org/drawingml/2006/main">
              <a:ext uri="{FF2B5EF4-FFF2-40B4-BE49-F238E27FC236}">
                <a16:creationId xmlns:a16="http://schemas.microsoft.com/office/drawing/2014/main" id="{39428934-A6E8-4026-815E-68C7CE43A6F8}"/>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Sequence the work over 12–16 weeks</a:t>
            </a:r>
          </a:p>
        </p:txBody>
      </p:sp>
      <p:sp>
        <p:nvSpPr>
          <p:cNvPr id="3" name="structural-divider">
            <a:extLst xmlns:a="http://schemas.openxmlformats.org/drawingml/2006/main">
              <a:ext uri="{FF2B5EF4-FFF2-40B4-BE49-F238E27FC236}">
                <a16:creationId xmlns:a16="http://schemas.microsoft.com/office/drawing/2014/main" id="{23C04F02-9D2E-43C6-B828-D0F83B63FCB3}"/>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A570A2D2-8752-401B-BE4D-BB1B4F0C2B69}"/>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08469AD7-AAE8-43E0-8B4C-06C4EF2A1808}"/>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20</a:t>
            </a:r>
          </a:p>
        </p:txBody>
      </p:sp>
      <p:sp>
        <p:nvSpPr>
          <p:cNvPr id="6" name="row-number">
            <a:extLst xmlns:a="http://schemas.openxmlformats.org/drawingml/2006/main">
              <a:ext uri="{FF2B5EF4-FFF2-40B4-BE49-F238E27FC236}">
                <a16:creationId xmlns:a16="http://schemas.microsoft.com/office/drawing/2014/main" id="{BFA524E1-6EC7-40BC-B32F-43A0E466C1B0}"/>
              </a:ext>
            </a:extLst>
          </p:cNvPr>
          <p:cNvSpPr>
            <a:spLocks xmlns:a="http://schemas.openxmlformats.org/drawingml/2006/main" noGrp="1"/>
          </p:cNvSpPr>
          <p:nvPr/>
        </p:nvSpPr>
        <p:spPr>
          <a:xfrm xmlns:a="http://schemas.openxmlformats.org/drawingml/2006/main">
            <a:off x="895350" y="22002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01</a:t>
            </a:r>
          </a:p>
        </p:txBody>
      </p:sp>
      <p:sp>
        <p:nvSpPr>
          <p:cNvPr id="7" name="row-title">
            <a:extLst xmlns:a="http://schemas.openxmlformats.org/drawingml/2006/main">
              <a:ext uri="{FF2B5EF4-FFF2-40B4-BE49-F238E27FC236}">
                <a16:creationId xmlns:a16="http://schemas.microsoft.com/office/drawing/2014/main" id="{2AB3675E-E3EB-407E-913F-44A672973DC6}"/>
              </a:ext>
            </a:extLst>
          </p:cNvPr>
          <p:cNvSpPr>
            <a:spLocks xmlns:a="http://schemas.openxmlformats.org/drawingml/2006/main" noGrp="1"/>
          </p:cNvSpPr>
          <p:nvPr/>
        </p:nvSpPr>
        <p:spPr>
          <a:xfrm xmlns:a="http://schemas.openxmlformats.org/drawingml/2006/main">
            <a:off x="1733550" y="2190750"/>
            <a:ext cx="1952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Weeks 1–4</a:t>
            </a:r>
          </a:p>
        </p:txBody>
      </p:sp>
      <p:sp>
        <p:nvSpPr>
          <p:cNvPr id="8" name="row-detail">
            <a:extLst xmlns:a="http://schemas.openxmlformats.org/drawingml/2006/main">
              <a:ext uri="{FF2B5EF4-FFF2-40B4-BE49-F238E27FC236}">
                <a16:creationId xmlns:a16="http://schemas.microsoft.com/office/drawing/2014/main" id="{7C0452E5-6011-48AC-AE0B-8CD1322A2A09}"/>
              </a:ext>
            </a:extLst>
          </p:cNvPr>
          <p:cNvSpPr>
            <a:spLocks xmlns:a="http://schemas.openxmlformats.org/drawingml/2006/main" noGrp="1"/>
          </p:cNvSpPr>
          <p:nvPr/>
        </p:nvSpPr>
        <p:spPr>
          <a:xfrm xmlns:a="http://schemas.openxmlformats.org/drawingml/2006/main">
            <a:off x="3848100" y="2219325"/>
            <a:ext cx="10496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Ship shell + Search/Ask; make project/document saves truthful and idempotent.</a:t>
            </a:r>
          </a:p>
        </p:txBody>
      </p:sp>
      <p:sp>
        <p:nvSpPr>
          <p:cNvPr id="9" name="structural-divider">
            <a:extLst xmlns:a="http://schemas.openxmlformats.org/drawingml/2006/main">
              <a:ext uri="{FF2B5EF4-FFF2-40B4-BE49-F238E27FC236}">
                <a16:creationId xmlns:a16="http://schemas.microsoft.com/office/drawing/2014/main" id="{C5575C28-E15C-46B5-A964-07BF7F93699B}"/>
              </a:ext>
            </a:extLst>
          </p:cNvPr>
          <p:cNvSpPr>
            <a:spLocks xmlns:a="http://schemas.openxmlformats.org/drawingml/2006/main" noGrp="1"/>
          </p:cNvSpPr>
          <p:nvPr/>
        </p:nvSpPr>
        <p:spPr>
          <a:xfrm xmlns:a="http://schemas.openxmlformats.org/drawingml/2006/main">
            <a:off x="895350" y="29146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0" name="row-number">
            <a:extLst xmlns:a="http://schemas.openxmlformats.org/drawingml/2006/main">
              <a:ext uri="{FF2B5EF4-FFF2-40B4-BE49-F238E27FC236}">
                <a16:creationId xmlns:a16="http://schemas.microsoft.com/office/drawing/2014/main" id="{BCD4D230-618B-4E23-8CCE-CCA8FBEF72FE}"/>
              </a:ext>
            </a:extLst>
          </p:cNvPr>
          <p:cNvSpPr>
            <a:spLocks xmlns:a="http://schemas.openxmlformats.org/drawingml/2006/main" noGrp="1"/>
          </p:cNvSpPr>
          <p:nvPr/>
        </p:nvSpPr>
        <p:spPr>
          <a:xfrm xmlns:a="http://schemas.openxmlformats.org/drawingml/2006/main">
            <a:off x="895350" y="306705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02</a:t>
            </a:r>
          </a:p>
        </p:txBody>
      </p:sp>
      <p:sp>
        <p:nvSpPr>
          <p:cNvPr id="11" name="row-title">
            <a:extLst xmlns:a="http://schemas.openxmlformats.org/drawingml/2006/main">
              <a:ext uri="{FF2B5EF4-FFF2-40B4-BE49-F238E27FC236}">
                <a16:creationId xmlns:a16="http://schemas.microsoft.com/office/drawing/2014/main" id="{0108F0B3-EEB8-44DF-AEB3-9C64C4819979}"/>
              </a:ext>
            </a:extLst>
          </p:cNvPr>
          <p:cNvSpPr>
            <a:spLocks xmlns:a="http://schemas.openxmlformats.org/drawingml/2006/main" noGrp="1"/>
          </p:cNvSpPr>
          <p:nvPr/>
        </p:nvSpPr>
        <p:spPr>
          <a:xfrm xmlns:a="http://schemas.openxmlformats.org/drawingml/2006/main">
            <a:off x="1733550" y="3057525"/>
            <a:ext cx="1952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Weeks 3–6</a:t>
            </a:r>
          </a:p>
        </p:txBody>
      </p:sp>
      <p:sp>
        <p:nvSpPr>
          <p:cNvPr id="12" name="row-detail">
            <a:extLst xmlns:a="http://schemas.openxmlformats.org/drawingml/2006/main">
              <a:ext uri="{FF2B5EF4-FFF2-40B4-BE49-F238E27FC236}">
                <a16:creationId xmlns:a16="http://schemas.microsoft.com/office/drawing/2014/main" id="{BFCD0E10-C58B-42FE-9DA5-7C2426ADFE95}"/>
              </a:ext>
            </a:extLst>
          </p:cNvPr>
          <p:cNvSpPr>
            <a:spLocks xmlns:a="http://schemas.openxmlformats.org/drawingml/2006/main" noGrp="1"/>
          </p:cNvSpPr>
          <p:nvPr/>
        </p:nvSpPr>
        <p:spPr>
          <a:xfrm xmlns:a="http://schemas.openxmlformats.org/drawingml/2006/main">
            <a:off x="3848100" y="3086100"/>
            <a:ext cx="10496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Deliver scoped Activity, independent review routing, and governed Deliver in parallel.</a:t>
            </a:r>
          </a:p>
        </p:txBody>
      </p:sp>
      <p:sp>
        <p:nvSpPr>
          <p:cNvPr id="13" name="structural-divider">
            <a:extLst xmlns:a="http://schemas.openxmlformats.org/drawingml/2006/main">
              <a:ext uri="{FF2B5EF4-FFF2-40B4-BE49-F238E27FC236}">
                <a16:creationId xmlns:a16="http://schemas.microsoft.com/office/drawing/2014/main" id="{CB93ADE0-7D23-4C92-8AE1-A204B4DB3EC8}"/>
              </a:ext>
            </a:extLst>
          </p:cNvPr>
          <p:cNvSpPr>
            <a:spLocks xmlns:a="http://schemas.openxmlformats.org/drawingml/2006/main" noGrp="1"/>
          </p:cNvSpPr>
          <p:nvPr/>
        </p:nvSpPr>
        <p:spPr>
          <a:xfrm xmlns:a="http://schemas.openxmlformats.org/drawingml/2006/main">
            <a:off x="895350" y="378142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4" name="row-number">
            <a:extLst xmlns:a="http://schemas.openxmlformats.org/drawingml/2006/main">
              <a:ext uri="{FF2B5EF4-FFF2-40B4-BE49-F238E27FC236}">
                <a16:creationId xmlns:a16="http://schemas.microsoft.com/office/drawing/2014/main" id="{CAB32678-BCAC-46E7-A64F-328884AF3C23}"/>
              </a:ext>
            </a:extLst>
          </p:cNvPr>
          <p:cNvSpPr>
            <a:spLocks xmlns:a="http://schemas.openxmlformats.org/drawingml/2006/main" noGrp="1"/>
          </p:cNvSpPr>
          <p:nvPr/>
        </p:nvSpPr>
        <p:spPr>
          <a:xfrm xmlns:a="http://schemas.openxmlformats.org/drawingml/2006/main">
            <a:off x="895350" y="393382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03</a:t>
            </a:r>
          </a:p>
        </p:txBody>
      </p:sp>
      <p:sp>
        <p:nvSpPr>
          <p:cNvPr id="15" name="row-title">
            <a:extLst xmlns:a="http://schemas.openxmlformats.org/drawingml/2006/main">
              <a:ext uri="{FF2B5EF4-FFF2-40B4-BE49-F238E27FC236}">
                <a16:creationId xmlns:a16="http://schemas.microsoft.com/office/drawing/2014/main" id="{A43DBF91-888B-409B-A37E-900C4A7E63E2}"/>
              </a:ext>
            </a:extLst>
          </p:cNvPr>
          <p:cNvSpPr>
            <a:spLocks xmlns:a="http://schemas.openxmlformats.org/drawingml/2006/main" noGrp="1"/>
          </p:cNvSpPr>
          <p:nvPr/>
        </p:nvSpPr>
        <p:spPr>
          <a:xfrm xmlns:a="http://schemas.openxmlformats.org/drawingml/2006/main">
            <a:off x="1733550" y="3924300"/>
            <a:ext cx="1952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Weeks 4–9</a:t>
            </a:r>
          </a:p>
        </p:txBody>
      </p:sp>
      <p:sp>
        <p:nvSpPr>
          <p:cNvPr id="16" name="row-detail">
            <a:extLst xmlns:a="http://schemas.openxmlformats.org/drawingml/2006/main">
              <a:ext uri="{FF2B5EF4-FFF2-40B4-BE49-F238E27FC236}">
                <a16:creationId xmlns:a16="http://schemas.microsoft.com/office/drawing/2014/main" id="{76CA8634-38D5-40D5-BB21-60467F6C5F75}"/>
              </a:ext>
            </a:extLst>
          </p:cNvPr>
          <p:cNvSpPr>
            <a:spLocks xmlns:a="http://schemas.openxmlformats.org/drawingml/2006/main" noGrp="1"/>
          </p:cNvSpPr>
          <p:nvPr/>
        </p:nvSpPr>
        <p:spPr>
          <a:xfrm xmlns:a="http://schemas.openxmlformats.org/drawingml/2006/main">
            <a:off x="3848100" y="3952875"/>
            <a:ext cx="10496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Rebuild phone Work/Chat, Projects, Explore/Library, and exact-context continuity.</a:t>
            </a:r>
          </a:p>
        </p:txBody>
      </p:sp>
      <p:sp>
        <p:nvSpPr>
          <p:cNvPr id="17" name="structural-divider">
            <a:extLst xmlns:a="http://schemas.openxmlformats.org/drawingml/2006/main">
              <a:ext uri="{FF2B5EF4-FFF2-40B4-BE49-F238E27FC236}">
                <a16:creationId xmlns:a16="http://schemas.microsoft.com/office/drawing/2014/main" id="{57180EFD-B0AC-40E6-95BC-96371C7F9DC1}"/>
              </a:ext>
            </a:extLst>
          </p:cNvPr>
          <p:cNvSpPr>
            <a:spLocks xmlns:a="http://schemas.openxmlformats.org/drawingml/2006/main" noGrp="1"/>
          </p:cNvSpPr>
          <p:nvPr/>
        </p:nvSpPr>
        <p:spPr>
          <a:xfrm xmlns:a="http://schemas.openxmlformats.org/drawingml/2006/main">
            <a:off x="895350" y="464820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8" name="row-number">
            <a:extLst xmlns:a="http://schemas.openxmlformats.org/drawingml/2006/main">
              <a:ext uri="{FF2B5EF4-FFF2-40B4-BE49-F238E27FC236}">
                <a16:creationId xmlns:a16="http://schemas.microsoft.com/office/drawing/2014/main" id="{DF33F7CB-2C08-4EE3-BB32-C0C48E127CB3}"/>
              </a:ext>
            </a:extLst>
          </p:cNvPr>
          <p:cNvSpPr>
            <a:spLocks xmlns:a="http://schemas.openxmlformats.org/drawingml/2006/main" noGrp="1"/>
          </p:cNvSpPr>
          <p:nvPr/>
        </p:nvSpPr>
        <p:spPr>
          <a:xfrm xmlns:a="http://schemas.openxmlformats.org/drawingml/2006/main">
            <a:off x="895350" y="4800600"/>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04</a:t>
            </a:r>
          </a:p>
        </p:txBody>
      </p:sp>
      <p:sp>
        <p:nvSpPr>
          <p:cNvPr id="19" name="row-title">
            <a:extLst xmlns:a="http://schemas.openxmlformats.org/drawingml/2006/main">
              <a:ext uri="{FF2B5EF4-FFF2-40B4-BE49-F238E27FC236}">
                <a16:creationId xmlns:a16="http://schemas.microsoft.com/office/drawing/2014/main" id="{23B40B7D-60E4-4782-AE10-16F784FE4AC1}"/>
              </a:ext>
            </a:extLst>
          </p:cNvPr>
          <p:cNvSpPr>
            <a:spLocks xmlns:a="http://schemas.openxmlformats.org/drawingml/2006/main" noGrp="1"/>
          </p:cNvSpPr>
          <p:nvPr/>
        </p:nvSpPr>
        <p:spPr>
          <a:xfrm xmlns:a="http://schemas.openxmlformats.org/drawingml/2006/main">
            <a:off x="1733550" y="4791075"/>
            <a:ext cx="1952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Weeks 6–13</a:t>
            </a:r>
          </a:p>
        </p:txBody>
      </p:sp>
      <p:sp>
        <p:nvSpPr>
          <p:cNvPr id="20" name="row-detail">
            <a:extLst xmlns:a="http://schemas.openxmlformats.org/drawingml/2006/main">
              <a:ext uri="{FF2B5EF4-FFF2-40B4-BE49-F238E27FC236}">
                <a16:creationId xmlns:a16="http://schemas.microsoft.com/office/drawing/2014/main" id="{67090E8E-DB2D-4EE9-BA9B-2BC6CB518683}"/>
              </a:ext>
            </a:extLst>
          </p:cNvPr>
          <p:cNvSpPr>
            <a:spLocks xmlns:a="http://schemas.openxmlformats.org/drawingml/2006/main" noGrp="1"/>
          </p:cNvSpPr>
          <p:nvPr/>
        </p:nvSpPr>
        <p:spPr>
          <a:xfrm xmlns:a="http://schemas.openxmlformats.org/drawingml/2006/main">
            <a:off x="3848100" y="4819650"/>
            <a:ext cx="10496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Add real touch Canvas, direct manipulation, adaptive panes, and truthful collaboration.</a:t>
            </a:r>
          </a:p>
        </p:txBody>
      </p:sp>
      <p:sp>
        <p:nvSpPr>
          <p:cNvPr id="21" name="structural-divider">
            <a:extLst xmlns:a="http://schemas.openxmlformats.org/drawingml/2006/main">
              <a:ext uri="{FF2B5EF4-FFF2-40B4-BE49-F238E27FC236}">
                <a16:creationId xmlns:a16="http://schemas.microsoft.com/office/drawing/2014/main" id="{6EE1768A-52FA-4D7D-B005-00BDBC1C106E}"/>
              </a:ext>
            </a:extLst>
          </p:cNvPr>
          <p:cNvSpPr>
            <a:spLocks xmlns:a="http://schemas.openxmlformats.org/drawingml/2006/main" noGrp="1"/>
          </p:cNvSpPr>
          <p:nvPr/>
        </p:nvSpPr>
        <p:spPr>
          <a:xfrm xmlns:a="http://schemas.openxmlformats.org/drawingml/2006/main">
            <a:off x="895350" y="55149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2" name="row-number">
            <a:extLst xmlns:a="http://schemas.openxmlformats.org/drawingml/2006/main">
              <a:ext uri="{FF2B5EF4-FFF2-40B4-BE49-F238E27FC236}">
                <a16:creationId xmlns:a16="http://schemas.microsoft.com/office/drawing/2014/main" id="{FE25FBC6-A6F1-4824-9C41-7AB5E68DAE06}"/>
              </a:ext>
            </a:extLst>
          </p:cNvPr>
          <p:cNvSpPr>
            <a:spLocks xmlns:a="http://schemas.openxmlformats.org/drawingml/2006/main" noGrp="1"/>
          </p:cNvSpPr>
          <p:nvPr/>
        </p:nvSpPr>
        <p:spPr>
          <a:xfrm xmlns:a="http://schemas.openxmlformats.org/drawingml/2006/main">
            <a:off x="895350" y="5667375"/>
            <a:ext cx="723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1">
                <a:solidFill>
                  <a:srgbClr val="2875E7"/>
                </a:solidFill>
                <a:latin typeface="Helvetica Neue"/>
                <a:ea typeface="Helvetica Neue"/>
                <a:cs typeface="Helvetica Neue"/>
              </a:defRPr>
            </a:pPr>
            <a:r>
              <a:rPr sz="1950" b="1">
                <a:solidFill>
                  <a:srgbClr val="2875E7"/>
                </a:solidFill>
                <a:latin typeface="Helvetica Neue"/>
                <a:ea typeface="Helvetica Neue"/>
                <a:cs typeface="Helvetica Neue"/>
              </a:rPr>
              <a:t>05</a:t>
            </a:r>
          </a:p>
        </p:txBody>
      </p:sp>
      <p:sp>
        <p:nvSpPr>
          <p:cNvPr id="23" name="row-title">
            <a:extLst xmlns:a="http://schemas.openxmlformats.org/drawingml/2006/main">
              <a:ext uri="{FF2B5EF4-FFF2-40B4-BE49-F238E27FC236}">
                <a16:creationId xmlns:a16="http://schemas.microsoft.com/office/drawing/2014/main" id="{CC864089-C68B-4099-931A-CC9D79F813BD}"/>
              </a:ext>
            </a:extLst>
          </p:cNvPr>
          <p:cNvSpPr>
            <a:spLocks xmlns:a="http://schemas.openxmlformats.org/drawingml/2006/main" noGrp="1"/>
          </p:cNvSpPr>
          <p:nvPr/>
        </p:nvSpPr>
        <p:spPr>
          <a:xfrm xmlns:a="http://schemas.openxmlformats.org/drawingml/2006/main">
            <a:off x="1733550" y="5657850"/>
            <a:ext cx="1952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325" b="1">
                <a:solidFill>
                  <a:srgbClr val="17191C"/>
                </a:solidFill>
                <a:latin typeface="Helvetica Neue"/>
                <a:ea typeface="Helvetica Neue"/>
                <a:cs typeface="Helvetica Neue"/>
              </a:defRPr>
            </a:pPr>
            <a:r>
              <a:rPr sz="2325" b="1">
                <a:solidFill>
                  <a:srgbClr val="17191C"/>
                </a:solidFill>
                <a:latin typeface="Helvetica Neue"/>
                <a:ea typeface="Helvetica Neue"/>
                <a:cs typeface="Helvetica Neue"/>
              </a:rPr>
              <a:t>Weeks 11–16</a:t>
            </a:r>
          </a:p>
        </p:txBody>
      </p:sp>
      <p:sp>
        <p:nvSpPr>
          <p:cNvPr id="24" name="row-detail">
            <a:extLst xmlns:a="http://schemas.openxmlformats.org/drawingml/2006/main">
              <a:ext uri="{FF2B5EF4-FFF2-40B4-BE49-F238E27FC236}">
                <a16:creationId xmlns:a16="http://schemas.microsoft.com/office/drawing/2014/main" id="{3249AE05-053F-4EB2-8E46-78AE75E27E62}"/>
              </a:ext>
            </a:extLst>
          </p:cNvPr>
          <p:cNvSpPr>
            <a:spLocks xmlns:a="http://schemas.openxmlformats.org/drawingml/2006/main" noGrp="1"/>
          </p:cNvSpPr>
          <p:nvPr/>
        </p:nvSpPr>
        <p:spPr>
          <a:xfrm xmlns:a="http://schemas.openxmlformats.org/drawingml/2006/main">
            <a:off x="3848100" y="5686425"/>
            <a:ext cx="10496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Verify specialist parity, device/a11y matrices, privacy gates, and staged pilot rollout.</a:t>
            </a:r>
          </a:p>
        </p:txBody>
      </p:sp>
      <p:sp>
        <p:nvSpPr>
          <p:cNvPr id="25" name="structural-divider">
            <a:extLst xmlns:a="http://schemas.openxmlformats.org/drawingml/2006/main">
              <a:ext uri="{FF2B5EF4-FFF2-40B4-BE49-F238E27FC236}">
                <a16:creationId xmlns:a16="http://schemas.microsoft.com/office/drawing/2014/main" id="{3BDFB8DB-380B-4070-802B-5A76D169373E}"/>
              </a:ext>
            </a:extLst>
          </p:cNvPr>
          <p:cNvSpPr>
            <a:spLocks xmlns:a="http://schemas.openxmlformats.org/drawingml/2006/main" noGrp="1"/>
          </p:cNvSpPr>
          <p:nvPr/>
        </p:nvSpPr>
        <p:spPr>
          <a:xfrm xmlns:a="http://schemas.openxmlformats.org/drawingml/2006/main">
            <a:off x="895350" y="6381750"/>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6" name="body-paragraph">
            <a:extLst xmlns:a="http://schemas.openxmlformats.org/drawingml/2006/main">
              <a:ext uri="{FF2B5EF4-FFF2-40B4-BE49-F238E27FC236}">
                <a16:creationId xmlns:a16="http://schemas.microsoft.com/office/drawing/2014/main" id="{854DAB67-5446-4CAC-8C43-51FA0C104B30}"/>
              </a:ext>
            </a:extLst>
          </p:cNvPr>
          <p:cNvSpPr>
            <a:spLocks xmlns:a="http://schemas.openxmlformats.org/drawingml/2006/main" noGrp="1"/>
          </p:cNvSpPr>
          <p:nvPr/>
        </p:nvSpPr>
        <p:spPr>
          <a:xfrm xmlns:a="http://schemas.openxmlformats.org/drawingml/2006/main">
            <a:off x="895350" y="69532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First meaningful release: approximately 4–6 weeks. Full program: 12–16 weeks with parallel workstreams.</a:t>
            </a:r>
          </a:p>
        </p:txBody>
      </p:sp>
    </p:spTree>
    <p:extLst>
      <p:ext uri="{BB962C8B-B14F-4D97-AF65-F5344CB8AC3E}">
        <p14:creationId xmlns:p14="http://schemas.microsoft.com/office/powerpoint/2010/main" val="39166147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kicker">
            <a:extLst xmlns:a="http://schemas.openxmlformats.org/drawingml/2006/main">
              <a:ext uri="{FF2B5EF4-FFF2-40B4-BE49-F238E27FC236}">
                <a16:creationId xmlns:a16="http://schemas.microsoft.com/office/drawing/2014/main" id="{5D610CFD-1707-4811-9601-518BD236E514}"/>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OWNERSHIP AND DEPENDENCIES</a:t>
            </a:r>
          </a:p>
        </p:txBody>
      </p:sp>
      <p:sp>
        <p:nvSpPr>
          <p:cNvPr id="2" name="slide-title">
            <a:extLst xmlns:a="http://schemas.openxmlformats.org/drawingml/2006/main">
              <a:ext uri="{FF2B5EF4-FFF2-40B4-BE49-F238E27FC236}">
                <a16:creationId xmlns:a16="http://schemas.microsoft.com/office/drawing/2014/main" id="{AE9CA33B-3B07-4CBC-BD0D-E9F1E3FF9235}"/>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Give every workstream an owner and a gate</a:t>
            </a:r>
          </a:p>
        </p:txBody>
      </p:sp>
      <p:sp>
        <p:nvSpPr>
          <p:cNvPr id="3" name="structural-divider">
            <a:extLst xmlns:a="http://schemas.openxmlformats.org/drawingml/2006/main">
              <a:ext uri="{FF2B5EF4-FFF2-40B4-BE49-F238E27FC236}">
                <a16:creationId xmlns:a16="http://schemas.microsoft.com/office/drawing/2014/main" id="{49E12403-BB29-4A06-BB2C-D795270C1281}"/>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8F73405-39E9-4556-8717-A2221D639E8A}"/>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7A06D3C0-7C3C-4EAB-A761-6B94F8C76906}"/>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21</a:t>
            </a:r>
          </a:p>
        </p:txBody>
      </p:sp>
      <p:sp>
        <p:nvSpPr>
          <p:cNvPr id="6" name="column-label">
            <a:extLst xmlns:a="http://schemas.openxmlformats.org/drawingml/2006/main">
              <a:ext uri="{FF2B5EF4-FFF2-40B4-BE49-F238E27FC236}">
                <a16:creationId xmlns:a16="http://schemas.microsoft.com/office/drawing/2014/main" id="{962082F8-1804-435F-B1E4-1D545C38EB4B}"/>
              </a:ext>
            </a:extLst>
          </p:cNvPr>
          <p:cNvSpPr>
            <a:spLocks xmlns:a="http://schemas.openxmlformats.org/drawingml/2006/main" noGrp="1"/>
          </p:cNvSpPr>
          <p:nvPr/>
        </p:nvSpPr>
        <p:spPr>
          <a:xfrm xmlns:a="http://schemas.openxmlformats.org/drawingml/2006/main">
            <a:off x="895350" y="2638425"/>
            <a:ext cx="29813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DESIGN</a:t>
            </a:r>
          </a:p>
        </p:txBody>
      </p:sp>
      <p:sp>
        <p:nvSpPr>
          <p:cNvPr id="7" name="column-heading">
            <a:extLst xmlns:a="http://schemas.openxmlformats.org/drawingml/2006/main">
              <a:ext uri="{FF2B5EF4-FFF2-40B4-BE49-F238E27FC236}">
                <a16:creationId xmlns:a16="http://schemas.microsoft.com/office/drawing/2014/main" id="{CE6B1C73-F233-49CB-B1DF-DC9A423E0EBB}"/>
              </a:ext>
            </a:extLst>
          </p:cNvPr>
          <p:cNvSpPr>
            <a:spLocks xmlns:a="http://schemas.openxmlformats.org/drawingml/2006/main" noGrp="1"/>
          </p:cNvSpPr>
          <p:nvPr/>
        </p:nvSpPr>
        <p:spPr>
          <a:xfrm xmlns:a="http://schemas.openxmlformats.org/drawingml/2006/main">
            <a:off x="895350" y="3124200"/>
            <a:ext cx="29813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7191C"/>
                </a:solidFill>
                <a:latin typeface="Helvetica Neue"/>
                <a:ea typeface="Helvetica Neue"/>
                <a:cs typeface="Helvetica Neue"/>
              </a:defRPr>
            </a:pPr>
            <a:r>
              <a:rPr sz="2400" b="1">
                <a:solidFill>
                  <a:srgbClr val="17191C"/>
                </a:solidFill>
                <a:latin typeface="Helvetica Neue"/>
                <a:ea typeface="Helvetica Neue"/>
                <a:cs typeface="Helvetica Neue"/>
              </a:rPr>
              <a:t>Hierarchy + posture</a:t>
            </a:r>
          </a:p>
        </p:txBody>
      </p:sp>
      <p:sp>
        <p:nvSpPr>
          <p:cNvPr id="8" name="column-body">
            <a:extLst xmlns:a="http://schemas.openxmlformats.org/drawingml/2006/main">
              <a:ext uri="{FF2B5EF4-FFF2-40B4-BE49-F238E27FC236}">
                <a16:creationId xmlns:a16="http://schemas.microsoft.com/office/drawing/2014/main" id="{7E896D67-D559-47F6-A9ED-3126EB445D91}"/>
              </a:ext>
            </a:extLst>
          </p:cNvPr>
          <p:cNvSpPr>
            <a:spLocks xmlns:a="http://schemas.openxmlformats.org/drawingml/2006/main" noGrp="1"/>
          </p:cNvSpPr>
          <p:nvPr/>
        </p:nvSpPr>
        <p:spPr>
          <a:xfrm xmlns:a="http://schemas.openxmlformats.org/drawingml/2006/main">
            <a:off x="895350" y="4000500"/>
            <a:ext cx="2981325" cy="331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Own task priority, surface patterns, touch affordances, and orientation guidance.</a:t>
            </a:r>
          </a:p>
          <a:p xmlns:a="http://schemas.openxmlformats.org/drawingml/2006/main">
            <a:r>
              <a:t/>
            </a:r>
          </a:p>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GATE</a:t>
            </a:r>
          </a:p>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All six postures express one coherent product.</a:t>
            </a:r>
          </a:p>
        </p:txBody>
      </p:sp>
      <p:sp>
        <p:nvSpPr>
          <p:cNvPr id="9" name="column-label">
            <a:extLst xmlns:a="http://schemas.openxmlformats.org/drawingml/2006/main">
              <a:ext uri="{FF2B5EF4-FFF2-40B4-BE49-F238E27FC236}">
                <a16:creationId xmlns:a16="http://schemas.microsoft.com/office/drawing/2014/main" id="{FF16CC17-558C-4FA6-BEEE-F3C1FEE78A42}"/>
              </a:ext>
            </a:extLst>
          </p:cNvPr>
          <p:cNvSpPr>
            <a:spLocks xmlns:a="http://schemas.openxmlformats.org/drawingml/2006/main" noGrp="1"/>
          </p:cNvSpPr>
          <p:nvPr/>
        </p:nvSpPr>
        <p:spPr>
          <a:xfrm xmlns:a="http://schemas.openxmlformats.org/drawingml/2006/main">
            <a:off x="4381500" y="2638425"/>
            <a:ext cx="29813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ENGINEERING</a:t>
            </a:r>
          </a:p>
        </p:txBody>
      </p:sp>
      <p:sp>
        <p:nvSpPr>
          <p:cNvPr id="10" name="column-heading">
            <a:extLst xmlns:a="http://schemas.openxmlformats.org/drawingml/2006/main">
              <a:ext uri="{FF2B5EF4-FFF2-40B4-BE49-F238E27FC236}">
                <a16:creationId xmlns:a16="http://schemas.microsoft.com/office/drawing/2014/main" id="{82AA61AF-DFF9-49CC-A62E-104D1CABC760}"/>
              </a:ext>
            </a:extLst>
          </p:cNvPr>
          <p:cNvSpPr>
            <a:spLocks xmlns:a="http://schemas.openxmlformats.org/drawingml/2006/main" noGrp="1"/>
          </p:cNvSpPr>
          <p:nvPr/>
        </p:nvSpPr>
        <p:spPr>
          <a:xfrm xmlns:a="http://schemas.openxmlformats.org/drawingml/2006/main">
            <a:off x="4381500" y="3124200"/>
            <a:ext cx="29813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7191C"/>
                </a:solidFill>
                <a:latin typeface="Helvetica Neue"/>
                <a:ea typeface="Helvetica Neue"/>
                <a:cs typeface="Helvetica Neue"/>
              </a:defRPr>
            </a:pPr>
            <a:r>
              <a:rPr sz="2400" b="1">
                <a:solidFill>
                  <a:srgbClr val="17191C"/>
                </a:solidFill>
                <a:latin typeface="Helvetica Neue"/>
                <a:ea typeface="Helvetica Neue"/>
                <a:cs typeface="Helvetica Neue"/>
              </a:rPr>
              <a:t>Layout + migration</a:t>
            </a:r>
          </a:p>
        </p:txBody>
      </p:sp>
      <p:sp>
        <p:nvSpPr>
          <p:cNvPr id="11" name="column-body">
            <a:extLst xmlns:a="http://schemas.openxmlformats.org/drawingml/2006/main">
              <a:ext uri="{FF2B5EF4-FFF2-40B4-BE49-F238E27FC236}">
                <a16:creationId xmlns:a16="http://schemas.microsoft.com/office/drawing/2014/main" id="{5B926F6D-4B15-4A7C-816B-3B66187B262A}"/>
              </a:ext>
            </a:extLst>
          </p:cNvPr>
          <p:cNvSpPr>
            <a:spLocks xmlns:a="http://schemas.openxmlformats.org/drawingml/2006/main" noGrp="1"/>
          </p:cNvSpPr>
          <p:nvPr/>
        </p:nvSpPr>
        <p:spPr>
          <a:xfrm xmlns:a="http://schemas.openxmlformats.org/drawingml/2006/main">
            <a:off x="4381500" y="4000500"/>
            <a:ext cx="2981325" cy="331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Own shell, container contracts, state continuity, notifications, and input handling.</a:t>
            </a:r>
          </a:p>
          <a:p xmlns:a="http://schemas.openxmlformats.org/drawingml/2006/main">
            <a:r>
              <a:t/>
            </a:r>
          </a:p>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GATE</a:t>
            </a:r>
          </a:p>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Rendered journeys pass without route regressions.</a:t>
            </a:r>
          </a:p>
        </p:txBody>
      </p:sp>
      <p:sp>
        <p:nvSpPr>
          <p:cNvPr id="12" name="column-label">
            <a:extLst xmlns:a="http://schemas.openxmlformats.org/drawingml/2006/main">
              <a:ext uri="{FF2B5EF4-FFF2-40B4-BE49-F238E27FC236}">
                <a16:creationId xmlns:a16="http://schemas.microsoft.com/office/drawing/2014/main" id="{0E0B22CD-F666-4FC9-91FB-57BBE31B012C}"/>
              </a:ext>
            </a:extLst>
          </p:cNvPr>
          <p:cNvSpPr>
            <a:spLocks xmlns:a="http://schemas.openxmlformats.org/drawingml/2006/main" noGrp="1"/>
          </p:cNvSpPr>
          <p:nvPr/>
        </p:nvSpPr>
        <p:spPr>
          <a:xfrm xmlns:a="http://schemas.openxmlformats.org/drawingml/2006/main">
            <a:off x="7867650" y="2638425"/>
            <a:ext cx="29813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PRODUCT</a:t>
            </a:r>
          </a:p>
        </p:txBody>
      </p:sp>
      <p:sp>
        <p:nvSpPr>
          <p:cNvPr id="13" name="column-heading">
            <a:extLst xmlns:a="http://schemas.openxmlformats.org/drawingml/2006/main">
              <a:ext uri="{FF2B5EF4-FFF2-40B4-BE49-F238E27FC236}">
                <a16:creationId xmlns:a16="http://schemas.microsoft.com/office/drawing/2014/main" id="{7FC5C904-7466-4BD6-B52F-1BDF01363F53}"/>
              </a:ext>
            </a:extLst>
          </p:cNvPr>
          <p:cNvSpPr>
            <a:spLocks xmlns:a="http://schemas.openxmlformats.org/drawingml/2006/main" noGrp="1"/>
          </p:cNvSpPr>
          <p:nvPr/>
        </p:nvSpPr>
        <p:spPr>
          <a:xfrm xmlns:a="http://schemas.openxmlformats.org/drawingml/2006/main">
            <a:off x="7867650" y="3124200"/>
            <a:ext cx="29813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7191C"/>
                </a:solidFill>
                <a:latin typeface="Helvetica Neue"/>
                <a:ea typeface="Helvetica Neue"/>
                <a:cs typeface="Helvetica Neue"/>
              </a:defRPr>
            </a:pPr>
            <a:r>
              <a:rPr sz="2400" b="1">
                <a:solidFill>
                  <a:srgbClr val="17191C"/>
                </a:solidFill>
                <a:latin typeface="Helvetica Neue"/>
                <a:ea typeface="Helvetica Neue"/>
                <a:cs typeface="Helvetica Neue"/>
              </a:rPr>
              <a:t>Scope + outcomes</a:t>
            </a:r>
          </a:p>
        </p:txBody>
      </p:sp>
      <p:sp>
        <p:nvSpPr>
          <p:cNvPr id="14" name="column-body">
            <a:extLst xmlns:a="http://schemas.openxmlformats.org/drawingml/2006/main">
              <a:ext uri="{FF2B5EF4-FFF2-40B4-BE49-F238E27FC236}">
                <a16:creationId xmlns:a16="http://schemas.microsoft.com/office/drawing/2014/main" id="{1C595E9C-615D-41DF-ACA2-AF3B63C27D5E}"/>
              </a:ext>
            </a:extLst>
          </p:cNvPr>
          <p:cNvSpPr>
            <a:spLocks xmlns:a="http://schemas.openxmlformats.org/drawingml/2006/main" noGrp="1"/>
          </p:cNvSpPr>
          <p:nvPr/>
        </p:nvSpPr>
        <p:spPr>
          <a:xfrm xmlns:a="http://schemas.openxmlformats.org/drawingml/2006/main">
            <a:off x="7867650" y="4000500"/>
            <a:ext cx="2981325" cy="331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Own stable destinations, mode families, priority sequencing, and measured completion.</a:t>
            </a:r>
          </a:p>
          <a:p xmlns:a="http://schemas.openxmlformats.org/drawingml/2006/main">
            <a:r>
              <a:t/>
            </a:r>
          </a:p>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GATE</a:t>
            </a:r>
          </a:p>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The main job completes in each device posture.</a:t>
            </a:r>
          </a:p>
        </p:txBody>
      </p:sp>
      <p:sp>
        <p:nvSpPr>
          <p:cNvPr id="15" name="column-label">
            <a:extLst xmlns:a="http://schemas.openxmlformats.org/drawingml/2006/main">
              <a:ext uri="{FF2B5EF4-FFF2-40B4-BE49-F238E27FC236}">
                <a16:creationId xmlns:a16="http://schemas.microsoft.com/office/drawing/2014/main" id="{D328EAEA-11C6-4086-803C-FCEDC05437C4}"/>
              </a:ext>
            </a:extLst>
          </p:cNvPr>
          <p:cNvSpPr>
            <a:spLocks xmlns:a="http://schemas.openxmlformats.org/drawingml/2006/main" noGrp="1"/>
          </p:cNvSpPr>
          <p:nvPr/>
        </p:nvSpPr>
        <p:spPr>
          <a:xfrm xmlns:a="http://schemas.openxmlformats.org/drawingml/2006/main">
            <a:off x="11353800" y="2638425"/>
            <a:ext cx="29813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SAFETY / QA</a:t>
            </a:r>
          </a:p>
        </p:txBody>
      </p:sp>
      <p:sp>
        <p:nvSpPr>
          <p:cNvPr id="16" name="column-heading">
            <a:extLst xmlns:a="http://schemas.openxmlformats.org/drawingml/2006/main">
              <a:ext uri="{FF2B5EF4-FFF2-40B4-BE49-F238E27FC236}">
                <a16:creationId xmlns:a16="http://schemas.microsoft.com/office/drawing/2014/main" id="{A9856AA8-2190-4764-98A9-9C84F9E91C77}"/>
              </a:ext>
            </a:extLst>
          </p:cNvPr>
          <p:cNvSpPr>
            <a:spLocks xmlns:a="http://schemas.openxmlformats.org/drawingml/2006/main" noGrp="1"/>
          </p:cNvSpPr>
          <p:nvPr/>
        </p:nvSpPr>
        <p:spPr>
          <a:xfrm xmlns:a="http://schemas.openxmlformats.org/drawingml/2006/main">
            <a:off x="11353800" y="3124200"/>
            <a:ext cx="29813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7191C"/>
                </a:solidFill>
                <a:latin typeface="Helvetica Neue"/>
                <a:ea typeface="Helvetica Neue"/>
                <a:cs typeface="Helvetica Neue"/>
              </a:defRPr>
            </a:pPr>
            <a:r>
              <a:rPr sz="2400" b="1">
                <a:solidFill>
                  <a:srgbClr val="17191C"/>
                </a:solidFill>
                <a:latin typeface="Helvetica Neue"/>
                <a:ea typeface="Helvetica Neue"/>
                <a:cs typeface="Helvetica Neue"/>
              </a:rPr>
              <a:t>Rights + evidence</a:t>
            </a:r>
          </a:p>
        </p:txBody>
      </p:sp>
      <p:sp>
        <p:nvSpPr>
          <p:cNvPr id="17" name="column-body">
            <a:extLst xmlns:a="http://schemas.openxmlformats.org/drawingml/2006/main">
              <a:ext uri="{FF2B5EF4-FFF2-40B4-BE49-F238E27FC236}">
                <a16:creationId xmlns:a16="http://schemas.microsoft.com/office/drawing/2014/main" id="{CE6A2202-CCF8-46FC-8FFE-A616E41D7A5E}"/>
              </a:ext>
            </a:extLst>
          </p:cNvPr>
          <p:cNvSpPr>
            <a:spLocks xmlns:a="http://schemas.openxmlformats.org/drawingml/2006/main" noGrp="1"/>
          </p:cNvSpPr>
          <p:nvPr/>
        </p:nvSpPr>
        <p:spPr>
          <a:xfrm xmlns:a="http://schemas.openxmlformats.org/drawingml/2006/main">
            <a:off x="11353800" y="4000500"/>
            <a:ext cx="2981325" cy="331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Own exact entitlements, reviewer separation, recipient privacy, and accessibility proof.</a:t>
            </a:r>
          </a:p>
          <a:p xmlns:a="http://schemas.openxmlformats.org/drawingml/2006/main">
            <a:r>
              <a:t/>
            </a:r>
          </a:p>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GATE</a:t>
            </a:r>
          </a:p>
          <a:p xmlns:a="http://schemas.openxmlformats.org/drawingml/2006/main">
            <a:pPr algn="l">
              <a:lnSpc>
                <a:spcPct val="116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No unsafe navigation, exposure, or false claims.</a:t>
            </a:r>
          </a:p>
        </p:txBody>
      </p:sp>
    </p:spTree>
    <p:extLst>
      <p:ext uri="{BB962C8B-B14F-4D97-AF65-F5344CB8AC3E}">
        <p14:creationId xmlns:p14="http://schemas.microsoft.com/office/powerpoint/2010/main" val="2740201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kicker">
            <a:extLst xmlns:a="http://schemas.openxmlformats.org/drawingml/2006/main">
              <a:ext uri="{FF2B5EF4-FFF2-40B4-BE49-F238E27FC236}">
                <a16:creationId xmlns:a16="http://schemas.microsoft.com/office/drawing/2014/main" id="{6CF2D7F7-B29A-4652-9EA3-43E2D5553DF1}"/>
              </a:ext>
            </a:extLst>
          </p:cNvPr>
          <p:cNvSpPr>
            <a:spLocks xmlns:a="http://schemas.openxmlformats.org/drawingml/2006/main" noGrp="1"/>
          </p:cNvSpPr>
          <p:nvPr/>
        </p:nvSpPr>
        <p:spPr>
          <a:xfrm xmlns:a="http://schemas.openxmlformats.org/drawingml/2006/main">
            <a:off x="895350" y="47625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RELEASE DECISION AND PROCUREMENT POSTURE</a:t>
            </a:r>
          </a:p>
        </p:txBody>
      </p:sp>
      <p:sp>
        <p:nvSpPr>
          <p:cNvPr id="2" name="slide-title">
            <a:extLst xmlns:a="http://schemas.openxmlformats.org/drawingml/2006/main">
              <a:ext uri="{FF2B5EF4-FFF2-40B4-BE49-F238E27FC236}">
                <a16:creationId xmlns:a16="http://schemas.microsoft.com/office/drawing/2014/main" id="{BB0B3532-7897-41F1-BE0A-8E6CB7A75BB4}"/>
              </a:ext>
            </a:extLst>
          </p:cNvPr>
          <p:cNvSpPr>
            <a:spLocks xmlns:a="http://schemas.openxmlformats.org/drawingml/2006/main" noGrp="1"/>
          </p:cNvSpPr>
          <p:nvPr/>
        </p:nvSpPr>
        <p:spPr>
          <a:xfrm xmlns:a="http://schemas.openxmlformats.org/drawingml/2006/main">
            <a:off x="895350" y="971550"/>
            <a:ext cx="13449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3825" b="1">
                <a:solidFill>
                  <a:srgbClr val="17191C"/>
                </a:solidFill>
                <a:latin typeface="Helvetica Neue"/>
                <a:ea typeface="Helvetica Neue"/>
                <a:cs typeface="Helvetica Neue"/>
              </a:defRPr>
            </a:pPr>
            <a:r>
              <a:rPr sz="3825" b="1">
                <a:solidFill>
                  <a:srgbClr val="17191C"/>
                </a:solidFill>
                <a:latin typeface="Helvetica Neue"/>
                <a:ea typeface="Helvetica Neue"/>
                <a:cs typeface="Helvetica Neue"/>
              </a:rPr>
              <a:t>Pilot is conditional; enterprise vetoes remain</a:t>
            </a:r>
          </a:p>
        </p:txBody>
      </p:sp>
      <p:sp>
        <p:nvSpPr>
          <p:cNvPr id="3" name="structural-divider">
            <a:extLst xmlns:a="http://schemas.openxmlformats.org/drawingml/2006/main">
              <a:ext uri="{FF2B5EF4-FFF2-40B4-BE49-F238E27FC236}">
                <a16:creationId xmlns:a16="http://schemas.microsoft.com/office/drawing/2014/main" id="{5B1A3AB6-8B9F-4CA2-862A-D0B7DC1BA7AD}"/>
              </a:ext>
            </a:extLst>
          </p:cNvPr>
          <p:cNvSpPr>
            <a:spLocks xmlns:a="http://schemas.openxmlformats.org/drawingml/2006/main" noGrp="1"/>
          </p:cNvSpPr>
          <p:nvPr/>
        </p:nvSpPr>
        <p:spPr>
          <a:xfrm xmlns:a="http://schemas.openxmlformats.org/drawingml/2006/main">
            <a:off x="895350" y="1857375"/>
            <a:ext cx="1344930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EF46DA01-BC1D-4873-96FC-2BA21E704479}"/>
              </a:ext>
            </a:extLst>
          </p:cNvPr>
          <p:cNvSpPr>
            <a:spLocks xmlns:a="http://schemas.openxmlformats.org/drawingml/2006/main" noGrp="1"/>
          </p:cNvSpPr>
          <p:nvPr/>
        </p:nvSpPr>
        <p:spPr>
          <a:xfrm xmlns:a="http://schemas.openxmlformats.org/drawingml/2006/main">
            <a:off x="895350" y="8124825"/>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FORMA · RESPONSIVE PRODUCT STRATEGY</a:t>
            </a:r>
          </a:p>
        </p:txBody>
      </p:sp>
      <p:sp>
        <p:nvSpPr>
          <p:cNvPr id="5" name="footer-slide-number">
            <a:extLst xmlns:a="http://schemas.openxmlformats.org/drawingml/2006/main">
              <a:ext uri="{FF2B5EF4-FFF2-40B4-BE49-F238E27FC236}">
                <a16:creationId xmlns:a16="http://schemas.microsoft.com/office/drawing/2014/main" id="{DAB8F361-66CB-4528-AFAB-A676593E63CB}"/>
              </a:ext>
            </a:extLst>
          </p:cNvPr>
          <p:cNvSpPr>
            <a:spLocks xmlns:a="http://schemas.openxmlformats.org/drawingml/2006/main" noGrp="1"/>
          </p:cNvSpPr>
          <p:nvPr/>
        </p:nvSpPr>
        <p:spPr>
          <a:xfrm xmlns:a="http://schemas.openxmlformats.org/drawingml/2006/main">
            <a:off x="13563600" y="8124825"/>
            <a:ext cx="78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2000"/>
              </a:lnSpc>
              <a:buNone/>
              <a:defRPr sz="1650" b="0">
                <a:solidFill>
                  <a:srgbClr val="606771"/>
                </a:solidFill>
                <a:latin typeface="Helvetica Neue"/>
                <a:ea typeface="Helvetica Neue"/>
                <a:cs typeface="Helvetica Neue"/>
              </a:defRPr>
            </a:pPr>
            <a:r>
              <a:rPr sz="1650" b="0">
                <a:solidFill>
                  <a:srgbClr val="606771"/>
                </a:solidFill>
                <a:latin typeface="Helvetica Neue"/>
                <a:ea typeface="Helvetica Neue"/>
                <a:cs typeface="Helvetica Neue"/>
              </a:rPr>
              <a:t>22</a:t>
            </a:r>
          </a:p>
        </p:txBody>
      </p:sp>
      <p:sp>
        <p:nvSpPr>
          <p:cNvPr id="6" name="section-heading">
            <a:extLst xmlns:a="http://schemas.openxmlformats.org/drawingml/2006/main">
              <a:ext uri="{FF2B5EF4-FFF2-40B4-BE49-F238E27FC236}">
                <a16:creationId xmlns:a16="http://schemas.microsoft.com/office/drawing/2014/main" id="{193A006C-BE7D-4907-A4B7-89BD43A99E5F}"/>
              </a:ext>
            </a:extLst>
          </p:cNvPr>
          <p:cNvSpPr>
            <a:spLocks xmlns:a="http://schemas.openxmlformats.org/drawingml/2006/main" noGrp="1"/>
          </p:cNvSpPr>
          <p:nvPr/>
        </p:nvSpPr>
        <p:spPr>
          <a:xfrm xmlns:a="http://schemas.openxmlformats.org/drawingml/2006/main">
            <a:off x="895350" y="2390775"/>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Require before any device pilot</a:t>
            </a:r>
          </a:p>
        </p:txBody>
      </p:sp>
      <p:sp>
        <p:nvSpPr>
          <p:cNvPr id="7" name="list-marker">
            <a:extLst xmlns:a="http://schemas.openxmlformats.org/drawingml/2006/main">
              <a:ext uri="{FF2B5EF4-FFF2-40B4-BE49-F238E27FC236}">
                <a16:creationId xmlns:a16="http://schemas.microsoft.com/office/drawing/2014/main" id="{76524F58-C632-4D5B-9F92-95D8D46E8B82}"/>
              </a:ext>
            </a:extLst>
          </p:cNvPr>
          <p:cNvSpPr>
            <a:spLocks xmlns:a="http://schemas.openxmlformats.org/drawingml/2006/main" noGrp="1"/>
          </p:cNvSpPr>
          <p:nvPr/>
        </p:nvSpPr>
        <p:spPr>
          <a:xfrm xmlns:a="http://schemas.openxmlformats.org/drawingml/2006/main">
            <a:off x="895350" y="30861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8" name="list-item">
            <a:extLst xmlns:a="http://schemas.openxmlformats.org/drawingml/2006/main">
              <a:ext uri="{FF2B5EF4-FFF2-40B4-BE49-F238E27FC236}">
                <a16:creationId xmlns:a16="http://schemas.microsoft.com/office/drawing/2014/main" id="{70D61781-49EA-489F-AD1A-D743EC7588CB}"/>
              </a:ext>
            </a:extLst>
          </p:cNvPr>
          <p:cNvSpPr>
            <a:spLocks xmlns:a="http://schemas.openxmlformats.org/drawingml/2006/main" noGrp="1"/>
          </p:cNvSpPr>
          <p:nvPr/>
        </p:nvSpPr>
        <p:spPr>
          <a:xfrm xmlns:a="http://schemas.openxmlformats.org/drawingml/2006/main">
            <a:off x="1295400" y="308610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Search, assistant, and review work on phone.</a:t>
            </a:r>
          </a:p>
        </p:txBody>
      </p:sp>
      <p:sp>
        <p:nvSpPr>
          <p:cNvPr id="9" name="list-marker">
            <a:extLst xmlns:a="http://schemas.openxmlformats.org/drawingml/2006/main">
              <a:ext uri="{FF2B5EF4-FFF2-40B4-BE49-F238E27FC236}">
                <a16:creationId xmlns:a16="http://schemas.microsoft.com/office/drawing/2014/main" id="{D422F5C8-BBDA-4A1D-BC2E-2BB9361F36F0}"/>
              </a:ext>
            </a:extLst>
          </p:cNvPr>
          <p:cNvSpPr>
            <a:spLocks xmlns:a="http://schemas.openxmlformats.org/drawingml/2006/main" noGrp="1"/>
          </p:cNvSpPr>
          <p:nvPr/>
        </p:nvSpPr>
        <p:spPr>
          <a:xfrm xmlns:a="http://schemas.openxmlformats.org/drawingml/2006/main">
            <a:off x="895350" y="37528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0" name="list-item">
            <a:extLst xmlns:a="http://schemas.openxmlformats.org/drawingml/2006/main">
              <a:ext uri="{FF2B5EF4-FFF2-40B4-BE49-F238E27FC236}">
                <a16:creationId xmlns:a16="http://schemas.microsoft.com/office/drawing/2014/main" id="{70E26B75-ECD0-48F5-BAB8-3E4072047671}"/>
              </a:ext>
            </a:extLst>
          </p:cNvPr>
          <p:cNvSpPr>
            <a:spLocks xmlns:a="http://schemas.openxmlformats.org/drawingml/2006/main" noGrp="1"/>
          </p:cNvSpPr>
          <p:nvPr/>
        </p:nvSpPr>
        <p:spPr>
          <a:xfrm xmlns:a="http://schemas.openxmlformats.org/drawingml/2006/main">
            <a:off x="1295400" y="375285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Exact project membership gates every surface.</a:t>
            </a:r>
          </a:p>
        </p:txBody>
      </p:sp>
      <p:sp>
        <p:nvSpPr>
          <p:cNvPr id="11" name="list-marker">
            <a:extLst xmlns:a="http://schemas.openxmlformats.org/drawingml/2006/main">
              <a:ext uri="{FF2B5EF4-FFF2-40B4-BE49-F238E27FC236}">
                <a16:creationId xmlns:a16="http://schemas.microsoft.com/office/drawing/2014/main" id="{AF4B92F3-C3EF-4DD4-A7F2-99BE2C88FD4F}"/>
              </a:ext>
            </a:extLst>
          </p:cNvPr>
          <p:cNvSpPr>
            <a:spLocks xmlns:a="http://schemas.openxmlformats.org/drawingml/2006/main" noGrp="1"/>
          </p:cNvSpPr>
          <p:nvPr/>
        </p:nvSpPr>
        <p:spPr>
          <a:xfrm xmlns:a="http://schemas.openxmlformats.org/drawingml/2006/main">
            <a:off x="895350" y="44196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2" name="list-item">
            <a:extLst xmlns:a="http://schemas.openxmlformats.org/drawingml/2006/main">
              <a:ext uri="{FF2B5EF4-FFF2-40B4-BE49-F238E27FC236}">
                <a16:creationId xmlns:a16="http://schemas.microsoft.com/office/drawing/2014/main" id="{7CAC9B12-1C5A-492E-8874-216B49AE3D48}"/>
              </a:ext>
            </a:extLst>
          </p:cNvPr>
          <p:cNvSpPr>
            <a:spLocks xmlns:a="http://schemas.openxmlformats.org/drawingml/2006/main" noGrp="1"/>
          </p:cNvSpPr>
          <p:nvPr/>
        </p:nvSpPr>
        <p:spPr>
          <a:xfrm xmlns:a="http://schemas.openxmlformats.org/drawingml/2006/main">
            <a:off x="1295400" y="441960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Approval survives only against exact revisions.</a:t>
            </a:r>
          </a:p>
        </p:txBody>
      </p:sp>
      <p:sp>
        <p:nvSpPr>
          <p:cNvPr id="13" name="list-marker">
            <a:extLst xmlns:a="http://schemas.openxmlformats.org/drawingml/2006/main">
              <a:ext uri="{FF2B5EF4-FFF2-40B4-BE49-F238E27FC236}">
                <a16:creationId xmlns:a16="http://schemas.microsoft.com/office/drawing/2014/main" id="{303A3A55-D56B-426A-AF3F-5CDC14037730}"/>
              </a:ext>
            </a:extLst>
          </p:cNvPr>
          <p:cNvSpPr>
            <a:spLocks xmlns:a="http://schemas.openxmlformats.org/drawingml/2006/main" noGrp="1"/>
          </p:cNvSpPr>
          <p:nvPr/>
        </p:nvSpPr>
        <p:spPr>
          <a:xfrm xmlns:a="http://schemas.openxmlformats.org/drawingml/2006/main">
            <a:off x="895350" y="50863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4" name="list-item">
            <a:extLst xmlns:a="http://schemas.openxmlformats.org/drawingml/2006/main">
              <a:ext uri="{FF2B5EF4-FFF2-40B4-BE49-F238E27FC236}">
                <a16:creationId xmlns:a16="http://schemas.microsoft.com/office/drawing/2014/main" id="{81FF72A5-988C-4D2F-8A2E-9A3B8165D650}"/>
              </a:ext>
            </a:extLst>
          </p:cNvPr>
          <p:cNvSpPr>
            <a:spLocks xmlns:a="http://schemas.openxmlformats.org/drawingml/2006/main" noGrp="1"/>
          </p:cNvSpPr>
          <p:nvPr/>
        </p:nvSpPr>
        <p:spPr>
          <a:xfrm xmlns:a="http://schemas.openxmlformats.org/drawingml/2006/main">
            <a:off x="1295400" y="508635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Activity never exposes private actor content.</a:t>
            </a:r>
          </a:p>
        </p:txBody>
      </p:sp>
      <p:sp>
        <p:nvSpPr>
          <p:cNvPr id="15" name="list-marker">
            <a:extLst xmlns:a="http://schemas.openxmlformats.org/drawingml/2006/main">
              <a:ext uri="{FF2B5EF4-FFF2-40B4-BE49-F238E27FC236}">
                <a16:creationId xmlns:a16="http://schemas.microsoft.com/office/drawing/2014/main" id="{7A454C01-8442-4202-A697-35CC4681AF6C}"/>
              </a:ext>
            </a:extLst>
          </p:cNvPr>
          <p:cNvSpPr>
            <a:spLocks xmlns:a="http://schemas.openxmlformats.org/drawingml/2006/main" noGrp="1"/>
          </p:cNvSpPr>
          <p:nvPr/>
        </p:nvSpPr>
        <p:spPr>
          <a:xfrm xmlns:a="http://schemas.openxmlformats.org/drawingml/2006/main">
            <a:off x="895350" y="57531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6" name="list-item">
            <a:extLst xmlns:a="http://schemas.openxmlformats.org/drawingml/2006/main">
              <a:ext uri="{FF2B5EF4-FFF2-40B4-BE49-F238E27FC236}">
                <a16:creationId xmlns:a16="http://schemas.microsoft.com/office/drawing/2014/main" id="{F7248137-734F-4977-9187-F74791F002B6}"/>
              </a:ext>
            </a:extLst>
          </p:cNvPr>
          <p:cNvSpPr>
            <a:spLocks xmlns:a="http://schemas.openxmlformats.org/drawingml/2006/main" noGrp="1"/>
          </p:cNvSpPr>
          <p:nvPr/>
        </p:nvSpPr>
        <p:spPr>
          <a:xfrm xmlns:a="http://schemas.openxmlformats.org/drawingml/2006/main">
            <a:off x="1295400" y="575310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Rotation, keyboard, touch, and RTL are verified.</a:t>
            </a:r>
          </a:p>
        </p:txBody>
      </p:sp>
      <p:sp>
        <p:nvSpPr>
          <p:cNvPr id="17" name="section-heading">
            <a:extLst xmlns:a="http://schemas.openxmlformats.org/drawingml/2006/main">
              <a:ext uri="{FF2B5EF4-FFF2-40B4-BE49-F238E27FC236}">
                <a16:creationId xmlns:a16="http://schemas.microsoft.com/office/drawing/2014/main" id="{27BDF375-2733-4C51-BBA4-3A7C7181AC2B}"/>
              </a:ext>
            </a:extLst>
          </p:cNvPr>
          <p:cNvSpPr>
            <a:spLocks xmlns:a="http://schemas.openxmlformats.org/drawingml/2006/main" noGrp="1"/>
          </p:cNvSpPr>
          <p:nvPr/>
        </p:nvSpPr>
        <p:spPr>
          <a:xfrm xmlns:a="http://schemas.openxmlformats.org/drawingml/2006/main">
            <a:off x="7943850" y="2390775"/>
            <a:ext cx="6334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2550" b="1">
                <a:solidFill>
                  <a:srgbClr val="17191C"/>
                </a:solidFill>
                <a:latin typeface="Helvetica Neue"/>
                <a:ea typeface="Helvetica Neue"/>
                <a:cs typeface="Helvetica Neue"/>
              </a:defRPr>
            </a:pPr>
            <a:r>
              <a:rPr sz="2550" b="1">
                <a:solidFill>
                  <a:srgbClr val="17191C"/>
                </a:solidFill>
                <a:latin typeface="Helvetica Neue"/>
                <a:ea typeface="Helvetica Neue"/>
                <a:cs typeface="Helvetica Neue"/>
              </a:rPr>
              <a:t>Unresolved enterprise hard vetoes</a:t>
            </a:r>
          </a:p>
        </p:txBody>
      </p:sp>
      <p:sp>
        <p:nvSpPr>
          <p:cNvPr id="18" name="list-marker">
            <a:extLst xmlns:a="http://schemas.openxmlformats.org/drawingml/2006/main">
              <a:ext uri="{FF2B5EF4-FFF2-40B4-BE49-F238E27FC236}">
                <a16:creationId xmlns:a16="http://schemas.microsoft.com/office/drawing/2014/main" id="{55DAA7D8-00D3-4C17-95CA-0FD96D100B6B}"/>
              </a:ext>
            </a:extLst>
          </p:cNvPr>
          <p:cNvSpPr>
            <a:spLocks xmlns:a="http://schemas.openxmlformats.org/drawingml/2006/main" noGrp="1"/>
          </p:cNvSpPr>
          <p:nvPr/>
        </p:nvSpPr>
        <p:spPr>
          <a:xfrm xmlns:a="http://schemas.openxmlformats.org/drawingml/2006/main">
            <a:off x="7943850" y="30861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19" name="list-item">
            <a:extLst xmlns:a="http://schemas.openxmlformats.org/drawingml/2006/main">
              <a:ext uri="{FF2B5EF4-FFF2-40B4-BE49-F238E27FC236}">
                <a16:creationId xmlns:a16="http://schemas.microsoft.com/office/drawing/2014/main" id="{741412A2-F189-4234-805F-5F656AE77773}"/>
              </a:ext>
            </a:extLst>
          </p:cNvPr>
          <p:cNvSpPr>
            <a:spLocks xmlns:a="http://schemas.openxmlformats.org/drawingml/2006/main" noGrp="1"/>
          </p:cNvSpPr>
          <p:nvPr/>
        </p:nvSpPr>
        <p:spPr>
          <a:xfrm xmlns:a="http://schemas.openxmlformats.org/drawingml/2006/main">
            <a:off x="8343900" y="308610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Comprehensive organization-wide deletion.</a:t>
            </a:r>
          </a:p>
        </p:txBody>
      </p:sp>
      <p:sp>
        <p:nvSpPr>
          <p:cNvPr id="20" name="list-marker">
            <a:extLst xmlns:a="http://schemas.openxmlformats.org/drawingml/2006/main">
              <a:ext uri="{FF2B5EF4-FFF2-40B4-BE49-F238E27FC236}">
                <a16:creationId xmlns:a16="http://schemas.microsoft.com/office/drawing/2014/main" id="{E49DAE79-9DC5-451C-A2C9-00AEDCFBEAEC}"/>
              </a:ext>
            </a:extLst>
          </p:cNvPr>
          <p:cNvSpPr>
            <a:spLocks xmlns:a="http://schemas.openxmlformats.org/drawingml/2006/main" noGrp="1"/>
          </p:cNvSpPr>
          <p:nvPr/>
        </p:nvSpPr>
        <p:spPr>
          <a:xfrm xmlns:a="http://schemas.openxmlformats.org/drawingml/2006/main">
            <a:off x="7943850" y="37528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21" name="list-item">
            <a:extLst xmlns:a="http://schemas.openxmlformats.org/drawingml/2006/main">
              <a:ext uri="{FF2B5EF4-FFF2-40B4-BE49-F238E27FC236}">
                <a16:creationId xmlns:a16="http://schemas.microsoft.com/office/drawing/2014/main" id="{1E799445-F314-4479-9341-82CFB71E3D24}"/>
              </a:ext>
            </a:extLst>
          </p:cNvPr>
          <p:cNvSpPr>
            <a:spLocks xmlns:a="http://schemas.openxmlformats.org/drawingml/2006/main" noGrp="1"/>
          </p:cNvSpPr>
          <p:nvPr/>
        </p:nvSpPr>
        <p:spPr>
          <a:xfrm xmlns:a="http://schemas.openxmlformats.org/drawingml/2006/main">
            <a:off x="8343900" y="375285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Customer-controlled encryption and key custody.</a:t>
            </a:r>
          </a:p>
        </p:txBody>
      </p:sp>
      <p:sp>
        <p:nvSpPr>
          <p:cNvPr id="22" name="list-marker">
            <a:extLst xmlns:a="http://schemas.openxmlformats.org/drawingml/2006/main">
              <a:ext uri="{FF2B5EF4-FFF2-40B4-BE49-F238E27FC236}">
                <a16:creationId xmlns:a16="http://schemas.microsoft.com/office/drawing/2014/main" id="{8A6965A4-A70A-46F9-AE20-004AFE44C1D9}"/>
              </a:ext>
            </a:extLst>
          </p:cNvPr>
          <p:cNvSpPr>
            <a:spLocks xmlns:a="http://schemas.openxmlformats.org/drawingml/2006/main" noGrp="1"/>
          </p:cNvSpPr>
          <p:nvPr/>
        </p:nvSpPr>
        <p:spPr>
          <a:xfrm xmlns:a="http://schemas.openxmlformats.org/drawingml/2006/main">
            <a:off x="7943850" y="44196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23" name="list-item">
            <a:extLst xmlns:a="http://schemas.openxmlformats.org/drawingml/2006/main">
              <a:ext uri="{FF2B5EF4-FFF2-40B4-BE49-F238E27FC236}">
                <a16:creationId xmlns:a16="http://schemas.microsoft.com/office/drawing/2014/main" id="{08B218FB-A96D-41EE-A4D0-B82410C2CB72}"/>
              </a:ext>
            </a:extLst>
          </p:cNvPr>
          <p:cNvSpPr>
            <a:spLocks xmlns:a="http://schemas.openxmlformats.org/drawingml/2006/main" noGrp="1"/>
          </p:cNvSpPr>
          <p:nvPr/>
        </p:nvSpPr>
        <p:spPr>
          <a:xfrm xmlns:a="http://schemas.openxmlformats.org/drawingml/2006/main">
            <a:off x="8343900" y="441960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Federated identity + complete lifecycle controls.</a:t>
            </a:r>
          </a:p>
        </p:txBody>
      </p:sp>
      <p:sp>
        <p:nvSpPr>
          <p:cNvPr id="24" name="list-marker">
            <a:extLst xmlns:a="http://schemas.openxmlformats.org/drawingml/2006/main">
              <a:ext uri="{FF2B5EF4-FFF2-40B4-BE49-F238E27FC236}">
                <a16:creationId xmlns:a16="http://schemas.microsoft.com/office/drawing/2014/main" id="{A058E148-7F69-4C60-A9DC-0F37EBFE4F66}"/>
              </a:ext>
            </a:extLst>
          </p:cNvPr>
          <p:cNvSpPr>
            <a:spLocks xmlns:a="http://schemas.openxmlformats.org/drawingml/2006/main" noGrp="1"/>
          </p:cNvSpPr>
          <p:nvPr/>
        </p:nvSpPr>
        <p:spPr>
          <a:xfrm xmlns:a="http://schemas.openxmlformats.org/drawingml/2006/main">
            <a:off x="7943850" y="508635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25" name="list-item">
            <a:extLst xmlns:a="http://schemas.openxmlformats.org/drawingml/2006/main">
              <a:ext uri="{FF2B5EF4-FFF2-40B4-BE49-F238E27FC236}">
                <a16:creationId xmlns:a16="http://schemas.microsoft.com/office/drawing/2014/main" id="{A866C210-BBB9-4CC2-90AD-084DB7AB9C27}"/>
              </a:ext>
            </a:extLst>
          </p:cNvPr>
          <p:cNvSpPr>
            <a:spLocks xmlns:a="http://schemas.openxmlformats.org/drawingml/2006/main" noGrp="1"/>
          </p:cNvSpPr>
          <p:nvPr/>
        </p:nvSpPr>
        <p:spPr>
          <a:xfrm xmlns:a="http://schemas.openxmlformats.org/drawingml/2006/main">
            <a:off x="8343900" y="508635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Proven disaster recovery and full restore.</a:t>
            </a:r>
          </a:p>
        </p:txBody>
      </p:sp>
      <p:sp>
        <p:nvSpPr>
          <p:cNvPr id="26" name="list-marker">
            <a:extLst xmlns:a="http://schemas.openxmlformats.org/drawingml/2006/main">
              <a:ext uri="{FF2B5EF4-FFF2-40B4-BE49-F238E27FC236}">
                <a16:creationId xmlns:a16="http://schemas.microsoft.com/office/drawing/2014/main" id="{883A04A4-5EBC-4EEB-81E5-7E45E0375166}"/>
              </a:ext>
            </a:extLst>
          </p:cNvPr>
          <p:cNvSpPr>
            <a:spLocks xmlns:a="http://schemas.openxmlformats.org/drawingml/2006/main" noGrp="1"/>
          </p:cNvSpPr>
          <p:nvPr/>
        </p:nvSpPr>
        <p:spPr>
          <a:xfrm xmlns:a="http://schemas.openxmlformats.org/drawingml/2006/main">
            <a:off x="7943850" y="5753100"/>
            <a:ext cx="33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2875E7"/>
                </a:solidFill>
                <a:latin typeface="Helvetica Neue"/>
                <a:ea typeface="Helvetica Neue"/>
                <a:cs typeface="Helvetica Neue"/>
              </a:defRPr>
            </a:pPr>
            <a:r>
              <a:rPr sz="1650" b="1">
                <a:solidFill>
                  <a:srgbClr val="2875E7"/>
                </a:solidFill>
                <a:latin typeface="Helvetica Neue"/>
                <a:ea typeface="Helvetica Neue"/>
                <a:cs typeface="Helvetica Neue"/>
              </a:rPr>
              <a:t>—</a:t>
            </a:r>
          </a:p>
        </p:txBody>
      </p:sp>
      <p:sp>
        <p:nvSpPr>
          <p:cNvPr id="27" name="list-item">
            <a:extLst xmlns:a="http://schemas.openxmlformats.org/drawingml/2006/main">
              <a:ext uri="{FF2B5EF4-FFF2-40B4-BE49-F238E27FC236}">
                <a16:creationId xmlns:a16="http://schemas.microsoft.com/office/drawing/2014/main" id="{8CCDA489-71D8-4EDF-AD19-974D1ED5CB6D}"/>
              </a:ext>
            </a:extLst>
          </p:cNvPr>
          <p:cNvSpPr>
            <a:spLocks xmlns:a="http://schemas.openxmlformats.org/drawingml/2006/main" noGrp="1"/>
          </p:cNvSpPr>
          <p:nvPr/>
        </p:nvSpPr>
        <p:spPr>
          <a:xfrm xmlns:a="http://schemas.openxmlformats.org/drawingml/2006/main">
            <a:off x="8343900" y="5753100"/>
            <a:ext cx="59340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17191C"/>
                </a:solidFill>
                <a:latin typeface="Helvetica Neue"/>
                <a:ea typeface="Helvetica Neue"/>
                <a:cs typeface="Helvetica Neue"/>
              </a:defRPr>
            </a:pPr>
            <a:r>
              <a:rPr sz="1650" b="0">
                <a:solidFill>
                  <a:srgbClr val="17191C"/>
                </a:solidFill>
                <a:latin typeface="Helvetica Neue"/>
                <a:ea typeface="Helvetica Neue"/>
                <a:cs typeface="Helvetica Neue"/>
              </a:rPr>
              <a:t>Independent security / compliance assurance.</a:t>
            </a:r>
          </a:p>
        </p:txBody>
      </p:sp>
      <p:sp>
        <p:nvSpPr>
          <p:cNvPr id="28" name="body-paragraph">
            <a:extLst xmlns:a="http://schemas.openxmlformats.org/drawingml/2006/main">
              <a:ext uri="{FF2B5EF4-FFF2-40B4-BE49-F238E27FC236}">
                <a16:creationId xmlns:a16="http://schemas.microsoft.com/office/drawing/2014/main" id="{52185A96-B0FF-4488-8903-FC4DC87DEC08}"/>
              </a:ext>
            </a:extLst>
          </p:cNvPr>
          <p:cNvSpPr>
            <a:spLocks xmlns:a="http://schemas.openxmlformats.org/drawingml/2006/main" noGrp="1"/>
          </p:cNvSpPr>
          <p:nvPr/>
        </p:nvSpPr>
        <p:spPr>
          <a:xfrm xmlns:a="http://schemas.openxmlformats.org/drawingml/2006/main">
            <a:off x="895350" y="7258050"/>
            <a:ext cx="13449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1">
                <a:solidFill>
                  <a:srgbClr val="1759BC"/>
                </a:solidFill>
                <a:latin typeface="Helvetica Neue"/>
                <a:ea typeface="Helvetica Neue"/>
                <a:cs typeface="Helvetica Neue"/>
              </a:defRPr>
            </a:pPr>
            <a:r>
              <a:rPr sz="1650" b="1">
                <a:solidFill>
                  <a:srgbClr val="1759BC"/>
                </a:solidFill>
                <a:latin typeface="Helvetica Neue"/>
                <a:ea typeface="Helvetica Neue"/>
                <a:cs typeface="Helvetica Neue"/>
              </a:rPr>
              <a:t>No responsive redesign, product score, or buyer score overrides a security, privacy, or identity veto.</a:t>
            </a:r>
          </a:p>
        </p:txBody>
      </p:sp>
    </p:spTree>
    <p:extLst>
      <p:ext uri="{BB962C8B-B14F-4D97-AF65-F5344CB8AC3E}">
        <p14:creationId xmlns:p14="http://schemas.microsoft.com/office/powerpoint/2010/main" val="1220900510"/>
      </p:ext>
    </p:extLst>
  </p:cSld>
</p:sld>
</file>

<file path=ppt/slides/slide23.xml><?xml version="1.0" encoding="utf-8"?>
<p:sld xmlns:p="http://schemas.openxmlformats.org/presentationml/2006/main">
  <p:cSld>
    <p:bg>
      <p:bgPr>
        <a:solidFill xmlns:a="http://schemas.openxmlformats.org/drawingml/2006/main">
          <a:srgbClr val="171A1F"/>
        </a:solidFill>
      </p:bgPr>
    </p:bg>
    <p:spTree>
      <p:nvGrpSpPr>
        <p:cNvPr id="1" name=""/>
        <p:cNvGrpSpPr/>
        <p:nvPr/>
      </p:nvGrpSpPr>
      <p:grpSpPr>
        <a:xfrm xmlns:a="http://schemas.openxmlformats.org/drawingml/2006/main"/>
      </p:grpSpPr>
      <p:sp>
        <p:nvSpPr>
          <p:cNvPr id="6" name="decision-kicker">
            <a:extLst xmlns:a="http://schemas.openxmlformats.org/drawingml/2006/main">
              <a:ext uri="{FF2B5EF4-FFF2-40B4-BE49-F238E27FC236}">
                <a16:creationId xmlns:a16="http://schemas.microsoft.com/office/drawing/2014/main" id="{B95F8AAA-7727-45B5-9ECC-108E16E9A764}"/>
              </a:ext>
            </a:extLst>
          </p:cNvPr>
          <p:cNvSpPr>
            <a:spLocks xmlns:a="http://schemas.openxmlformats.org/drawingml/2006/main" noGrp="1"/>
          </p:cNvSpPr>
          <p:nvPr/>
        </p:nvSpPr>
        <p:spPr>
          <a:xfrm xmlns:a="http://schemas.openxmlformats.org/drawingml/2006/main">
            <a:off x="895350" y="666750"/>
            <a:ext cx="13449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1">
                <a:solidFill>
                  <a:srgbClr val="A7C8FF"/>
                </a:solidFill>
                <a:latin typeface="Helvetica Neue"/>
                <a:ea typeface="Helvetica Neue"/>
                <a:cs typeface="Helvetica Neue"/>
              </a:defRPr>
            </a:pPr>
            <a:r>
              <a:rPr sz="1800" b="1">
                <a:solidFill>
                  <a:srgbClr val="A7C8FF"/>
                </a:solidFill>
                <a:latin typeface="Helvetica Neue"/>
                <a:ea typeface="Helvetica Neue"/>
                <a:cs typeface="Helvetica Neue"/>
              </a:rPr>
              <a:t>DECISION REQUEST</a:t>
            </a:r>
          </a:p>
        </p:txBody>
      </p:sp>
      <p:sp>
        <p:nvSpPr>
          <p:cNvPr id="2" name="decision-title">
            <a:extLst xmlns:a="http://schemas.openxmlformats.org/drawingml/2006/main">
              <a:ext uri="{FF2B5EF4-FFF2-40B4-BE49-F238E27FC236}">
                <a16:creationId xmlns:a16="http://schemas.microsoft.com/office/drawing/2014/main" id="{6DC8FA19-F1A4-4B07-A82F-8C505FEA2E12}"/>
              </a:ext>
            </a:extLst>
          </p:cNvPr>
          <p:cNvSpPr>
            <a:spLocks xmlns:a="http://schemas.openxmlformats.org/drawingml/2006/main" noGrp="1"/>
          </p:cNvSpPr>
          <p:nvPr/>
        </p:nvSpPr>
        <p:spPr>
          <a:xfrm xmlns:a="http://schemas.openxmlformats.org/drawingml/2006/main">
            <a:off x="895350" y="1781175"/>
            <a:ext cx="130492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1000"/>
              </a:lnSpc>
              <a:buNone/>
              <a:defRPr sz="5925" b="1">
                <a:solidFill>
                  <a:srgbClr val="FFFFFF"/>
                </a:solidFill>
                <a:latin typeface="Helvetica Neue"/>
                <a:ea typeface="Helvetica Neue"/>
                <a:cs typeface="Helvetica Neue"/>
              </a:defRPr>
            </a:pPr>
            <a:r>
              <a:rPr sz="5925" b="1">
                <a:solidFill>
                  <a:srgbClr val="FFFFFF"/>
                </a:solidFill>
                <a:latin typeface="Helvetica Neue"/>
                <a:ea typeface="Helvetica Neue"/>
                <a:cs typeface="Helvetica Neue"/>
              </a:rPr>
              <a:t>Make Forma complete</a:t>
            </a:r>
          </a:p>
          <a:p xmlns:a="http://schemas.openxmlformats.org/drawingml/2006/main">
            <a:pPr algn="l">
              <a:lnSpc>
                <a:spcPct val="101000"/>
              </a:lnSpc>
              <a:buNone/>
              <a:defRPr sz="5925" b="1">
                <a:solidFill>
                  <a:srgbClr val="FFFFFF"/>
                </a:solidFill>
                <a:latin typeface="Helvetica Neue"/>
                <a:ea typeface="Helvetica Neue"/>
                <a:cs typeface="Helvetica Neue"/>
              </a:defRPr>
            </a:pPr>
            <a:r>
              <a:rPr sz="5925" b="1">
                <a:solidFill>
                  <a:srgbClr val="FFFFFF"/>
                </a:solidFill>
                <a:latin typeface="Helvetica Neue"/>
                <a:ea typeface="Helvetica Neue"/>
                <a:cs typeface="Helvetica Neue"/>
              </a:rPr>
              <a:t>wherever work happens.</a:t>
            </a:r>
          </a:p>
        </p:txBody>
      </p:sp>
      <p:sp>
        <p:nvSpPr>
          <p:cNvPr id="3" name="structural-divider">
            <a:extLst xmlns:a="http://schemas.openxmlformats.org/drawingml/2006/main">
              <a:ext uri="{FF2B5EF4-FFF2-40B4-BE49-F238E27FC236}">
                <a16:creationId xmlns:a16="http://schemas.microsoft.com/office/drawing/2014/main" id="{281F3D55-87FF-481F-899C-14A9C3F72950}"/>
              </a:ext>
            </a:extLst>
          </p:cNvPr>
          <p:cNvSpPr>
            <a:spLocks xmlns:a="http://schemas.openxmlformats.org/drawingml/2006/main" noGrp="1"/>
          </p:cNvSpPr>
          <p:nvPr/>
        </p:nvSpPr>
        <p:spPr>
          <a:xfrm xmlns:a="http://schemas.openxmlformats.org/drawingml/2006/main">
            <a:off x="895350" y="4314825"/>
            <a:ext cx="1743075" cy="47625"/>
          </a:xfrm>
          <a:prstGeom xmlns:a="http://schemas.openxmlformats.org/drawingml/2006/main" prst="rect">
            <a:avLst/>
          </a:prstGeom>
          <a:solidFill xmlns:a="http://schemas.openxmlformats.org/drawingml/2006/main">
            <a:srgbClr val="2875E7"/>
          </a:solidFill>
          <a:ln xmlns:a="http://schemas.openxmlformats.org/drawingml/2006/main" w="0">
            <a:noFill/>
            <a:prstDash val="solid"/>
          </a:ln>
        </p:spPr>
      </p:sp>
      <p:sp>
        <p:nvSpPr>
          <p:cNvPr id="4" name="body-paragraph">
            <a:extLst xmlns:a="http://schemas.openxmlformats.org/drawingml/2006/main">
              <a:ext uri="{FF2B5EF4-FFF2-40B4-BE49-F238E27FC236}">
                <a16:creationId xmlns:a16="http://schemas.microsoft.com/office/drawing/2014/main" id="{6C17823D-8EAA-4E0D-8BCD-D78E9670A9C9}"/>
              </a:ext>
            </a:extLst>
          </p:cNvPr>
          <p:cNvSpPr>
            <a:spLocks xmlns:a="http://schemas.openxmlformats.org/drawingml/2006/main" noGrp="1"/>
          </p:cNvSpPr>
          <p:nvPr/>
        </p:nvSpPr>
        <p:spPr>
          <a:xfrm xmlns:a="http://schemas.openxmlformats.org/drawingml/2006/main">
            <a:off x="895350" y="4695825"/>
            <a:ext cx="1257300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75" b="0">
                <a:solidFill>
                  <a:srgbClr val="E1E6ED"/>
                </a:solidFill>
                <a:latin typeface="Helvetica Neue"/>
                <a:ea typeface="Helvetica Neue"/>
                <a:cs typeface="Helvetica Neue"/>
              </a:defRPr>
            </a:pPr>
            <a:r>
              <a:rPr sz="2475" b="0">
                <a:solidFill>
                  <a:srgbClr val="E1E6ED"/>
                </a:solidFill>
                <a:latin typeface="Helvetica Neue"/>
                <a:ea typeface="Helvetica Neue"/>
                <a:cs typeface="Helvetica Neue"/>
              </a:rPr>
              <a:t>Approve the stable five-destination product map, the six-posture adaptive workbench, the scoped Activity inbox, and a 12–16 week sequenced delivery program.</a:t>
            </a:r>
          </a:p>
        </p:txBody>
      </p:sp>
      <p:sp>
        <p:nvSpPr>
          <p:cNvPr id="5" name="decision-close">
            <a:extLst xmlns:a="http://schemas.openxmlformats.org/drawingml/2006/main">
              <a:ext uri="{FF2B5EF4-FFF2-40B4-BE49-F238E27FC236}">
                <a16:creationId xmlns:a16="http://schemas.microsoft.com/office/drawing/2014/main" id="{B02B7434-92AF-4A77-AC16-73D7EEDFC7CA}"/>
              </a:ext>
            </a:extLst>
          </p:cNvPr>
          <p:cNvSpPr>
            <a:spLocks xmlns:a="http://schemas.openxmlformats.org/drawingml/2006/main" noGrp="1"/>
          </p:cNvSpPr>
          <p:nvPr/>
        </p:nvSpPr>
        <p:spPr>
          <a:xfrm xmlns:a="http://schemas.openxmlformats.org/drawingml/2006/main">
            <a:off x="895350" y="7372350"/>
            <a:ext cx="13449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2000"/>
              </a:lnSpc>
              <a:buNone/>
              <a:defRPr sz="1800" b="1">
                <a:solidFill>
                  <a:srgbClr val="A7C8FF"/>
                </a:solidFill>
                <a:latin typeface="Helvetica Neue"/>
                <a:ea typeface="Helvetica Neue"/>
                <a:cs typeface="Helvetica Neue"/>
              </a:defRPr>
            </a:pPr>
            <a:r>
              <a:rPr sz="1800" b="1">
                <a:solidFill>
                  <a:srgbClr val="A7C8FF"/>
                </a:solidFill>
                <a:latin typeface="Helvetica Neue"/>
                <a:ea typeface="Helvetica Neue"/>
                <a:cs typeface="Helvetica Neue"/>
              </a:rPr>
              <a:t>ONE PRODUCT     ·     EVERY AUTHORIZED CAPABILITY     ·     EVERY SCREEN</a:t>
            </a:r>
          </a:p>
        </p:txBody>
      </p:sp>
    </p:spTree>
    <p:extLst>
      <p:ext uri="{BB962C8B-B14F-4D97-AF65-F5344CB8AC3E}">
        <p14:creationId xmlns:p14="http://schemas.microsoft.com/office/powerpoint/2010/main" val="959733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2026-08-23T23:13:31.2300000Z</dcterms:created>
  <dcterms:modified xsi:type="dcterms:W3CDTF">2026-08-23T23:13:31.2300000Z</dcterms:modified>
</coreProperties>
</file>